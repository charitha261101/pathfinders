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11660" autoAdjust="0"/>
    <p:restoredTop sz="75581" autoAdjust="0"/>
  </p:normalViewPr>
  <p:slideViewPr>
    <p:cSldViewPr snapToGrid="0" snapToObjects="1">
      <p:cViewPr>
        <p:scale>
          <a:sx n="60" d="100"/>
          <a:sy n="60" d="100"/>
        </p:scale>
        <p:origin x="-19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Latency (ms)</c:v>
                </c:pt>
              </c:strCache>
            </c:strRef>
          </c:tx>
          <c:spPr>
            <a:ln w="31750" cap="flat">
              <a:solidFill>
                <a:srgbClr val="36454F"/>
              </a:solidFill>
              <a:prstDash val="solid"/>
              <a:round/>
            </a:ln>
            <a:effectLst/>
          </c:spPr>
          <c:marker>
            <c:symbol val="circle"/>
            <c:size val="6"/>
            <c:spPr>
              <a:solidFill>
                <a:srgbClr val="36454F"/>
              </a:solidFill>
              <a:ln w="9525" cap="flat">
                <a:solidFill>
                  <a:srgbClr val="36454F"/>
                </a:solidFill>
                <a:prstDash val="solid"/>
                <a:round/>
              </a:ln>
              <a:effectLst/>
            </c:spPr>
          </c:marker>
          <c:cat>
            <c:strRef>
              <c:f>Sheet1!$A$2:$A$31</c:f>
              <c:strCache>
                <c:ptCount val="30"/>
                <c:pt idx="0">
                  <c:v>-29m</c:v>
                </c:pt>
                <c:pt idx="1">
                  <c:v>-28m</c:v>
                </c:pt>
                <c:pt idx="2">
                  <c:v>-27m</c:v>
                </c:pt>
                <c:pt idx="3">
                  <c:v>-26m</c:v>
                </c:pt>
                <c:pt idx="4">
                  <c:v>-25m</c:v>
                </c:pt>
                <c:pt idx="5">
                  <c:v>-24m</c:v>
                </c:pt>
                <c:pt idx="6">
                  <c:v>-23m</c:v>
                </c:pt>
                <c:pt idx="7">
                  <c:v>-22m</c:v>
                </c:pt>
                <c:pt idx="8">
                  <c:v>-21m</c:v>
                </c:pt>
                <c:pt idx="9">
                  <c:v>-20m</c:v>
                </c:pt>
                <c:pt idx="10">
                  <c:v>-19m</c:v>
                </c:pt>
                <c:pt idx="11">
                  <c:v>-18m</c:v>
                </c:pt>
                <c:pt idx="12">
                  <c:v>-17m</c:v>
                </c:pt>
                <c:pt idx="13">
                  <c:v>-16m</c:v>
                </c:pt>
                <c:pt idx="14">
                  <c:v>-15m</c:v>
                </c:pt>
                <c:pt idx="15">
                  <c:v>-14m</c:v>
                </c:pt>
                <c:pt idx="16">
                  <c:v>-13m</c:v>
                </c:pt>
                <c:pt idx="17">
                  <c:v>-12m</c:v>
                </c:pt>
                <c:pt idx="18">
                  <c:v>-11m</c:v>
                </c:pt>
                <c:pt idx="19">
                  <c:v>-10m</c:v>
                </c:pt>
                <c:pt idx="20">
                  <c:v>-9m</c:v>
                </c:pt>
                <c:pt idx="21">
                  <c:v>-8m</c:v>
                </c:pt>
                <c:pt idx="22">
                  <c:v>-7m</c:v>
                </c:pt>
                <c:pt idx="23">
                  <c:v>-6m</c:v>
                </c:pt>
                <c:pt idx="24">
                  <c:v>-5m</c:v>
                </c:pt>
                <c:pt idx="25">
                  <c:v>-4m</c:v>
                </c:pt>
                <c:pt idx="26">
                  <c:v>-3m</c:v>
                </c:pt>
                <c:pt idx="27">
                  <c:v>-2m</c:v>
                </c:pt>
                <c:pt idx="28">
                  <c:v>-1m</c:v>
                </c:pt>
                <c:pt idx="29">
                  <c:v>0m</c:v>
                </c:pt>
              </c:strCache>
            </c:strRef>
          </c:cat>
          <c:val>
            <c:numRef>
              <c:f>Sheet1!$B$2:$B$31</c:f>
              <c:numCache>
                <c:formatCode>General</c:formatCode>
                <c:ptCount val="30"/>
                <c:pt idx="0">
                  <c:v>12</c:v>
                </c:pt>
                <c:pt idx="1">
                  <c:v>11</c:v>
                </c:pt>
                <c:pt idx="2">
                  <c:v>13</c:v>
                </c:pt>
                <c:pt idx="3">
                  <c:v>12</c:v>
                </c:pt>
                <c:pt idx="4">
                  <c:v>14</c:v>
                </c:pt>
                <c:pt idx="5">
                  <c:v>13</c:v>
                </c:pt>
                <c:pt idx="6">
                  <c:v>12</c:v>
                </c:pt>
                <c:pt idx="7">
                  <c:v>14</c:v>
                </c:pt>
                <c:pt idx="8">
                  <c:v>15</c:v>
                </c:pt>
                <c:pt idx="9">
                  <c:v>14</c:v>
                </c:pt>
                <c:pt idx="10">
                  <c:v>13</c:v>
                </c:pt>
                <c:pt idx="11">
                  <c:v>15</c:v>
                </c:pt>
                <c:pt idx="12">
                  <c:v>16</c:v>
                </c:pt>
                <c:pt idx="13">
                  <c:v>14</c:v>
                </c:pt>
                <c:pt idx="14">
                  <c:v>17</c:v>
                </c:pt>
                <c:pt idx="15">
                  <c:v>19</c:v>
                </c:pt>
                <c:pt idx="16">
                  <c:v>22</c:v>
                </c:pt>
                <c:pt idx="17">
                  <c:v>25</c:v>
                </c:pt>
                <c:pt idx="18">
                  <c:v>31</c:v>
                </c:pt>
                <c:pt idx="19">
                  <c:v>42</c:v>
                </c:pt>
                <c:pt idx="20">
                  <c:v>58</c:v>
                </c:pt>
                <c:pt idx="21">
                  <c:v>75</c:v>
                </c:pt>
                <c:pt idx="22">
                  <c:v>112</c:v>
                </c:pt>
                <c:pt idx="23">
                  <c:v>160</c:v>
                </c:pt>
                <c:pt idx="24">
                  <c:v>198</c:v>
                </c:pt>
                <c:pt idx="25">
                  <c:v>225</c:v>
                </c:pt>
                <c:pt idx="26">
                  <c:v>245</c:v>
                </c:pt>
                <c:pt idx="27">
                  <c:v>270</c:v>
                </c:pt>
                <c:pt idx="28">
                  <c:v>298</c:v>
                </c:pt>
                <c:pt idx="29">
                  <c:v>312</c:v>
                </c:pt>
              </c:numCache>
            </c:numRef>
          </c:val>
          <c:smooth val="1"/>
          <c:extLst>
            <c:ext xmlns:c16="http://schemas.microsoft.com/office/drawing/2014/chart" uri="{C3380CC4-5D6E-409C-BE32-E72D297353CC}">
              <c16:uniqueId val="{00000000-F219-4F2E-B54B-3BBE2711C42D}"/>
            </c:ext>
          </c:extLst>
        </c:ser>
        <c:ser>
          <c:idx val="1"/>
          <c:order val="1"/>
          <c:tx>
            <c:strRef>
              <c:f>Sheet1!$C$1</c:f>
              <c:strCache>
                <c:ptCount val="1"/>
                <c:pt idx="0">
                  <c:v>Jitter × 5 (ms)</c:v>
                </c:pt>
              </c:strCache>
            </c:strRef>
          </c:tx>
          <c:spPr>
            <a:ln w="31750" cap="flat">
              <a:solidFill>
                <a:srgbClr val="708090"/>
              </a:solidFill>
              <a:prstDash val="solid"/>
              <a:round/>
            </a:ln>
            <a:effectLst/>
          </c:spPr>
          <c:marker>
            <c:symbol val="circle"/>
            <c:size val="6"/>
            <c:spPr>
              <a:solidFill>
                <a:srgbClr val="708090"/>
              </a:solidFill>
              <a:ln w="9525" cap="flat">
                <a:solidFill>
                  <a:srgbClr val="708090"/>
                </a:solidFill>
                <a:prstDash val="solid"/>
                <a:round/>
              </a:ln>
              <a:effectLst/>
            </c:spPr>
          </c:marker>
          <c:cat>
            <c:strRef>
              <c:f>Sheet1!$A$2:$A$31</c:f>
              <c:strCache>
                <c:ptCount val="30"/>
                <c:pt idx="0">
                  <c:v>-29m</c:v>
                </c:pt>
                <c:pt idx="1">
                  <c:v>-28m</c:v>
                </c:pt>
                <c:pt idx="2">
                  <c:v>-27m</c:v>
                </c:pt>
                <c:pt idx="3">
                  <c:v>-26m</c:v>
                </c:pt>
                <c:pt idx="4">
                  <c:v>-25m</c:v>
                </c:pt>
                <c:pt idx="5">
                  <c:v>-24m</c:v>
                </c:pt>
                <c:pt idx="6">
                  <c:v>-23m</c:v>
                </c:pt>
                <c:pt idx="7">
                  <c:v>-22m</c:v>
                </c:pt>
                <c:pt idx="8">
                  <c:v>-21m</c:v>
                </c:pt>
                <c:pt idx="9">
                  <c:v>-20m</c:v>
                </c:pt>
                <c:pt idx="10">
                  <c:v>-19m</c:v>
                </c:pt>
                <c:pt idx="11">
                  <c:v>-18m</c:v>
                </c:pt>
                <c:pt idx="12">
                  <c:v>-17m</c:v>
                </c:pt>
                <c:pt idx="13">
                  <c:v>-16m</c:v>
                </c:pt>
                <c:pt idx="14">
                  <c:v>-15m</c:v>
                </c:pt>
                <c:pt idx="15">
                  <c:v>-14m</c:v>
                </c:pt>
                <c:pt idx="16">
                  <c:v>-13m</c:v>
                </c:pt>
                <c:pt idx="17">
                  <c:v>-12m</c:v>
                </c:pt>
                <c:pt idx="18">
                  <c:v>-11m</c:v>
                </c:pt>
                <c:pt idx="19">
                  <c:v>-10m</c:v>
                </c:pt>
                <c:pt idx="20">
                  <c:v>-9m</c:v>
                </c:pt>
                <c:pt idx="21">
                  <c:v>-8m</c:v>
                </c:pt>
                <c:pt idx="22">
                  <c:v>-7m</c:v>
                </c:pt>
                <c:pt idx="23">
                  <c:v>-6m</c:v>
                </c:pt>
                <c:pt idx="24">
                  <c:v>-5m</c:v>
                </c:pt>
                <c:pt idx="25">
                  <c:v>-4m</c:v>
                </c:pt>
                <c:pt idx="26">
                  <c:v>-3m</c:v>
                </c:pt>
                <c:pt idx="27">
                  <c:v>-2m</c:v>
                </c:pt>
                <c:pt idx="28">
                  <c:v>-1m</c:v>
                </c:pt>
                <c:pt idx="29">
                  <c:v>0m</c:v>
                </c:pt>
              </c:strCache>
            </c:strRef>
          </c:cat>
          <c:val>
            <c:numRef>
              <c:f>Sheet1!$C$2:$C$31</c:f>
              <c:numCache>
                <c:formatCode>General</c:formatCode>
                <c:ptCount val="30"/>
                <c:pt idx="0">
                  <c:v>10</c:v>
                </c:pt>
                <c:pt idx="1">
                  <c:v>15</c:v>
                </c:pt>
                <c:pt idx="2">
                  <c:v>10</c:v>
                </c:pt>
                <c:pt idx="3">
                  <c:v>15</c:v>
                </c:pt>
                <c:pt idx="4">
                  <c:v>10</c:v>
                </c:pt>
                <c:pt idx="5">
                  <c:v>15</c:v>
                </c:pt>
                <c:pt idx="6">
                  <c:v>10</c:v>
                </c:pt>
                <c:pt idx="7">
                  <c:v>15</c:v>
                </c:pt>
                <c:pt idx="8">
                  <c:v>20</c:v>
                </c:pt>
                <c:pt idx="9">
                  <c:v>15</c:v>
                </c:pt>
                <c:pt idx="10">
                  <c:v>20</c:v>
                </c:pt>
                <c:pt idx="11">
                  <c:v>15</c:v>
                </c:pt>
                <c:pt idx="12">
                  <c:v>20</c:v>
                </c:pt>
                <c:pt idx="13">
                  <c:v>25</c:v>
                </c:pt>
                <c:pt idx="14">
                  <c:v>25</c:v>
                </c:pt>
                <c:pt idx="15">
                  <c:v>30</c:v>
                </c:pt>
                <c:pt idx="16">
                  <c:v>40</c:v>
                </c:pt>
                <c:pt idx="17">
                  <c:v>55</c:v>
                </c:pt>
                <c:pt idx="18">
                  <c:v>70</c:v>
                </c:pt>
                <c:pt idx="19">
                  <c:v>90</c:v>
                </c:pt>
                <c:pt idx="20">
                  <c:v>110</c:v>
                </c:pt>
                <c:pt idx="21">
                  <c:v>130</c:v>
                </c:pt>
                <c:pt idx="22">
                  <c:v>150</c:v>
                </c:pt>
                <c:pt idx="23">
                  <c:v>175</c:v>
                </c:pt>
                <c:pt idx="24">
                  <c:v>190</c:v>
                </c:pt>
                <c:pt idx="25">
                  <c:v>210</c:v>
                </c:pt>
                <c:pt idx="26">
                  <c:v>220</c:v>
                </c:pt>
                <c:pt idx="27">
                  <c:v>230</c:v>
                </c:pt>
                <c:pt idx="28">
                  <c:v>235</c:v>
                </c:pt>
                <c:pt idx="29">
                  <c:v>240</c:v>
                </c:pt>
              </c:numCache>
            </c:numRef>
          </c:val>
          <c:smooth val="1"/>
          <c:extLst>
            <c:ext xmlns:c16="http://schemas.microsoft.com/office/drawing/2014/chart" uri="{C3380CC4-5D6E-409C-BE32-E72D297353CC}">
              <c16:uniqueId val="{00000001-F219-4F2E-B54B-3BBE2711C42D}"/>
            </c:ext>
          </c:extLst>
        </c:ser>
        <c:ser>
          <c:idx val="2"/>
          <c:order val="2"/>
          <c:tx>
            <c:strRef>
              <c:f>Sheet1!$D$1</c:f>
              <c:strCache>
                <c:ptCount val="1"/>
                <c:pt idx="0">
                  <c:v>Loss × 30 (%)</c:v>
                </c:pt>
              </c:strCache>
            </c:strRef>
          </c:tx>
          <c:spPr>
            <a:ln w="31750" cap="flat">
              <a:solidFill>
                <a:srgbClr val="8B3A3A"/>
              </a:solidFill>
              <a:prstDash val="solid"/>
              <a:round/>
            </a:ln>
            <a:effectLst/>
          </c:spPr>
          <c:marker>
            <c:symbol val="circle"/>
            <c:size val="6"/>
            <c:spPr>
              <a:solidFill>
                <a:srgbClr val="8B3A3A"/>
              </a:solidFill>
              <a:ln w="9525" cap="flat">
                <a:solidFill>
                  <a:srgbClr val="8B3A3A"/>
                </a:solidFill>
                <a:prstDash val="solid"/>
                <a:round/>
              </a:ln>
              <a:effectLst/>
            </c:spPr>
          </c:marker>
          <c:cat>
            <c:strRef>
              <c:f>Sheet1!$A$2:$A$31</c:f>
              <c:strCache>
                <c:ptCount val="30"/>
                <c:pt idx="0">
                  <c:v>-29m</c:v>
                </c:pt>
                <c:pt idx="1">
                  <c:v>-28m</c:v>
                </c:pt>
                <c:pt idx="2">
                  <c:v>-27m</c:v>
                </c:pt>
                <c:pt idx="3">
                  <c:v>-26m</c:v>
                </c:pt>
                <c:pt idx="4">
                  <c:v>-25m</c:v>
                </c:pt>
                <c:pt idx="5">
                  <c:v>-24m</c:v>
                </c:pt>
                <c:pt idx="6">
                  <c:v>-23m</c:v>
                </c:pt>
                <c:pt idx="7">
                  <c:v>-22m</c:v>
                </c:pt>
                <c:pt idx="8">
                  <c:v>-21m</c:v>
                </c:pt>
                <c:pt idx="9">
                  <c:v>-20m</c:v>
                </c:pt>
                <c:pt idx="10">
                  <c:v>-19m</c:v>
                </c:pt>
                <c:pt idx="11">
                  <c:v>-18m</c:v>
                </c:pt>
                <c:pt idx="12">
                  <c:v>-17m</c:v>
                </c:pt>
                <c:pt idx="13">
                  <c:v>-16m</c:v>
                </c:pt>
                <c:pt idx="14">
                  <c:v>-15m</c:v>
                </c:pt>
                <c:pt idx="15">
                  <c:v>-14m</c:v>
                </c:pt>
                <c:pt idx="16">
                  <c:v>-13m</c:v>
                </c:pt>
                <c:pt idx="17">
                  <c:v>-12m</c:v>
                </c:pt>
                <c:pt idx="18">
                  <c:v>-11m</c:v>
                </c:pt>
                <c:pt idx="19">
                  <c:v>-10m</c:v>
                </c:pt>
                <c:pt idx="20">
                  <c:v>-9m</c:v>
                </c:pt>
                <c:pt idx="21">
                  <c:v>-8m</c:v>
                </c:pt>
                <c:pt idx="22">
                  <c:v>-7m</c:v>
                </c:pt>
                <c:pt idx="23">
                  <c:v>-6m</c:v>
                </c:pt>
                <c:pt idx="24">
                  <c:v>-5m</c:v>
                </c:pt>
                <c:pt idx="25">
                  <c:v>-4m</c:v>
                </c:pt>
                <c:pt idx="26">
                  <c:v>-3m</c:v>
                </c:pt>
                <c:pt idx="27">
                  <c:v>-2m</c:v>
                </c:pt>
                <c:pt idx="28">
                  <c:v>-1m</c:v>
                </c:pt>
                <c:pt idx="29">
                  <c:v>0m</c:v>
                </c:pt>
              </c:strCache>
            </c:strRef>
          </c:cat>
          <c:val>
            <c:numRef>
              <c:f>Sheet1!$D$2:$D$31</c:f>
              <c:numCache>
                <c:formatCode>General</c:formatCode>
                <c:ptCount val="30"/>
                <c:pt idx="0">
                  <c:v>3</c:v>
                </c:pt>
                <c:pt idx="1">
                  <c:v>0</c:v>
                </c:pt>
                <c:pt idx="2">
                  <c:v>0</c:v>
                </c:pt>
                <c:pt idx="3">
                  <c:v>3</c:v>
                </c:pt>
                <c:pt idx="4">
                  <c:v>3</c:v>
                </c:pt>
                <c:pt idx="5">
                  <c:v>0</c:v>
                </c:pt>
                <c:pt idx="6">
                  <c:v>0</c:v>
                </c:pt>
                <c:pt idx="7">
                  <c:v>3</c:v>
                </c:pt>
                <c:pt idx="8">
                  <c:v>3</c:v>
                </c:pt>
                <c:pt idx="9">
                  <c:v>6</c:v>
                </c:pt>
                <c:pt idx="10">
                  <c:v>3</c:v>
                </c:pt>
                <c:pt idx="11">
                  <c:v>6</c:v>
                </c:pt>
                <c:pt idx="12">
                  <c:v>9</c:v>
                </c:pt>
                <c:pt idx="13">
                  <c:v>6</c:v>
                </c:pt>
                <c:pt idx="14">
                  <c:v>9</c:v>
                </c:pt>
                <c:pt idx="15">
                  <c:v>15</c:v>
                </c:pt>
                <c:pt idx="16">
                  <c:v>24</c:v>
                </c:pt>
                <c:pt idx="17">
                  <c:v>30</c:v>
                </c:pt>
                <c:pt idx="18">
                  <c:v>42</c:v>
                </c:pt>
                <c:pt idx="19">
                  <c:v>54</c:v>
                </c:pt>
                <c:pt idx="20">
                  <c:v>63</c:v>
                </c:pt>
                <c:pt idx="21">
                  <c:v>72</c:v>
                </c:pt>
                <c:pt idx="22">
                  <c:v>78</c:v>
                </c:pt>
                <c:pt idx="23">
                  <c:v>84</c:v>
                </c:pt>
                <c:pt idx="24">
                  <c:v>87</c:v>
                </c:pt>
                <c:pt idx="25">
                  <c:v>90</c:v>
                </c:pt>
                <c:pt idx="26">
                  <c:v>93</c:v>
                </c:pt>
                <c:pt idx="27">
                  <c:v>93</c:v>
                </c:pt>
                <c:pt idx="28">
                  <c:v>96</c:v>
                </c:pt>
                <c:pt idx="29">
                  <c:v>96</c:v>
                </c:pt>
              </c:numCache>
            </c:numRef>
          </c:val>
          <c:smooth val="1"/>
          <c:extLst>
            <c:ext xmlns:c16="http://schemas.microsoft.com/office/drawing/2014/chart" uri="{C3380CC4-5D6E-409C-BE32-E72D297353CC}">
              <c16:uniqueId val="{00000002-F219-4F2E-B54B-3BBE2711C42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3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3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546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Team Pathfinders, and we're presenting PathWise AI — an AI-driven SD-WAN management platform. The one-line version: every other SD-WAN platform reacts to failure after packets are already lost. PathWise predicts the failure 30 to 60 seconds in advance, validates the response in a safe sandbox, and moves traffic before anything breaks. Over the next 30 minutes we'll walk you through why we built it, how it works, what we built it with, how we compared it against commercial products like Cisco and VMware, and finish with some visual walkthroughs of the dashboard. Please hold questions until the end — there's a short Q&amp;A slot.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map for the next 30 minutes. We'll start with the problem — a gap in today's networks that costs companies real money. Then we'll share the one insight that led us to build PathWise. We'll break down our four core innovations — the LSTM predictor, hitless handoff, the Digital Twin sandbox, and the plain-English control interface. After that, we'll zoom into the architecture, show you how the LSTM model works, walk through the dashboard with some mockups, compare ourselves against the commercial giants, and close with security, testing, and our roadmap. We're aiming for about two to two-and-a-half minutes per section so there's time for a proper Q&amp;A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Every SD-WAN platform on the market today — Cisco, VMware, Juniper — is reactive. That means the platform notices a link is going bad *after* traffic has already been dropped. We call the window between "link starts degrading" and "failover completes" the switching gap. Look at the diagram on the right. The green bar is healthy traffic. The red middle bar is the gap — that's where packets die. The green bar after is the new healthy link. During that red zone, users feel it. VoIP calls drop. Video freezes. In retail, a five-second gap is a missed card payment. In healthcare, it's a dropped telemedicine session. The industry's answer has been to make the red bar shorter — 200 milliseconds, then 100, now 50. But here's the key insight we had: faster reaction is still reaction. The packets are already lost. So the question we asked ourselves is the one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question that kicked off this project. What if, instead of reacting to a broken link, we could predict the break is coming? Think about how your phone gives you a thirty-second warning before a hard rain — you grab an umbrella. What if the network did the same thing? If we can see the slowdown coming thirty to sixty seconds early, we can move your VoIP call, your video stream, your credit-card transaction onto a stable link while the old link is still perfectly fine. There's no red zone. No gap. Zero packets lost. That shift — prediction instead of reaction — is the foundation of everything we built. Combined with two other ideas — validating every decision in a safe sandbox before we apply it, and letting non-engineers control it in plain English — that's PathWise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vision statement is on screen — you can read it, but the take-away is three words: predictive, autonomous, vendor-agnostic. Pillar one — predictive — means our LSTM neural network forecasts link degradation thirty to sixty seconds before it happens. Not reactive. Proactive. Pillar two — autonomous — means once a prediction fires, the system validates the response and executes the traffic move without waiting for a human. The critical path is untouched by paperwork. Pillar three — vendor-agnostic — is probably the most commercially interesting. Today, if you buy Cisco SD-WAN, you're locked into Cisco hardware and licensing for years. PathWise speaks OpenFlow 1.3 and talks to SDN controllers like OpenDaylight and ONOS. Any compliant device works. Swap hardware whenever you want. These three pillars show up in every component we built. Let's look at the four main components 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PathWise is four things working together. I'll spend a few seconds on each and then we'll go deeper one at a time. First — the Predictive Telemetry Engine. This is the brain. It's an LSTM neural network with an attention mechanism. It watches the last sixty seconds of telemetry on every link and produces a zero-to-one-hundred health score plus a forecast for thirty and sixty seconds out. Second — Autonomous Traffic Steering. When the health score drops below an admin threshold, this component performs what we call a hitless handoff. Under fifty milliseconds from trigger to flow-table update. No TCP sessions dropped. No VoIP calls interrupted. Third — the Digital Twin Sandbox. Here's the trust piece. Before any routing change hits production, we rebuild the topology inside Mininet, run formal checks with Batfish, and confirm the change is safe. Full cycle under five seconds. Fourth — Intent-Based Networking. You type a sentence like 'prioritize VoIP over video at the retail sites' and PathWise translates that into YANG configuration and applies it. No CLI. No routing protocol PhD required. Now let's zoom into each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component — the Predictive Telemetry Engine. This is our neural network. Plain English first — think of it as a weather forecaster for your network. It watches the last sixty seconds of telemetry data on every link — three numbers coming in every second: latency, jitter, and packet loss. Then it predicts what those three numbers will be thirty and sixty seconds from now. If the forecast says a storm, we start preparing before the first raindrop. The output is something very simple — a zero-to-one-hundred health score per link. You can see the three sample tiles at the bottom. Green above 80 is healthy, yellow 50 to 79 is a warning, red below 50 is degraded. The dashboard colors links exactly this way. On the right you can see the technical side. The model is two stacked LSTM layers with hidden size 128, topped with Bahdanau attention — attention is the same idea that made ChatGPT work. It lets the model focus on the telling moments in the last minute of data, not just the average. We built ten million synthetic training points using Mininet on WSL2. Our acceptance bar is ninety percent prediction accuracy on a held-out test set, and each inference runs in under one second, which fits comfortably inside the one-Hertz polling loop.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two. This is where the prediction becomes action. The moment the LSTM says 'this link's going to hurt in thirty seconds,' the Traffic Steering engine kicks in. Four quick steps you can see on the right. Step one: the prediction fires because the health score crossed the threshold the admin configured. Step two: we pre-compute the new flow rules. This part matters — we don't compute anything on the hot path. The calculation is done in advance and cached. Step three: we push those rules to the SDN controller — either OpenDaylight or ONOS — through its northbound REST API. Atomically, in one operation. Step four: session state is preserved. That means your TCP connection keeps its sequence numbers. Your VoIP call doesn't realize anything happened. And the headline number is fifty milliseconds. From the moment the trigger fires to the flow table being updated, less than fifty milliseconds. For comparison, Cisco's reactive failover is around two hundred. But more importantly — our fifty milliseconds happens while both links are still healthy, so the user feels nothing. Cisco's two hundred milliseconds is pure packet loss.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three — the Digital Twin. This is the piece that makes everything else trustworthy. A perfectly reasonable objection is: 'what if the AI is wrong?' What if the model predicts degradation, triggers a reroute, and the reroute creates a routing loop or breaks a firewall policy? That's a real risk. Our answer is: every single routing change is first tested inside a full replica of the live network. Step one — the proposed flow-table change arrives from Traffic Steering. Step two — we spin up a Mininet replica with the same subnets, the same links, the same interfaces. Step three — we run Batfish on it. Batfish is a formal network analysis tool. It catches routing loops, it checks ACL compliance, it simulates reachability. Step four — verdict. If Batfish says PASSED, the change goes to production. If FAILED, we roll back and log it, and production never sees it. The whole cycle runs in under five seconds. And every validation writes a tamper-evident audit log entry with a SHA-256 checksum, which is what gets us HIPAA compliance for healthcare customers. This is the piece that took us the longest to build, but it's also the piece that makes autonomy safe.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and last component — Intent-Based Networking, or IBN. Today, most network platforms assume you have a network engineer who's fluent in CLI and routing protocols. For small and medium businesses, that engineer doesn't exist. They have one generalist IT person who also fixes printers. PathWise lets that IT person type what they want in plain English. On the left you can see the example: 'prioritize VoIP over video on all retail sites.' PathWise parses that and shows them the interpreted policy — the structured version you see below. That interpreted preview is important. It means no surprises. The IT person sees exactly what's about to happen before they hit apply. If the sentence is ambiguous, PathWise asks for a rephrase instead of guessing. One more thing about this component — and this matters a lot for enterprise customers — all the natural-language parsing happens locally. We use template matching and embedding similarity, not an external LLM. No sensitive network data ever leaves the enterprise. That's a hard requirement for healthcare and finance.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architecture. Four layers, top to bottom — just like a classic enterprise stack. Top layer — the Frontend. React 18 with TypeScript for type safety, D3.js for the telemetry visualizations, TailwindCSS for styling, and WebSockets so the dashboard updates live. Four user-facing screens: the IBN Console where operators type plain-English policies, the Health Scoreboard we showed earlier, the Digital Twin Viewer, and the Admin Panel. Second layer — the API Gateway. FastAPI on Python 3.11, with authentication middleware, role-based access control, a policy engine, and auto-generated OpenAPI docs. Four gateway services route requests: Auth middleware stamps every request, the WebSocket Manager pushes live telemetry, the Policy Router directs to the right backend, and the REST endpoints serve the CRUD APIs. Third layer — Core Services. This is where the actual intelligence runs. Telemetry ingestion over SNMP and NetFlow, the LSTM prediction service in PyTorch, the Traffic Steering clients that talk to SDN controllers, and the Digital Twin that spins up Mininet and runs Batfish. Bottom layer — Data and Infrastructure. TimescaleDB for the time-series telemetry, Redis 7 streams as our message bus, the actual SDN controllers — OpenDaylight or ONOS — and Docker Compose plus GitHub CI for deploy and build. Everything's containerized, everything's event-driven. Swap any single box and the rest keeps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the specific tools. I won't read every row — I'll highlight the choices that mattered most. Prediction is Python and PyTorch because PyTorch's LSTM and attention ecosystem is the most mature for the kind of time-series work we're doing. TimescaleDB — we picked this over plain Postgres because its hypertables are built for time-series. We can run continuous aggregates over minutes, hours, or days without writing window queries by hand. Redis for pub/sub — we get millisecond fan-out between services. When a prediction fires, five components find out in the same millisecond. FastAPI for the backend — async-native, OpenAPI schema is free, type hints work as documentation. For SDN, we deliberately built against two controllers — OpenDaylight and ONOS — to prove vendor-agnosticism isn't just marketing. Our code works with either one. Mininet via WSL2 for the Digital Twin. Batfish for formal validation. Security layer is standard but strict — bcrypt for passwords, TLS 1.3 enforced at nginx, AES-256 at rest, JWT for sessions. And everything is containerized with Docker Compose. One command brings the whole stack 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open the hood on the LSTM. Up top is the architecture as a pipeline. Data comes in on the left as a three-dimensional tensor — batch size, sixty timesteps, three features. Those three features are latency, jitter, and packet loss at one-second intervals. Two stacked LSTM layers with hidden size 128 and dropout 0.2. Dropout helps prevent overfitting. Then the attention layer — we used Bahdanau additive attention. Attention tells the model which of the sixty past seconds matter most for the prediction. Sometimes a sudden jitter spike forty seconds ago is more predictive than the last five calm seconds. A linear projection produces six output numbers — latency, jitter, and loss at thirty seconds into the future, and again at sixty seconds. Training — we generated over ten million synthetic data points using Mininet on WSL2. We covered five scenarios: gradual brownout, packet-loss spikes, jitter oscillation, multiple links degrading at once, and recovery after failover. Because our dataset is deterministic and labeled, we can measure accuracy precisely. Our acceptance bar is ninety percent accuracy on the held-out test set. That's the contractual quality target in our requirements document.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landing screen of our dashboard. I'll give you a guided tour of three screens over the next three slides. At the top is the site selector — the user is looking at their Chicago retail store. The timestamp tells them it's one second old. Live data. The four big cards are the four WAN links at that site — Fiber, 5G, Broadband, and Satellite. Each card shows the health score as a big number, the status, and the three underlying telemetry values. The border and the top band are color-coded so you can scan a hundred sites in one glance and spot the red ones. Three of the four links are healthy. Satellite is at 41 — degraded. You can see why: latency has blown up to 312 milliseconds, jitter is at 48, loss is at 3.2%. And down below is the alert panel. Our LSTM fired a prediction forty-six seconds before the degradation hits critical. The confidence is 0.92. The reason it gives the operator is in plain English — 'jitter trending up four sigma.' And it's already proposed a response — shift VoIP off Satellite onto Fiber — and it's running that proposal through the Digital Twin sandbox as we speak. The operator didn't have to do anything.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dashboard — the telemetry monitor. This is the screen an operator drills into when they want to understand what's going on behind a low health score. The chart is the last thirty minutes of the satellite link. The dark green line is latency. Sage is jitter — I've scaled it by five so it's visible on the same axis. The red line is packet loss scaled by thirty. You can see the story in the shape. For the first twenty minutes, everything is calm and flat. Around minute twelve from the end, latency starts creeping up. Around minute eight, jitter begins to climb. By minute four, we've crossed from warning into degraded and loss starts. The LSTM was watching this shape forty to sixty seconds before the human could. That's the lead time. Below the chart are the KPI tiles — the current readings and the trend. The last tile is the LSTM confidence score for the current prediction. 0.92 means the model is very sure something is going wrong. Our audit log stores this confidence number next to every automatic action, so when the operator reviews what happened later, they know exactly how certain the model was.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dashboard — the audit log. This is the screen your compliance team lives on. Every row is one event. You can filter by timestamp, actor, event type. The actor column distinguishes between SYSTEM events — things the platform did autonomously — and human events with usernames. Notice the story reading top down — actually from bottom up chronologically. At 14:02, Meghana logged in. At 14:15, Vineeth deployed an IBN policy. Then at 14:32:17, the system fired an alert — satellite degradation predicted forty-six seconds out. Half a second later, validation was requested. Half a second after that, the sandbox passed. Sixty milliseconds after that, steering was triggered. That's the full audit trail for an automatic handoff. Every decision is traceable and every cause is documented. The checksum column is the key to trust. Each row is hashed with SHA-256 over its serialized content. If someone edits a row — say, to cover up an incident — the checksum no longer matches, and PathWise flags it on the next read. That's what makes the log tamper-evident. And that property is what lets us sell PathWise into HIPAA-regulated healthcare environments.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at the six formal use cases from our SRS. On the left are the three use cases the system runs by itself. UC-2 — predict degradation — runs every single second, once per link. UC-3 — execute traffic steering — runs whenever a prediction fires. Sub-50 milliseconds. UC-4 — validate routing change — runs before any steering change touches production, full cycle under five seconds. The user never presses a button for any of these. On the right are the three use cases where a human does drive. UC-1 — operators monitor telemetry on their dashboards. UC-5 — operators manage policy through our natural-language interface, and they always see a preview before they apply. UC-6 — everyone authenticates, with generic error messages to prevent username enumeration, five-attempt lockout, and TLS 1.3 at the edge. And crucially — every automated use case writes to the same audit log, with the LSTM's confidence score and the reasoning attached. So even though humans aren't on the hot path, they still have full visibility and accountability after the fact.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has something called </a:t>
            </a:r>
            <a:r>
              <a:rPr lang="en-US" b="1" dirty="0"/>
              <a:t>PPR — Predictive Path Recommendations</a:t>
            </a:r>
            <a:r>
              <a:rPr lang="en-US" dirty="0"/>
              <a:t> — that came out of their </a:t>
            </a:r>
            <a:r>
              <a:rPr lang="en-US" dirty="0" err="1"/>
              <a:t>ThousandEyes</a:t>
            </a:r>
            <a:r>
              <a:rPr lang="en-US" dirty="0"/>
              <a:t> acquisition. Juniper's Mist platform uses an AI assistant called Marvis. Palo Alto's Prisma has a feature called </a:t>
            </a:r>
            <a:r>
              <a:rPr lang="en-US" b="1" dirty="0"/>
              <a:t>ADEM — Autonomous Digital Experience Management</a:t>
            </a:r>
            <a:r>
              <a:rPr lang="en-US" dirty="0"/>
              <a:t>. VMware VeloCloud is the only reactive one left, using DMPO — Dynamic Multi-Path Optimization. </a:t>
            </a:r>
          </a:p>
          <a:p>
            <a:endParaRPr lang="en-US" dirty="0"/>
          </a:p>
          <a:p>
            <a:r>
              <a:rPr lang="en-US" b="1" dirty="0" err="1"/>
              <a:t>PathWise</a:t>
            </a:r>
            <a:r>
              <a:rPr lang="en-US" b="1" dirty="0"/>
              <a:t> → SDN controller (</a:t>
            </a:r>
            <a:r>
              <a:rPr lang="en-US" b="1" dirty="0" err="1"/>
              <a:t>OpenDaylight</a:t>
            </a:r>
            <a:r>
              <a:rPr lang="en-US" b="1" dirty="0"/>
              <a:t> or ONOS) → switches over OpenFlow 1.3</a:t>
            </a:r>
            <a:endParaRPr lang="en-US" dirty="0"/>
          </a:p>
          <a:p>
            <a:r>
              <a:rPr lang="en-US" dirty="0"/>
              <a:t>When our LSTM decides to move VoIP traffic off a degrading link, </a:t>
            </a:r>
            <a:r>
              <a:rPr lang="en-US" dirty="0" err="1"/>
              <a:t>PathWise</a:t>
            </a:r>
            <a:r>
              <a:rPr lang="en-US" dirty="0"/>
              <a:t> sends an API call to the SDN controller saying "install these new flow rules." The controller translates that into OpenFlow 1.3 messages and pushes them to every affected switch in the network. The switch updates its forwarding table, and traffic starts flowing on the new path — usually within a few milliseconds.</a:t>
            </a:r>
          </a:p>
          <a:p>
            <a:r>
              <a:rPr lang="en-US" dirty="0"/>
              <a:t>Because we're speaking OpenFlow and not "Cisco language," the physical switches can be from any vendor. Cisco at site one, a cheap generic switch from </a:t>
            </a:r>
            <a:r>
              <a:rPr lang="en-US" dirty="0" err="1"/>
              <a:t>Edgecore</a:t>
            </a:r>
            <a:r>
              <a:rPr lang="en-US" dirty="0"/>
              <a:t> at site two, Juniper at site three — </a:t>
            </a:r>
            <a:r>
              <a:rPr lang="en-US" dirty="0" err="1"/>
              <a:t>PathWise</a:t>
            </a:r>
            <a:r>
              <a:rPr lang="en-US" dirty="0"/>
              <a:t> treats them all identically.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SMEs — small and medium enterprises</a:t>
            </a:r>
            <a:r>
              <a:rPr lang="en-US" dirty="0"/>
              <a:t> — typically have no dedicated network engineer on staff.</a:t>
            </a:r>
          </a:p>
          <a:p>
            <a:endParaRPr lang="en-US" dirty="0"/>
          </a:p>
          <a:p>
            <a:r>
              <a:rPr lang="en-US" b="1" dirty="0"/>
              <a:t>MSPs — managed service providers</a:t>
            </a:r>
            <a:r>
              <a:rPr lang="en-US" dirty="0"/>
              <a:t> — run dozens to hundreds of client sites. Our dashboard supports </a:t>
            </a:r>
            <a:r>
              <a:rPr lang="en-US" b="1" dirty="0"/>
              <a:t>100+ sites</a:t>
            </a:r>
            <a:r>
              <a:rPr lang="en-US" dirty="0"/>
              <a:t> from a single pane of glass, with per-tenant role-based access so one customer can't see another's data.</a:t>
            </a:r>
          </a:p>
          <a:p>
            <a:endParaRPr lang="en-US" dirty="0"/>
          </a:p>
          <a:p>
            <a:r>
              <a:rPr lang="en-US" dirty="0"/>
              <a:t>medical imaging — all HIPAA-regulated. HIPAA requires a tamper-evident audit log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moving across the network. Anything traveling between a user's browser and our server, or between our services over the network.</a:t>
            </a:r>
          </a:p>
          <a:p>
            <a:endParaRPr lang="en-US" dirty="0"/>
          </a:p>
          <a:p>
            <a:r>
              <a:rPr lang="en-IN" dirty="0"/>
              <a:t>RBAC: Role-Based Access Control</a:t>
            </a:r>
          </a:p>
          <a:p>
            <a:endParaRPr lang="en-IN" dirty="0"/>
          </a:p>
          <a:p>
            <a:r>
              <a:rPr lang="en-IN" dirty="0"/>
              <a:t>Sessions: JWT </a:t>
            </a:r>
            <a:r>
              <a:rPr lang="en-US" b="1" dirty="0"/>
              <a:t>60-minute expiry":</a:t>
            </a:r>
            <a:r>
              <a:rPr lang="en-US" dirty="0"/>
              <a:t> The wristband expires after an hour. Even if someone steals your token, they can only use it for up to 60 minutes before the system forces a re-login.</a:t>
            </a:r>
          </a:p>
          <a:p>
            <a:endParaRPr lang="en-US" dirty="0"/>
          </a:p>
          <a:p>
            <a:r>
              <a:rPr lang="en-US" dirty="0"/>
              <a:t>An ATM locks your card after 3 wrong PIN attempts. Our system locks the user account after 5 wrong password attempts.</a:t>
            </a:r>
          </a:p>
          <a:p>
            <a:endParaRPr lang="en-US" dirty="0"/>
          </a:p>
          <a:p>
            <a:r>
              <a:rPr lang="en-US" dirty="0"/>
              <a:t>When an IT manager types a plain-English policy like "prioritize VoIP at retail sites," our system parses that sentence into structured configuration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pain points. Here are seven we ran into and how we got through them. First — how do you predict thirty seconds ahead? Answer: an LSTM with attention on a sixty-second sliding window, trained on over ten million synthetic data points we generated ourselves with Mininet. Second — what if the prediction is wrong? Answer: every decision has to clear the Digital Twin sandbox. Bad predictions never leave the lab. Third — vendor lock-in. Answer: we talk to SDN controllers over their northbound REST APIs. Swap ODL for ONOS or any other OpenFlow-compliant controller. Fourth — scale to a hundred sites without slowdown. Async FastAPI, Redis pub/sub, TimescaleDB hypertables. Each piece is independently scalable. Fifth — non-technical staff. Intent-Based Networking. Plain English in, YANG out. Sixth — compliance. SHA-256 audit log, TLS 1.3, AES-256, RBAC — the checklist auditors actually care about. Seventh — the Windows problem. Mininet doesn't run on Windows. We develop on Windows. Solution: WSL2, and we shell out to wsl from our Python code using subprocess. Works cleanly and ships unchanged to Linux production.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forward. Six items we think are worth building if we keep going past the course. Federated LSTM training lets multiple customer deployments contribute to model improvement without sharing raw telemetry. Think of it as herd learning without losing privacy. Five-G network slicing is a big deal for industrial customers. Per-slice health scoring would let us predict degradation on a specific logical network within the same physical one. Reinforcement-learning steering — right now our thresholds are admin-configured. Over time, an RL policy could learn better thresholds per link and per traffic class. ServiceNow and PagerDuty integration — this is table stakes for enterprise sales. When we fire an alert, we auto-open a ticket. Kubernetes operator — a lot of enterprises only deploy cloud-native workloads now. We need a native K8s story. Edge deployment on ARM hardware — run PathWise on a Raspberry Pi at each branch site. Opens up a whole new deployment model. And at the bottom — where we are today. All five core components implemented, all documents delivered, we're doing final integration and demo polishing.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cheat sheet if you remember only one slide. Twelve numbers and one tagline. Thirty to sixty seconds — lead time. Under fifty milliseconds — handoff. Under five seconds — validation. Zero — CLI required, because IBN handles it. Ninety-nine point nine percent — target availability. Ninety percent — LSTM accuracy floor. A hundred-plus concurrent sites from one dashboard. TLS 1.3 at the edge. AES-256 at rest. bcrypt for passwords. HIPAA-grade audit log. One-command Docker bring-up. And the line at the bottom is the one-sentence version of this talk. Every other SD-WAN platform reacts to failure. PathWise prevents it. That's the whole product in fourteen words.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recap — PathWise AI shifts enterprise networking from reactive to predictive. LSTM forecasts thirty to sixty seconds of lead time, autonomous hitless handoff under fifty milliseconds, Digital Twin validation in under five seconds, all controlled through a plain-English interface. Vendor-neutral, on commodity hardware, HIPAA-grade audit built in. We're happy to go deeper on any component — the LSTM training data, the Mininet pipeline, the SDN integration, the RBAC model, the threat model, or the deployment roadmap. Floor is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454F"/>
        </a:solidFill>
        <a:effectLst/>
      </p:bgPr>
    </p:bg>
    <p:spTree>
      <p:nvGrpSpPr>
        <p:cNvPr id="1" name=""/>
        <p:cNvGrpSpPr/>
        <p:nvPr/>
      </p:nvGrpSpPr>
      <p:grpSpPr>
        <a:xfrm>
          <a:off x="0" y="0"/>
          <a:ext cx="0" cy="0"/>
          <a:chOff x="0" y="0"/>
          <a:chExt cx="0" cy="0"/>
        </a:xfrm>
      </p:grpSpPr>
      <p:sp>
        <p:nvSpPr>
          <p:cNvPr id="2" name="Shape 0"/>
          <p:cNvSpPr/>
          <p:nvPr/>
        </p:nvSpPr>
        <p:spPr>
          <a:xfrm>
            <a:off x="9601200" y="-1645920"/>
            <a:ext cx="4114800" cy="4114800"/>
          </a:xfrm>
          <a:prstGeom prst="ellipse">
            <a:avLst/>
          </a:prstGeom>
          <a:solidFill>
            <a:srgbClr val="708090">
              <a:alpha val="30000"/>
            </a:srgbClr>
          </a:solidFill>
          <a:ln w="12700">
            <a:solidFill>
              <a:srgbClr val="708090"/>
            </a:solidFill>
            <a:prstDash val="solid"/>
          </a:ln>
        </p:spPr>
      </p:sp>
      <p:sp>
        <p:nvSpPr>
          <p:cNvPr id="3" name="Shape 1"/>
          <p:cNvSpPr/>
          <p:nvPr/>
        </p:nvSpPr>
        <p:spPr>
          <a:xfrm>
            <a:off x="11064240" y="-548640"/>
            <a:ext cx="2011680" cy="2011680"/>
          </a:xfrm>
          <a:prstGeom prst="ellipse">
            <a:avLst/>
          </a:prstGeom>
          <a:solidFill>
            <a:srgbClr val="A4ACB5">
              <a:alpha val="40000"/>
            </a:srgbClr>
          </a:solidFill>
          <a:ln w="12700">
            <a:solidFill>
              <a:srgbClr val="A4ACB5"/>
            </a:solidFill>
            <a:prstDash val="solid"/>
          </a:ln>
        </p:spPr>
      </p:sp>
      <p:sp>
        <p:nvSpPr>
          <p:cNvPr id="4" name="Text 2"/>
          <p:cNvSpPr/>
          <p:nvPr/>
        </p:nvSpPr>
        <p:spPr>
          <a:xfrm>
            <a:off x="731520" y="1097280"/>
            <a:ext cx="9144000" cy="320040"/>
          </a:xfrm>
          <a:prstGeom prst="rect">
            <a:avLst/>
          </a:prstGeom>
          <a:noFill/>
          <a:ln/>
        </p:spPr>
        <p:txBody>
          <a:bodyPr wrap="square" lIns="0" tIns="0" rIns="0" bIns="0" rtlCol="0" anchor="ctr"/>
          <a:lstStyle/>
          <a:p>
            <a:pPr marL="0" indent="0">
              <a:buNone/>
            </a:pPr>
            <a:r>
              <a:rPr lang="en-US" sz="1100" b="1" kern="0" spc="400" dirty="0">
                <a:solidFill>
                  <a:srgbClr val="A4ACB5"/>
                </a:solidFill>
                <a:latin typeface="Calibri" pitchFamily="34" charset="0"/>
                <a:ea typeface="Calibri" pitchFamily="34" charset="-122"/>
                <a:cs typeface="Calibri" pitchFamily="34" charset="-120"/>
              </a:rPr>
              <a:t>COSC 6370-001  ·  ADVANCED SOFTWARE ENGINEERING  ·  SPRING 2026</a:t>
            </a:r>
            <a:endParaRPr lang="en-US" sz="1100" dirty="0"/>
          </a:p>
        </p:txBody>
      </p:sp>
      <p:sp>
        <p:nvSpPr>
          <p:cNvPr id="5" name="Text 3"/>
          <p:cNvSpPr/>
          <p:nvPr/>
        </p:nvSpPr>
        <p:spPr>
          <a:xfrm>
            <a:off x="731520" y="1737360"/>
            <a:ext cx="10058400" cy="146304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PathWise AI</a:t>
            </a:r>
            <a:endParaRPr lang="en-US" sz="8000" dirty="0"/>
          </a:p>
        </p:txBody>
      </p:sp>
      <p:sp>
        <p:nvSpPr>
          <p:cNvPr id="6" name="Text 4"/>
          <p:cNvSpPr/>
          <p:nvPr/>
        </p:nvSpPr>
        <p:spPr>
          <a:xfrm>
            <a:off x="731520" y="3383280"/>
            <a:ext cx="10058400" cy="914400"/>
          </a:xfrm>
          <a:prstGeom prst="rect">
            <a:avLst/>
          </a:prstGeom>
          <a:noFill/>
          <a:ln/>
        </p:spPr>
        <p:txBody>
          <a:bodyPr wrap="square" lIns="0" tIns="0" rIns="0" bIns="0" rtlCol="0" anchor="ctr"/>
          <a:lstStyle/>
          <a:p>
            <a:pPr marL="0" indent="0">
              <a:buNone/>
            </a:pPr>
            <a:r>
              <a:rPr lang="en-US" sz="2200" i="1" dirty="0">
                <a:solidFill>
                  <a:srgbClr val="A4ACB5"/>
                </a:solidFill>
                <a:latin typeface="Calibri" pitchFamily="34" charset="0"/>
                <a:ea typeface="Calibri" pitchFamily="34" charset="-122"/>
                <a:cs typeface="Calibri" pitchFamily="34" charset="-120"/>
              </a:rPr>
              <a:t>Predictive, autonomous, vendor-agnostic SD-WAN management — controlled in plain English.</a:t>
            </a:r>
            <a:endParaRPr lang="en-US" sz="2200" dirty="0"/>
          </a:p>
        </p:txBody>
      </p:sp>
      <p:sp>
        <p:nvSpPr>
          <p:cNvPr id="7" name="Shape 5"/>
          <p:cNvSpPr/>
          <p:nvPr/>
        </p:nvSpPr>
        <p:spPr>
          <a:xfrm>
            <a:off x="731520" y="4572000"/>
            <a:ext cx="1371600" cy="36576"/>
          </a:xfrm>
          <a:prstGeom prst="rect">
            <a:avLst/>
          </a:prstGeom>
          <a:solidFill>
            <a:srgbClr val="A4ACB5"/>
          </a:solidFill>
          <a:ln w="12700">
            <a:solidFill>
              <a:srgbClr val="A4ACB5"/>
            </a:solidFill>
            <a:prstDash val="solid"/>
          </a:ln>
        </p:spPr>
      </p:sp>
      <p:sp>
        <p:nvSpPr>
          <p:cNvPr id="8" name="Text 6"/>
          <p:cNvSpPr/>
          <p:nvPr/>
        </p:nvSpPr>
        <p:spPr>
          <a:xfrm>
            <a:off x="731520" y="4754880"/>
            <a:ext cx="91440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Team Pathfinders</a:t>
            </a:r>
            <a:endParaRPr lang="en-US" sz="2000" dirty="0"/>
          </a:p>
        </p:txBody>
      </p:sp>
      <p:sp>
        <p:nvSpPr>
          <p:cNvPr id="9" name="Text 7"/>
          <p:cNvSpPr/>
          <p:nvPr/>
        </p:nvSpPr>
        <p:spPr>
          <a:xfrm>
            <a:off x="731520" y="5303520"/>
            <a:ext cx="100584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Vineeth Reddy Kodakandla </a:t>
            </a:r>
            <a:r>
              <a:rPr lang="en-US" sz="1300" dirty="0">
                <a:solidFill>
                  <a:srgbClr val="A4ACB5"/>
                </a:solidFill>
                <a:latin typeface="Calibri" pitchFamily="34" charset="0"/>
                <a:ea typeface="Calibri" pitchFamily="34" charset="-122"/>
                <a:cs typeface="Calibri" pitchFamily="34" charset="-120"/>
              </a:rPr>
              <a:t>· Project Manager</a:t>
            </a:r>
            <a:endParaRPr lang="en-US" sz="1300" dirty="0"/>
          </a:p>
        </p:txBody>
      </p:sp>
      <p:sp>
        <p:nvSpPr>
          <p:cNvPr id="10" name="Text 8"/>
          <p:cNvSpPr/>
          <p:nvPr/>
        </p:nvSpPr>
        <p:spPr>
          <a:xfrm>
            <a:off x="731520" y="5577840"/>
            <a:ext cx="100584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Meghana Nalluri </a:t>
            </a:r>
            <a:r>
              <a:rPr lang="en-US" sz="1300" dirty="0">
                <a:solidFill>
                  <a:srgbClr val="A4ACB5"/>
                </a:solidFill>
                <a:latin typeface="Calibri" pitchFamily="34" charset="0"/>
                <a:ea typeface="Calibri" pitchFamily="34" charset="-122"/>
                <a:cs typeface="Calibri" pitchFamily="34" charset="-120"/>
              </a:rPr>
              <a:t>· Requirements Manager</a:t>
            </a:r>
            <a:endParaRPr lang="en-US" sz="1300" dirty="0"/>
          </a:p>
        </p:txBody>
      </p:sp>
      <p:sp>
        <p:nvSpPr>
          <p:cNvPr id="11" name="Text 9"/>
          <p:cNvSpPr/>
          <p:nvPr/>
        </p:nvSpPr>
        <p:spPr>
          <a:xfrm>
            <a:off x="731520" y="5852160"/>
            <a:ext cx="100584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Bharadwaj Jakkula </a:t>
            </a:r>
            <a:r>
              <a:rPr lang="en-US" sz="1300" dirty="0">
                <a:solidFill>
                  <a:srgbClr val="A4ACB5"/>
                </a:solidFill>
                <a:latin typeface="Calibri" pitchFamily="34" charset="0"/>
                <a:ea typeface="Calibri" pitchFamily="34" charset="-122"/>
                <a:cs typeface="Calibri" pitchFamily="34" charset="-120"/>
              </a:rPr>
              <a:t>· Design Manager &amp; Engineer</a:t>
            </a:r>
            <a:endParaRPr lang="en-US" sz="1300" dirty="0"/>
          </a:p>
        </p:txBody>
      </p:sp>
      <p:sp>
        <p:nvSpPr>
          <p:cNvPr id="12" name="Text 10"/>
          <p:cNvSpPr/>
          <p:nvPr/>
        </p:nvSpPr>
        <p:spPr>
          <a:xfrm>
            <a:off x="731520" y="6126480"/>
            <a:ext cx="100584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Sricharitha Katta </a:t>
            </a:r>
            <a:r>
              <a:rPr lang="en-US" sz="1300" dirty="0">
                <a:solidFill>
                  <a:srgbClr val="A4ACB5"/>
                </a:solidFill>
                <a:latin typeface="Calibri" pitchFamily="34" charset="0"/>
                <a:ea typeface="Calibri" pitchFamily="34" charset="-122"/>
                <a:cs typeface="Calibri" pitchFamily="34" charset="-120"/>
              </a:rPr>
              <a:t>· Configuration &amp; Technical Manager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AGENDA</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What we'll cover today</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2 / 25</a:t>
            </a:r>
            <a:endParaRPr lang="en-US" sz="900" dirty="0"/>
          </a:p>
        </p:txBody>
      </p:sp>
      <p:sp>
        <p:nvSpPr>
          <p:cNvPr id="7" name="Shape 5"/>
          <p:cNvSpPr/>
          <p:nvPr/>
        </p:nvSpPr>
        <p:spPr>
          <a:xfrm>
            <a:off x="548640" y="18288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731520" y="2057400"/>
            <a:ext cx="502920" cy="502920"/>
          </a:xfrm>
          <a:prstGeom prst="ellipse">
            <a:avLst/>
          </a:prstGeom>
          <a:solidFill>
            <a:srgbClr val="36454F"/>
          </a:solidFill>
          <a:ln w="12700">
            <a:solidFill>
              <a:srgbClr val="36454F"/>
            </a:solidFill>
            <a:prstDash val="solid"/>
          </a:ln>
        </p:spPr>
      </p:sp>
      <p:sp>
        <p:nvSpPr>
          <p:cNvPr id="9" name="Text 7"/>
          <p:cNvSpPr/>
          <p:nvPr/>
        </p:nvSpPr>
        <p:spPr>
          <a:xfrm>
            <a:off x="731520" y="2057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371600" y="20116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The problem</a:t>
            </a:r>
            <a:endParaRPr lang="en-US" sz="1600" dirty="0"/>
          </a:p>
        </p:txBody>
      </p:sp>
      <p:sp>
        <p:nvSpPr>
          <p:cNvPr id="11" name="Text 9"/>
          <p:cNvSpPr/>
          <p:nvPr/>
        </p:nvSpPr>
        <p:spPr>
          <a:xfrm>
            <a:off x="1371600" y="23774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Why reactive SD-WAN keeps losing packets</a:t>
            </a:r>
            <a:endParaRPr lang="en-US" sz="1100" dirty="0"/>
          </a:p>
        </p:txBody>
      </p:sp>
      <p:sp>
        <p:nvSpPr>
          <p:cNvPr id="12" name="Shape 10"/>
          <p:cNvSpPr/>
          <p:nvPr/>
        </p:nvSpPr>
        <p:spPr>
          <a:xfrm>
            <a:off x="4251960" y="18288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3" name="Shape 11"/>
          <p:cNvSpPr/>
          <p:nvPr/>
        </p:nvSpPr>
        <p:spPr>
          <a:xfrm>
            <a:off x="4434840" y="2057400"/>
            <a:ext cx="502920" cy="502920"/>
          </a:xfrm>
          <a:prstGeom prst="ellipse">
            <a:avLst/>
          </a:prstGeom>
          <a:solidFill>
            <a:srgbClr val="36454F"/>
          </a:solidFill>
          <a:ln w="12700">
            <a:solidFill>
              <a:srgbClr val="36454F"/>
            </a:solidFill>
            <a:prstDash val="solid"/>
          </a:ln>
        </p:spPr>
      </p:sp>
      <p:sp>
        <p:nvSpPr>
          <p:cNvPr id="14" name="Text 12"/>
          <p:cNvSpPr/>
          <p:nvPr/>
        </p:nvSpPr>
        <p:spPr>
          <a:xfrm>
            <a:off x="4434840" y="2057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5074920" y="20116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The idea</a:t>
            </a:r>
            <a:endParaRPr lang="en-US" sz="1600" dirty="0"/>
          </a:p>
        </p:txBody>
      </p:sp>
      <p:sp>
        <p:nvSpPr>
          <p:cNvPr id="16" name="Text 14"/>
          <p:cNvSpPr/>
          <p:nvPr/>
        </p:nvSpPr>
        <p:spPr>
          <a:xfrm>
            <a:off x="5074920" y="23774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Predict failure instead of reacting to it</a:t>
            </a:r>
            <a:endParaRPr lang="en-US" sz="1100" dirty="0"/>
          </a:p>
        </p:txBody>
      </p:sp>
      <p:sp>
        <p:nvSpPr>
          <p:cNvPr id="17" name="Shape 15"/>
          <p:cNvSpPr/>
          <p:nvPr/>
        </p:nvSpPr>
        <p:spPr>
          <a:xfrm>
            <a:off x="7955280" y="18288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8" name="Shape 16"/>
          <p:cNvSpPr/>
          <p:nvPr/>
        </p:nvSpPr>
        <p:spPr>
          <a:xfrm>
            <a:off x="8138160" y="2057400"/>
            <a:ext cx="502920" cy="502920"/>
          </a:xfrm>
          <a:prstGeom prst="ellipse">
            <a:avLst/>
          </a:prstGeom>
          <a:solidFill>
            <a:srgbClr val="36454F"/>
          </a:solidFill>
          <a:ln w="12700">
            <a:solidFill>
              <a:srgbClr val="36454F"/>
            </a:solidFill>
            <a:prstDash val="solid"/>
          </a:ln>
        </p:spPr>
      </p:sp>
      <p:sp>
        <p:nvSpPr>
          <p:cNvPr id="19" name="Text 17"/>
          <p:cNvSpPr/>
          <p:nvPr/>
        </p:nvSpPr>
        <p:spPr>
          <a:xfrm>
            <a:off x="8138160" y="2057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8778240" y="20116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Four innovations</a:t>
            </a:r>
            <a:endParaRPr lang="en-US" sz="1600" dirty="0"/>
          </a:p>
        </p:txBody>
      </p:sp>
      <p:sp>
        <p:nvSpPr>
          <p:cNvPr id="21" name="Text 19"/>
          <p:cNvSpPr/>
          <p:nvPr/>
        </p:nvSpPr>
        <p:spPr>
          <a:xfrm>
            <a:off x="8778240" y="23774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LSTM · Hitless Handoff · Digital Twin · Plain-English IBN</a:t>
            </a:r>
            <a:endParaRPr lang="en-US" sz="1100" dirty="0"/>
          </a:p>
        </p:txBody>
      </p:sp>
      <p:sp>
        <p:nvSpPr>
          <p:cNvPr id="22" name="Shape 20"/>
          <p:cNvSpPr/>
          <p:nvPr/>
        </p:nvSpPr>
        <p:spPr>
          <a:xfrm>
            <a:off x="548640" y="32004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3" name="Shape 21"/>
          <p:cNvSpPr/>
          <p:nvPr/>
        </p:nvSpPr>
        <p:spPr>
          <a:xfrm>
            <a:off x="731520" y="3429000"/>
            <a:ext cx="502920" cy="502920"/>
          </a:xfrm>
          <a:prstGeom prst="ellipse">
            <a:avLst/>
          </a:prstGeom>
          <a:solidFill>
            <a:srgbClr val="36454F"/>
          </a:solidFill>
          <a:ln w="12700">
            <a:solidFill>
              <a:srgbClr val="36454F"/>
            </a:solidFill>
            <a:prstDash val="solid"/>
          </a:ln>
        </p:spPr>
      </p:sp>
      <p:sp>
        <p:nvSpPr>
          <p:cNvPr id="24" name="Text 22"/>
          <p:cNvSpPr/>
          <p:nvPr/>
        </p:nvSpPr>
        <p:spPr>
          <a:xfrm>
            <a:off x="731520" y="3429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1371600" y="33832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Architecture</a:t>
            </a:r>
            <a:endParaRPr lang="en-US" sz="1600" dirty="0"/>
          </a:p>
        </p:txBody>
      </p:sp>
      <p:sp>
        <p:nvSpPr>
          <p:cNvPr id="26" name="Text 24"/>
          <p:cNvSpPr/>
          <p:nvPr/>
        </p:nvSpPr>
        <p:spPr>
          <a:xfrm>
            <a:off x="1371600" y="37490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How the pieces fit together</a:t>
            </a:r>
            <a:endParaRPr lang="en-US" sz="1100" dirty="0"/>
          </a:p>
        </p:txBody>
      </p:sp>
      <p:sp>
        <p:nvSpPr>
          <p:cNvPr id="27" name="Shape 25"/>
          <p:cNvSpPr/>
          <p:nvPr/>
        </p:nvSpPr>
        <p:spPr>
          <a:xfrm>
            <a:off x="4251960" y="32004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8" name="Shape 26"/>
          <p:cNvSpPr/>
          <p:nvPr/>
        </p:nvSpPr>
        <p:spPr>
          <a:xfrm>
            <a:off x="4434840" y="3429000"/>
            <a:ext cx="502920" cy="502920"/>
          </a:xfrm>
          <a:prstGeom prst="ellipse">
            <a:avLst/>
          </a:prstGeom>
          <a:solidFill>
            <a:srgbClr val="36454F"/>
          </a:solidFill>
          <a:ln w="12700">
            <a:solidFill>
              <a:srgbClr val="36454F"/>
            </a:solidFill>
            <a:prstDash val="solid"/>
          </a:ln>
        </p:spPr>
      </p:sp>
      <p:sp>
        <p:nvSpPr>
          <p:cNvPr id="29" name="Text 27"/>
          <p:cNvSpPr/>
          <p:nvPr/>
        </p:nvSpPr>
        <p:spPr>
          <a:xfrm>
            <a:off x="4434840" y="3429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8"/>
          <p:cNvSpPr/>
          <p:nvPr/>
        </p:nvSpPr>
        <p:spPr>
          <a:xfrm>
            <a:off x="5074920" y="33832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Under the hood</a:t>
            </a:r>
            <a:endParaRPr lang="en-US" sz="1600" dirty="0"/>
          </a:p>
        </p:txBody>
      </p:sp>
      <p:sp>
        <p:nvSpPr>
          <p:cNvPr id="31" name="Text 29"/>
          <p:cNvSpPr/>
          <p:nvPr/>
        </p:nvSpPr>
        <p:spPr>
          <a:xfrm>
            <a:off x="5074920" y="37490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LSTM model, tech stack, data flow</a:t>
            </a:r>
            <a:endParaRPr lang="en-US" sz="1100" dirty="0"/>
          </a:p>
        </p:txBody>
      </p:sp>
      <p:sp>
        <p:nvSpPr>
          <p:cNvPr id="32" name="Shape 30"/>
          <p:cNvSpPr/>
          <p:nvPr/>
        </p:nvSpPr>
        <p:spPr>
          <a:xfrm>
            <a:off x="7955280" y="32004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33" name="Shape 31"/>
          <p:cNvSpPr/>
          <p:nvPr/>
        </p:nvSpPr>
        <p:spPr>
          <a:xfrm>
            <a:off x="8138160" y="3429000"/>
            <a:ext cx="502920" cy="502920"/>
          </a:xfrm>
          <a:prstGeom prst="ellipse">
            <a:avLst/>
          </a:prstGeom>
          <a:solidFill>
            <a:srgbClr val="36454F"/>
          </a:solidFill>
          <a:ln w="12700">
            <a:solidFill>
              <a:srgbClr val="36454F"/>
            </a:solidFill>
            <a:prstDash val="solid"/>
          </a:ln>
        </p:spPr>
      </p:sp>
      <p:sp>
        <p:nvSpPr>
          <p:cNvPr id="34" name="Text 32"/>
          <p:cNvSpPr/>
          <p:nvPr/>
        </p:nvSpPr>
        <p:spPr>
          <a:xfrm>
            <a:off x="8138160" y="3429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5" name="Text 33"/>
          <p:cNvSpPr/>
          <p:nvPr/>
        </p:nvSpPr>
        <p:spPr>
          <a:xfrm>
            <a:off x="8778240" y="33832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Dashboard tour</a:t>
            </a:r>
            <a:endParaRPr lang="en-US" sz="1600" dirty="0"/>
          </a:p>
        </p:txBody>
      </p:sp>
      <p:sp>
        <p:nvSpPr>
          <p:cNvPr id="36" name="Text 34"/>
          <p:cNvSpPr/>
          <p:nvPr/>
        </p:nvSpPr>
        <p:spPr>
          <a:xfrm>
            <a:off x="8778240" y="37490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Mockup walkthroughs of the UI</a:t>
            </a:r>
            <a:endParaRPr lang="en-US" sz="1100" dirty="0"/>
          </a:p>
        </p:txBody>
      </p:sp>
      <p:sp>
        <p:nvSpPr>
          <p:cNvPr id="37" name="Shape 35"/>
          <p:cNvSpPr/>
          <p:nvPr/>
        </p:nvSpPr>
        <p:spPr>
          <a:xfrm>
            <a:off x="548640" y="45720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38" name="Shape 36"/>
          <p:cNvSpPr/>
          <p:nvPr/>
        </p:nvSpPr>
        <p:spPr>
          <a:xfrm>
            <a:off x="731520" y="4800600"/>
            <a:ext cx="502920" cy="502920"/>
          </a:xfrm>
          <a:prstGeom prst="ellipse">
            <a:avLst/>
          </a:prstGeom>
          <a:solidFill>
            <a:srgbClr val="36454F"/>
          </a:solidFill>
          <a:ln w="12700">
            <a:solidFill>
              <a:srgbClr val="36454F"/>
            </a:solidFill>
            <a:prstDash val="solid"/>
          </a:ln>
        </p:spPr>
      </p:sp>
      <p:sp>
        <p:nvSpPr>
          <p:cNvPr id="39" name="Text 37"/>
          <p:cNvSpPr/>
          <p:nvPr/>
        </p:nvSpPr>
        <p:spPr>
          <a:xfrm>
            <a:off x="731520" y="4800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40" name="Text 38"/>
          <p:cNvSpPr/>
          <p:nvPr/>
        </p:nvSpPr>
        <p:spPr>
          <a:xfrm>
            <a:off x="1371600" y="47548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The competition</a:t>
            </a:r>
            <a:endParaRPr lang="en-US" sz="1600" dirty="0"/>
          </a:p>
        </p:txBody>
      </p:sp>
      <p:sp>
        <p:nvSpPr>
          <p:cNvPr id="41" name="Text 39"/>
          <p:cNvSpPr/>
          <p:nvPr/>
        </p:nvSpPr>
        <p:spPr>
          <a:xfrm>
            <a:off x="1371600" y="51206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PathWise vs. Cisco, VMware, Juniper</a:t>
            </a:r>
            <a:endParaRPr lang="en-US" sz="1100" dirty="0"/>
          </a:p>
        </p:txBody>
      </p:sp>
      <p:sp>
        <p:nvSpPr>
          <p:cNvPr id="42" name="Shape 40"/>
          <p:cNvSpPr/>
          <p:nvPr/>
        </p:nvSpPr>
        <p:spPr>
          <a:xfrm>
            <a:off x="4251960" y="45720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43" name="Shape 41"/>
          <p:cNvSpPr/>
          <p:nvPr/>
        </p:nvSpPr>
        <p:spPr>
          <a:xfrm>
            <a:off x="4434840" y="4800600"/>
            <a:ext cx="502920" cy="502920"/>
          </a:xfrm>
          <a:prstGeom prst="ellipse">
            <a:avLst/>
          </a:prstGeom>
          <a:solidFill>
            <a:srgbClr val="36454F"/>
          </a:solidFill>
          <a:ln w="12700">
            <a:solidFill>
              <a:srgbClr val="36454F"/>
            </a:solidFill>
            <a:prstDash val="solid"/>
          </a:ln>
        </p:spPr>
      </p:sp>
      <p:sp>
        <p:nvSpPr>
          <p:cNvPr id="44" name="Text 42"/>
          <p:cNvSpPr/>
          <p:nvPr/>
        </p:nvSpPr>
        <p:spPr>
          <a:xfrm>
            <a:off x="4434840" y="4800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5" name="Text 43"/>
          <p:cNvSpPr/>
          <p:nvPr/>
        </p:nvSpPr>
        <p:spPr>
          <a:xfrm>
            <a:off x="5074920" y="47548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Security &amp; tests</a:t>
            </a:r>
            <a:endParaRPr lang="en-US" sz="1600" dirty="0"/>
          </a:p>
        </p:txBody>
      </p:sp>
      <p:sp>
        <p:nvSpPr>
          <p:cNvPr id="46" name="Text 44"/>
          <p:cNvSpPr/>
          <p:nvPr/>
        </p:nvSpPr>
        <p:spPr>
          <a:xfrm>
            <a:off x="5074920" y="51206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TLS 1.3, AES-256, 22 integration tests</a:t>
            </a:r>
            <a:endParaRPr lang="en-US" sz="1100" dirty="0"/>
          </a:p>
        </p:txBody>
      </p:sp>
      <p:sp>
        <p:nvSpPr>
          <p:cNvPr id="47" name="Shape 45"/>
          <p:cNvSpPr/>
          <p:nvPr/>
        </p:nvSpPr>
        <p:spPr>
          <a:xfrm>
            <a:off x="7955280" y="4572000"/>
            <a:ext cx="3611880" cy="123444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48" name="Shape 46"/>
          <p:cNvSpPr/>
          <p:nvPr/>
        </p:nvSpPr>
        <p:spPr>
          <a:xfrm>
            <a:off x="8138160" y="4800600"/>
            <a:ext cx="502920" cy="502920"/>
          </a:xfrm>
          <a:prstGeom prst="ellipse">
            <a:avLst/>
          </a:prstGeom>
          <a:solidFill>
            <a:srgbClr val="36454F"/>
          </a:solidFill>
          <a:ln w="12700">
            <a:solidFill>
              <a:srgbClr val="36454F"/>
            </a:solidFill>
            <a:prstDash val="solid"/>
          </a:ln>
        </p:spPr>
      </p:sp>
      <p:sp>
        <p:nvSpPr>
          <p:cNvPr id="49" name="Text 47"/>
          <p:cNvSpPr/>
          <p:nvPr/>
        </p:nvSpPr>
        <p:spPr>
          <a:xfrm>
            <a:off x="8138160" y="4800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50" name="Text 48"/>
          <p:cNvSpPr/>
          <p:nvPr/>
        </p:nvSpPr>
        <p:spPr>
          <a:xfrm>
            <a:off x="8778240" y="4754880"/>
            <a:ext cx="269748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Roadmap &amp; Q&amp;A</a:t>
            </a:r>
            <a:endParaRPr lang="en-US" sz="1600" dirty="0"/>
          </a:p>
        </p:txBody>
      </p:sp>
      <p:sp>
        <p:nvSpPr>
          <p:cNvPr id="51" name="Text 49"/>
          <p:cNvSpPr/>
          <p:nvPr/>
        </p:nvSpPr>
        <p:spPr>
          <a:xfrm>
            <a:off x="8778240" y="5120640"/>
            <a:ext cx="2697480" cy="64008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What's next + your questions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The Switching Gap — why today's networks still drop packets</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3 / 25</a:t>
            </a:r>
            <a:endParaRPr lang="en-US" sz="900" dirty="0"/>
          </a:p>
        </p:txBody>
      </p:sp>
      <p:sp>
        <p:nvSpPr>
          <p:cNvPr id="7" name="Text 5"/>
          <p:cNvSpPr/>
          <p:nvPr/>
        </p:nvSpPr>
        <p:spPr>
          <a:xfrm>
            <a:off x="548640" y="1737360"/>
            <a:ext cx="548640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The short version</a:t>
            </a:r>
            <a:endParaRPr lang="en-US" sz="1600" dirty="0"/>
          </a:p>
        </p:txBody>
      </p:sp>
      <p:sp>
        <p:nvSpPr>
          <p:cNvPr id="8" name="Text 6"/>
          <p:cNvSpPr/>
          <p:nvPr/>
        </p:nvSpPr>
        <p:spPr>
          <a:xfrm>
            <a:off x="548640" y="2103120"/>
            <a:ext cx="5486400" cy="1280160"/>
          </a:xfrm>
          <a:prstGeom prst="rect">
            <a:avLst/>
          </a:prstGeom>
          <a:noFill/>
          <a:ln/>
        </p:spPr>
        <p:txBody>
          <a:bodyPr wrap="square" lIns="0" tIns="0" rIns="0" bIns="0" rtlCol="0" anchor="ctr"/>
          <a:lstStyle/>
          <a:p>
            <a:pPr marL="0" indent="0">
              <a:buNone/>
            </a:pPr>
            <a:r>
              <a:rPr lang="en-US" sz="1400" dirty="0">
                <a:solidFill>
                  <a:srgbClr val="1A1E22"/>
                </a:solidFill>
                <a:latin typeface="Calibri" pitchFamily="34" charset="0"/>
                <a:ea typeface="Calibri" pitchFamily="34" charset="-122"/>
                <a:cs typeface="Calibri" pitchFamily="34" charset="-120"/>
              </a:rPr>
              <a:t>Traditional SD-WAN systems only notice a link is bad after packets have already been lost. The time between "link starts going bad" and "traffic is on a new link" is the switching gap.</a:t>
            </a:r>
            <a:endParaRPr lang="en-US" sz="1400" dirty="0"/>
          </a:p>
        </p:txBody>
      </p:sp>
      <p:sp>
        <p:nvSpPr>
          <p:cNvPr id="9" name="Text 7"/>
          <p:cNvSpPr/>
          <p:nvPr/>
        </p:nvSpPr>
        <p:spPr>
          <a:xfrm>
            <a:off x="548640" y="3383280"/>
            <a:ext cx="5486400" cy="365760"/>
          </a:xfrm>
          <a:prstGeom prst="rect">
            <a:avLst/>
          </a:prstGeom>
          <a:noFill/>
          <a:ln/>
        </p:spPr>
        <p:txBody>
          <a:bodyPr wrap="square" lIns="0" tIns="0" rIns="0" bIns="0" rtlCol="0" anchor="ctr"/>
          <a:lstStyle/>
          <a:p>
            <a:pPr marL="0" indent="0">
              <a:buNone/>
            </a:pPr>
            <a:r>
              <a:rPr lang="en-US" sz="1400" i="1" dirty="0">
                <a:solidFill>
                  <a:srgbClr val="708090"/>
                </a:solidFill>
                <a:latin typeface="Calibri" pitchFamily="34" charset="0"/>
                <a:ea typeface="Calibri" pitchFamily="34" charset="-122"/>
                <a:cs typeface="Calibri" pitchFamily="34" charset="-120"/>
              </a:rPr>
              <a:t>During that gap, people notice.</a:t>
            </a:r>
            <a:endParaRPr lang="en-US" sz="1400" dirty="0"/>
          </a:p>
        </p:txBody>
      </p:sp>
      <p:sp>
        <p:nvSpPr>
          <p:cNvPr id="10" name="Text 8"/>
          <p:cNvSpPr/>
          <p:nvPr/>
        </p:nvSpPr>
        <p:spPr>
          <a:xfrm>
            <a:off x="548640" y="3840480"/>
            <a:ext cx="5486400" cy="21031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A1E22"/>
                </a:solidFill>
                <a:latin typeface="Calibri" pitchFamily="34" charset="0"/>
                <a:ea typeface="Calibri" pitchFamily="34" charset="-122"/>
                <a:cs typeface="Calibri" pitchFamily="34" charset="-120"/>
              </a:rPr>
              <a:t>VoIP calls cut off mid-sentence</a:t>
            </a:r>
            <a:endParaRPr lang="en-US" sz="1300" dirty="0"/>
          </a:p>
          <a:p>
            <a:pPr marL="342900" indent="-342900">
              <a:spcAft>
                <a:spcPts val="600"/>
              </a:spcAft>
              <a:buSzPct val="100000"/>
              <a:buChar char="■"/>
            </a:pPr>
            <a:r>
              <a:rPr lang="en-US" sz="1300" dirty="0">
                <a:solidFill>
                  <a:srgbClr val="1A1E22"/>
                </a:solidFill>
                <a:latin typeface="Calibri" pitchFamily="34" charset="0"/>
                <a:ea typeface="Calibri" pitchFamily="34" charset="-122"/>
                <a:cs typeface="Calibri" pitchFamily="34" charset="-120"/>
              </a:rPr>
              <a:t>Video conferences freeze</a:t>
            </a:r>
            <a:endParaRPr lang="en-US" sz="1300" dirty="0"/>
          </a:p>
          <a:p>
            <a:pPr marL="342900" indent="-342900">
              <a:spcAft>
                <a:spcPts val="600"/>
              </a:spcAft>
              <a:buSzPct val="100000"/>
              <a:buChar char="■"/>
            </a:pPr>
            <a:r>
              <a:rPr lang="en-US" sz="1300" dirty="0">
                <a:solidFill>
                  <a:srgbClr val="1A1E22"/>
                </a:solidFill>
                <a:latin typeface="Calibri" pitchFamily="34" charset="0"/>
                <a:ea typeface="Calibri" pitchFamily="34" charset="-122"/>
                <a:cs typeface="Calibri" pitchFamily="34" charset="-120"/>
              </a:rPr>
              <a:t>Credit-card payments time out at the register</a:t>
            </a:r>
            <a:endParaRPr lang="en-US" sz="1300" dirty="0"/>
          </a:p>
          <a:p>
            <a:pPr marL="342900" indent="-342900">
              <a:spcAft>
                <a:spcPts val="600"/>
              </a:spcAft>
              <a:buSzPct val="100000"/>
              <a:buChar char="■"/>
            </a:pPr>
            <a:r>
              <a:rPr lang="en-US" sz="1300" dirty="0">
                <a:solidFill>
                  <a:srgbClr val="1A1E22"/>
                </a:solidFill>
                <a:latin typeface="Calibri" pitchFamily="34" charset="0"/>
                <a:ea typeface="Calibri" pitchFamily="34" charset="-122"/>
                <a:cs typeface="Calibri" pitchFamily="34" charset="-120"/>
              </a:rPr>
              <a:t>Telemedicine sessions drop</a:t>
            </a:r>
            <a:endParaRPr lang="en-US" sz="1300" dirty="0"/>
          </a:p>
          <a:p>
            <a:pPr marL="342900" indent="-342900">
              <a:spcAft>
                <a:spcPts val="600"/>
              </a:spcAft>
              <a:buSzPct val="100000"/>
              <a:buChar char="■"/>
            </a:pPr>
            <a:r>
              <a:rPr lang="en-US" sz="1300" dirty="0">
                <a:solidFill>
                  <a:srgbClr val="1A1E22"/>
                </a:solidFill>
                <a:latin typeface="Calibri" pitchFamily="34" charset="0"/>
                <a:ea typeface="Calibri" pitchFamily="34" charset="-122"/>
                <a:cs typeface="Calibri" pitchFamily="34" charset="-120"/>
              </a:rPr>
              <a:t>Trading terminals miss quotes</a:t>
            </a:r>
            <a:endParaRPr lang="en-US" sz="1300" dirty="0"/>
          </a:p>
        </p:txBody>
      </p:sp>
      <p:sp>
        <p:nvSpPr>
          <p:cNvPr id="11" name="Shape 9"/>
          <p:cNvSpPr/>
          <p:nvPr/>
        </p:nvSpPr>
        <p:spPr>
          <a:xfrm>
            <a:off x="6400800" y="1737360"/>
            <a:ext cx="5212080" cy="4389120"/>
          </a:xfrm>
          <a:prstGeom prst="rect">
            <a:avLst/>
          </a:prstGeom>
          <a:solidFill>
            <a:srgbClr val="FFFFFF"/>
          </a:solidFill>
          <a:ln w="12700">
            <a:solidFill>
              <a:srgbClr val="A4ACB5"/>
            </a:solidFill>
            <a:prstDash val="solid"/>
          </a:ln>
          <a:effectLst>
            <a:outerShdw blurRad="101600" dist="25400" dir="5400000" algn="bl" rotWithShape="0">
              <a:srgbClr val="000000">
                <a:alpha val="8000"/>
              </a:srgbClr>
            </a:outerShdw>
          </a:effectLst>
        </p:spPr>
      </p:sp>
      <p:sp>
        <p:nvSpPr>
          <p:cNvPr id="12" name="Text 10"/>
          <p:cNvSpPr/>
          <p:nvPr/>
        </p:nvSpPr>
        <p:spPr>
          <a:xfrm>
            <a:off x="6629400" y="1920240"/>
            <a:ext cx="4754880" cy="36576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Reactive timeline (today)</a:t>
            </a:r>
            <a:endParaRPr lang="en-US" sz="1400" dirty="0"/>
          </a:p>
        </p:txBody>
      </p:sp>
      <p:sp>
        <p:nvSpPr>
          <p:cNvPr id="13" name="Shape 11"/>
          <p:cNvSpPr/>
          <p:nvPr/>
        </p:nvSpPr>
        <p:spPr>
          <a:xfrm>
            <a:off x="6766560" y="2651760"/>
            <a:ext cx="2016252" cy="201168"/>
          </a:xfrm>
          <a:prstGeom prst="rect">
            <a:avLst/>
          </a:prstGeom>
          <a:solidFill>
            <a:srgbClr val="3E6D2E"/>
          </a:solidFill>
          <a:ln w="12700">
            <a:solidFill>
              <a:srgbClr val="3E6D2E"/>
            </a:solidFill>
            <a:prstDash val="solid"/>
          </a:ln>
        </p:spPr>
      </p:sp>
      <p:sp>
        <p:nvSpPr>
          <p:cNvPr id="14" name="Shape 12"/>
          <p:cNvSpPr/>
          <p:nvPr/>
        </p:nvSpPr>
        <p:spPr>
          <a:xfrm>
            <a:off x="8782812" y="2651760"/>
            <a:ext cx="1344168" cy="201168"/>
          </a:xfrm>
          <a:prstGeom prst="rect">
            <a:avLst/>
          </a:prstGeom>
          <a:solidFill>
            <a:srgbClr val="8B3A3A"/>
          </a:solidFill>
          <a:ln w="12700">
            <a:solidFill>
              <a:srgbClr val="8B3A3A"/>
            </a:solidFill>
            <a:prstDash val="solid"/>
          </a:ln>
        </p:spPr>
      </p:sp>
      <p:sp>
        <p:nvSpPr>
          <p:cNvPr id="15" name="Shape 13"/>
          <p:cNvSpPr/>
          <p:nvPr/>
        </p:nvSpPr>
        <p:spPr>
          <a:xfrm>
            <a:off x="10126980" y="2651760"/>
            <a:ext cx="1120140" cy="201168"/>
          </a:xfrm>
          <a:prstGeom prst="rect">
            <a:avLst/>
          </a:prstGeom>
          <a:solidFill>
            <a:srgbClr val="3E6D2E"/>
          </a:solidFill>
          <a:ln w="12700">
            <a:solidFill>
              <a:srgbClr val="3E6D2E"/>
            </a:solidFill>
            <a:prstDash val="solid"/>
          </a:ln>
        </p:spPr>
      </p:sp>
      <p:sp>
        <p:nvSpPr>
          <p:cNvPr id="16" name="Text 14"/>
          <p:cNvSpPr/>
          <p:nvPr/>
        </p:nvSpPr>
        <p:spPr>
          <a:xfrm>
            <a:off x="6766560" y="2907792"/>
            <a:ext cx="2016252" cy="274320"/>
          </a:xfrm>
          <a:prstGeom prst="rect">
            <a:avLst/>
          </a:prstGeom>
          <a:noFill/>
          <a:ln/>
        </p:spPr>
        <p:txBody>
          <a:bodyPr wrap="square" lIns="0" tIns="0" rIns="0" bIns="0" rtlCol="0" anchor="ctr"/>
          <a:lstStyle/>
          <a:p>
            <a:pPr marL="0" indent="0" algn="ctr">
              <a:buNone/>
            </a:pPr>
            <a:r>
              <a:rPr lang="en-US" sz="1000" b="1" dirty="0">
                <a:solidFill>
                  <a:srgbClr val="3E6D2E"/>
                </a:solidFill>
                <a:latin typeface="Calibri" pitchFamily="34" charset="0"/>
                <a:ea typeface="Calibri" pitchFamily="34" charset="-122"/>
                <a:cs typeface="Calibri" pitchFamily="34" charset="-120"/>
              </a:rPr>
              <a:t>Link healthy</a:t>
            </a:r>
            <a:endParaRPr lang="en-US" sz="1000" dirty="0"/>
          </a:p>
        </p:txBody>
      </p:sp>
      <p:sp>
        <p:nvSpPr>
          <p:cNvPr id="17" name="Text 15"/>
          <p:cNvSpPr/>
          <p:nvPr/>
        </p:nvSpPr>
        <p:spPr>
          <a:xfrm>
            <a:off x="8782812" y="2907792"/>
            <a:ext cx="1344168" cy="274320"/>
          </a:xfrm>
          <a:prstGeom prst="rect">
            <a:avLst/>
          </a:prstGeom>
          <a:noFill/>
          <a:ln/>
        </p:spPr>
        <p:txBody>
          <a:bodyPr wrap="square" lIns="0" tIns="0" rIns="0" bIns="0" rtlCol="0" anchor="ctr"/>
          <a:lstStyle/>
          <a:p>
            <a:pPr marL="0" indent="0" algn="ctr">
              <a:buNone/>
            </a:pPr>
            <a:r>
              <a:rPr lang="en-US" sz="1000" b="1" dirty="0">
                <a:solidFill>
                  <a:srgbClr val="8B3A3A"/>
                </a:solidFill>
                <a:latin typeface="Calibri" pitchFamily="34" charset="0"/>
                <a:ea typeface="Calibri" pitchFamily="34" charset="-122"/>
                <a:cs typeface="Calibri" pitchFamily="34" charset="-120"/>
              </a:rPr>
              <a:t>Packets lost (the gap)</a:t>
            </a:r>
            <a:endParaRPr lang="en-US" sz="1000" dirty="0"/>
          </a:p>
        </p:txBody>
      </p:sp>
      <p:sp>
        <p:nvSpPr>
          <p:cNvPr id="18" name="Text 16"/>
          <p:cNvSpPr/>
          <p:nvPr/>
        </p:nvSpPr>
        <p:spPr>
          <a:xfrm>
            <a:off x="10126980" y="2907792"/>
            <a:ext cx="1120140" cy="274320"/>
          </a:xfrm>
          <a:prstGeom prst="rect">
            <a:avLst/>
          </a:prstGeom>
          <a:noFill/>
          <a:ln/>
        </p:spPr>
        <p:txBody>
          <a:bodyPr wrap="square" lIns="0" tIns="0" rIns="0" bIns="0" rtlCol="0" anchor="ctr"/>
          <a:lstStyle/>
          <a:p>
            <a:pPr marL="0" indent="0" algn="ctr">
              <a:buNone/>
            </a:pPr>
            <a:r>
              <a:rPr lang="en-US" sz="1000" b="1" dirty="0">
                <a:solidFill>
                  <a:srgbClr val="3E6D2E"/>
                </a:solidFill>
                <a:latin typeface="Calibri" pitchFamily="34" charset="0"/>
                <a:ea typeface="Calibri" pitchFamily="34" charset="-122"/>
                <a:cs typeface="Calibri" pitchFamily="34" charset="-120"/>
              </a:rPr>
              <a:t>Failover done</a:t>
            </a:r>
            <a:endParaRPr lang="en-US" sz="1000" dirty="0"/>
          </a:p>
        </p:txBody>
      </p:sp>
      <p:sp>
        <p:nvSpPr>
          <p:cNvPr id="19" name="Text 17"/>
          <p:cNvSpPr/>
          <p:nvPr/>
        </p:nvSpPr>
        <p:spPr>
          <a:xfrm>
            <a:off x="6629400" y="3749040"/>
            <a:ext cx="47548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The industry's answer so far:</a:t>
            </a:r>
            <a:endParaRPr lang="en-US" sz="1300" dirty="0"/>
          </a:p>
        </p:txBody>
      </p:sp>
      <p:sp>
        <p:nvSpPr>
          <p:cNvPr id="20" name="Text 18"/>
          <p:cNvSpPr/>
          <p:nvPr/>
        </p:nvSpPr>
        <p:spPr>
          <a:xfrm>
            <a:off x="6629400" y="4114800"/>
            <a:ext cx="4754880" cy="365760"/>
          </a:xfrm>
          <a:prstGeom prst="rect">
            <a:avLst/>
          </a:prstGeom>
          <a:noFill/>
          <a:ln/>
        </p:spPr>
        <p:txBody>
          <a:bodyPr wrap="square" lIns="0" tIns="0" rIns="0" bIns="0" rtlCol="0" anchor="ctr"/>
          <a:lstStyle/>
          <a:p>
            <a:pPr marL="0" indent="0">
              <a:buNone/>
            </a:pPr>
            <a:r>
              <a:rPr lang="en-US" sz="1600" i="1" dirty="0">
                <a:solidFill>
                  <a:srgbClr val="6B737A"/>
                </a:solidFill>
                <a:latin typeface="Calibri" pitchFamily="34" charset="0"/>
                <a:ea typeface="Calibri" pitchFamily="34" charset="-122"/>
                <a:cs typeface="Calibri" pitchFamily="34" charset="-120"/>
              </a:rPr>
              <a:t>"Make the reaction faster."</a:t>
            </a:r>
            <a:endParaRPr lang="en-US" sz="1600" dirty="0"/>
          </a:p>
        </p:txBody>
      </p:sp>
      <p:sp>
        <p:nvSpPr>
          <p:cNvPr id="21" name="Text 19"/>
          <p:cNvSpPr/>
          <p:nvPr/>
        </p:nvSpPr>
        <p:spPr>
          <a:xfrm>
            <a:off x="6629400" y="4572000"/>
            <a:ext cx="4754880" cy="365760"/>
          </a:xfrm>
          <a:prstGeom prst="rect">
            <a:avLst/>
          </a:prstGeom>
          <a:noFill/>
          <a:ln/>
        </p:spPr>
        <p:txBody>
          <a:bodyPr wrap="square" lIns="0" tIns="0" rIns="0" bIns="0" rtlCol="0" anchor="ctr"/>
          <a:lstStyle/>
          <a:p>
            <a:pPr marL="0" indent="0" algn="ctr">
              <a:buNone/>
            </a:pPr>
            <a:r>
              <a:rPr lang="en-US" sz="2000" b="1" dirty="0">
                <a:solidFill>
                  <a:srgbClr val="1A1E22"/>
                </a:solidFill>
                <a:latin typeface="Calibri" pitchFamily="34" charset="0"/>
                <a:ea typeface="Calibri" pitchFamily="34" charset="-122"/>
                <a:cs typeface="Calibri" pitchFamily="34" charset="-120"/>
              </a:rPr>
              <a:t>200 ms  →  100 ms  →  50 ms</a:t>
            </a:r>
            <a:endParaRPr lang="en-US" sz="2000" dirty="0"/>
          </a:p>
        </p:txBody>
      </p:sp>
      <p:sp>
        <p:nvSpPr>
          <p:cNvPr id="22" name="Text 20"/>
          <p:cNvSpPr/>
          <p:nvPr/>
        </p:nvSpPr>
        <p:spPr>
          <a:xfrm>
            <a:off x="6629400" y="5303520"/>
            <a:ext cx="4754880" cy="548640"/>
          </a:xfrm>
          <a:prstGeom prst="rect">
            <a:avLst/>
          </a:prstGeom>
          <a:noFill/>
          <a:ln/>
        </p:spPr>
        <p:txBody>
          <a:bodyPr wrap="square" lIns="0" tIns="0" rIns="0" bIns="0" rtlCol="0" anchor="ctr"/>
          <a:lstStyle/>
          <a:p>
            <a:pPr marL="0" indent="0" algn="ctr">
              <a:buNone/>
            </a:pPr>
            <a:r>
              <a:rPr lang="en-US" sz="1300" b="1" dirty="0">
                <a:solidFill>
                  <a:srgbClr val="8B3A3A"/>
                </a:solidFill>
                <a:latin typeface="Calibri" pitchFamily="34" charset="0"/>
                <a:ea typeface="Calibri" pitchFamily="34" charset="-122"/>
                <a:cs typeface="Calibri" pitchFamily="34" charset="-120"/>
              </a:rPr>
              <a:t>Faster reaction is still reaction. The packets are already gone.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6454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A4ACB5"/>
          </a:solidFill>
          <a:ln w="12700">
            <a:solidFill>
              <a:srgbClr val="A4ACB5"/>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A4ACB5"/>
                </a:solidFill>
                <a:latin typeface="Calibri" pitchFamily="34" charset="0"/>
                <a:ea typeface="Calibri" pitchFamily="34" charset="-122"/>
                <a:cs typeface="Calibri" pitchFamily="34" charset="-120"/>
              </a:rPr>
              <a:t>THE INSIGHT</a:t>
            </a:r>
            <a:endParaRPr lang="en-US" sz="1000" dirty="0"/>
          </a:p>
        </p:txBody>
      </p:sp>
      <p:sp>
        <p:nvSpPr>
          <p:cNvPr id="4" name="Text 2"/>
          <p:cNvSpPr/>
          <p:nvPr/>
        </p:nvSpPr>
        <p:spPr>
          <a:xfrm>
            <a:off x="731520" y="1645920"/>
            <a:ext cx="10698480" cy="822960"/>
          </a:xfrm>
          <a:prstGeom prst="rect">
            <a:avLst/>
          </a:prstGeom>
          <a:noFill/>
          <a:ln/>
        </p:spPr>
        <p:txBody>
          <a:bodyPr wrap="square" lIns="0" tIns="0" rIns="0" bIns="0" rtlCol="0" anchor="ctr"/>
          <a:lstStyle/>
          <a:p>
            <a:pPr marL="0" indent="0">
              <a:buNone/>
            </a:pPr>
            <a:r>
              <a:rPr lang="en-US" sz="3200" i="1" dirty="0">
                <a:solidFill>
                  <a:srgbClr val="A4ACB5"/>
                </a:solidFill>
                <a:latin typeface="Calibri" pitchFamily="34" charset="0"/>
                <a:ea typeface="Calibri" pitchFamily="34" charset="-122"/>
                <a:cs typeface="Calibri" pitchFamily="34" charset="-120"/>
              </a:rPr>
              <a:t>What if, instead of reacting to failure…</a:t>
            </a:r>
            <a:endParaRPr lang="en-US" sz="3200" dirty="0"/>
          </a:p>
        </p:txBody>
      </p:sp>
      <p:sp>
        <p:nvSpPr>
          <p:cNvPr id="5" name="Text 3"/>
          <p:cNvSpPr/>
          <p:nvPr/>
        </p:nvSpPr>
        <p:spPr>
          <a:xfrm>
            <a:off x="731520" y="2743200"/>
            <a:ext cx="10698480" cy="18288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…we predict failure, and move traffic while both links are still healthy?</a:t>
            </a:r>
            <a:endParaRPr lang="en-US" sz="4400" dirty="0"/>
          </a:p>
        </p:txBody>
      </p:sp>
      <p:sp>
        <p:nvSpPr>
          <p:cNvPr id="6" name="Shape 4"/>
          <p:cNvSpPr/>
          <p:nvPr/>
        </p:nvSpPr>
        <p:spPr>
          <a:xfrm>
            <a:off x="731520" y="4937760"/>
            <a:ext cx="1828800" cy="54864"/>
          </a:xfrm>
          <a:prstGeom prst="rect">
            <a:avLst/>
          </a:prstGeom>
          <a:solidFill>
            <a:srgbClr val="A4ACB5"/>
          </a:solidFill>
          <a:ln w="12700">
            <a:solidFill>
              <a:srgbClr val="A4ACB5"/>
            </a:solidFill>
            <a:prstDash val="solid"/>
          </a:ln>
        </p:spPr>
      </p:sp>
      <p:sp>
        <p:nvSpPr>
          <p:cNvPr id="7" name="Text 5"/>
          <p:cNvSpPr/>
          <p:nvPr/>
        </p:nvSpPr>
        <p:spPr>
          <a:xfrm>
            <a:off x="731520" y="5303520"/>
            <a:ext cx="10698480" cy="548640"/>
          </a:xfrm>
          <a:prstGeom prst="rect">
            <a:avLst/>
          </a:prstGeom>
          <a:noFill/>
          <a:ln/>
        </p:spPr>
        <p:txBody>
          <a:bodyPr wrap="square" lIns="0" tIns="0" rIns="0" bIns="0" rtlCol="0" anchor="ctr"/>
          <a:lstStyle/>
          <a:p>
            <a:pPr marL="0" indent="0">
              <a:buNone/>
            </a:pPr>
            <a:r>
              <a:rPr lang="en-US" sz="1600" dirty="0">
                <a:solidFill>
                  <a:srgbClr val="A4ACB5"/>
                </a:solidFill>
                <a:latin typeface="Calibri" pitchFamily="34" charset="0"/>
                <a:ea typeface="Calibri" pitchFamily="34" charset="-122"/>
                <a:cs typeface="Calibri" pitchFamily="34" charset="-120"/>
              </a:rPr>
              <a:t>Prediction, not reaction. That single shift is the foundation of PathWise AI.</a:t>
            </a:r>
            <a:endParaRPr lang="en-US" sz="1600" dirty="0"/>
          </a:p>
        </p:txBody>
      </p:sp>
      <p:sp>
        <p:nvSpPr>
          <p:cNvPr id="8" name="Text 6"/>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708090"/>
                </a:solidFill>
                <a:latin typeface="Calibri" pitchFamily="34" charset="0"/>
                <a:ea typeface="Calibri" pitchFamily="34" charset="-122"/>
                <a:cs typeface="Calibri" pitchFamily="34" charset="-120"/>
              </a:rPr>
              <a:t>PathWise AI  ·  Team Pathfinders  ·  COSC 6370-001</a:t>
            </a:r>
            <a:endParaRPr lang="en-US" sz="900" dirty="0"/>
          </a:p>
        </p:txBody>
      </p:sp>
      <p:sp>
        <p:nvSpPr>
          <p:cNvPr id="9" name="Text 7"/>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708090"/>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VISION</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Our vision — three pillars</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5 / 25</a:t>
            </a:r>
            <a:endParaRPr lang="en-US" sz="900" dirty="0"/>
          </a:p>
        </p:txBody>
      </p:sp>
      <p:sp>
        <p:nvSpPr>
          <p:cNvPr id="7" name="Shape 5"/>
          <p:cNvSpPr/>
          <p:nvPr/>
        </p:nvSpPr>
        <p:spPr>
          <a:xfrm>
            <a:off x="548640" y="1737360"/>
            <a:ext cx="11064240" cy="1188720"/>
          </a:xfrm>
          <a:prstGeom prst="rect">
            <a:avLst/>
          </a:prstGeom>
          <a:solidFill>
            <a:srgbClr val="F1F2F4"/>
          </a:solidFill>
          <a:ln w="12700">
            <a:solidFill>
              <a:srgbClr val="A4ACB5"/>
            </a:solidFill>
            <a:prstDash val="solid"/>
          </a:ln>
        </p:spPr>
      </p:sp>
      <p:sp>
        <p:nvSpPr>
          <p:cNvPr id="8" name="Shape 6"/>
          <p:cNvSpPr/>
          <p:nvPr/>
        </p:nvSpPr>
        <p:spPr>
          <a:xfrm>
            <a:off x="548640" y="1737360"/>
            <a:ext cx="91440" cy="1188720"/>
          </a:xfrm>
          <a:prstGeom prst="rect">
            <a:avLst/>
          </a:prstGeom>
          <a:solidFill>
            <a:srgbClr val="36454F"/>
          </a:solidFill>
          <a:ln w="12700">
            <a:solidFill>
              <a:srgbClr val="36454F"/>
            </a:solidFill>
            <a:prstDash val="solid"/>
          </a:ln>
        </p:spPr>
      </p:sp>
      <p:sp>
        <p:nvSpPr>
          <p:cNvPr id="9" name="Text 7"/>
          <p:cNvSpPr/>
          <p:nvPr/>
        </p:nvSpPr>
        <p:spPr>
          <a:xfrm>
            <a:off x="822960" y="1783080"/>
            <a:ext cx="10607040" cy="1097280"/>
          </a:xfrm>
          <a:prstGeom prst="rect">
            <a:avLst/>
          </a:prstGeom>
          <a:noFill/>
          <a:ln/>
        </p:spPr>
        <p:txBody>
          <a:bodyPr wrap="square" lIns="0" tIns="0" rIns="0" bIns="0" rtlCol="0" anchor="ctr"/>
          <a:lstStyle/>
          <a:p>
            <a:pPr marL="0" indent="0">
              <a:buNone/>
            </a:pPr>
            <a:r>
              <a:rPr lang="en-US" sz="1500" i="1" dirty="0">
                <a:solidFill>
                  <a:srgbClr val="1A1E22"/>
                </a:solidFill>
                <a:latin typeface="Calibri" pitchFamily="34" charset="0"/>
                <a:ea typeface="Calibri" pitchFamily="34" charset="-122"/>
                <a:cs typeface="Calibri" pitchFamily="34" charset="-120"/>
              </a:rPr>
              <a:t>"Transform enterprise network management from a reactive, manual, vendor-locked discipline into a predictive, autonomous, and vendor-agnostic service — delivering enterprise-grade reliability on commodity hardware, controllable in plain English."</a:t>
            </a:r>
            <a:endParaRPr lang="en-US" sz="1500" dirty="0"/>
          </a:p>
        </p:txBody>
      </p:sp>
      <p:sp>
        <p:nvSpPr>
          <p:cNvPr id="10" name="Shape 8"/>
          <p:cNvSpPr/>
          <p:nvPr/>
        </p:nvSpPr>
        <p:spPr>
          <a:xfrm>
            <a:off x="548640" y="3291840"/>
            <a:ext cx="3566160" cy="256032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1" name="Shape 9"/>
          <p:cNvSpPr/>
          <p:nvPr/>
        </p:nvSpPr>
        <p:spPr>
          <a:xfrm>
            <a:off x="1965960" y="3566160"/>
            <a:ext cx="731520" cy="731520"/>
          </a:xfrm>
          <a:prstGeom prst="ellipse">
            <a:avLst/>
          </a:prstGeom>
          <a:solidFill>
            <a:srgbClr val="36454F"/>
          </a:solidFill>
          <a:ln w="12700">
            <a:solidFill>
              <a:srgbClr val="36454F"/>
            </a:solidFill>
            <a:prstDash val="solid"/>
          </a:ln>
        </p:spPr>
      </p:sp>
      <p:sp>
        <p:nvSpPr>
          <p:cNvPr id="12" name="Text 10"/>
          <p:cNvSpPr/>
          <p:nvPr/>
        </p:nvSpPr>
        <p:spPr>
          <a:xfrm>
            <a:off x="1965960" y="35661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13" name="Text 11"/>
          <p:cNvSpPr/>
          <p:nvPr/>
        </p:nvSpPr>
        <p:spPr>
          <a:xfrm>
            <a:off x="731520" y="4434840"/>
            <a:ext cx="3200400" cy="457200"/>
          </a:xfrm>
          <a:prstGeom prst="rect">
            <a:avLst/>
          </a:prstGeom>
          <a:noFill/>
          <a:ln/>
        </p:spPr>
        <p:txBody>
          <a:bodyPr wrap="square" lIns="0" tIns="0" rIns="0" bIns="0" rtlCol="0" anchor="ctr"/>
          <a:lstStyle/>
          <a:p>
            <a:pPr marL="0" indent="0" algn="ctr">
              <a:buNone/>
            </a:pPr>
            <a:r>
              <a:rPr lang="en-US" sz="2000" b="1" dirty="0">
                <a:solidFill>
                  <a:srgbClr val="36454F"/>
                </a:solidFill>
                <a:latin typeface="Calibri" pitchFamily="34" charset="0"/>
                <a:ea typeface="Calibri" pitchFamily="34" charset="-122"/>
                <a:cs typeface="Calibri" pitchFamily="34" charset="-120"/>
              </a:rPr>
              <a:t>Predictive</a:t>
            </a:r>
            <a:endParaRPr lang="en-US" sz="2000" dirty="0"/>
          </a:p>
        </p:txBody>
      </p:sp>
      <p:sp>
        <p:nvSpPr>
          <p:cNvPr id="14" name="Text 12"/>
          <p:cNvSpPr/>
          <p:nvPr/>
        </p:nvSpPr>
        <p:spPr>
          <a:xfrm>
            <a:off x="822960" y="4937760"/>
            <a:ext cx="3017520" cy="822960"/>
          </a:xfrm>
          <a:prstGeom prst="rect">
            <a:avLst/>
          </a:prstGeom>
          <a:noFill/>
          <a:ln/>
        </p:spPr>
        <p:txBody>
          <a:bodyPr wrap="square" lIns="0" tIns="0" rIns="0" bIns="0" rtlCol="0" anchor="ctr"/>
          <a:lstStyle/>
          <a:p>
            <a:pPr marL="0" indent="0" algn="ctr">
              <a:buNone/>
            </a:pPr>
            <a:r>
              <a:rPr lang="en-US" sz="1200" dirty="0">
                <a:solidFill>
                  <a:srgbClr val="1A1E22"/>
                </a:solidFill>
                <a:latin typeface="Calibri" pitchFamily="34" charset="0"/>
                <a:ea typeface="Calibri" pitchFamily="34" charset="-122"/>
                <a:cs typeface="Calibri" pitchFamily="34" charset="-120"/>
              </a:rPr>
              <a:t>LSTM + attention forecasts degradation 30–60 seconds ahead — before users notice.</a:t>
            </a:r>
            <a:endParaRPr lang="en-US" sz="1200" dirty="0"/>
          </a:p>
        </p:txBody>
      </p:sp>
      <p:sp>
        <p:nvSpPr>
          <p:cNvPr id="15" name="Shape 13"/>
          <p:cNvSpPr/>
          <p:nvPr/>
        </p:nvSpPr>
        <p:spPr>
          <a:xfrm>
            <a:off x="4297680" y="3291840"/>
            <a:ext cx="3566160" cy="256032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6" name="Shape 14"/>
          <p:cNvSpPr/>
          <p:nvPr/>
        </p:nvSpPr>
        <p:spPr>
          <a:xfrm>
            <a:off x="5715000" y="3566160"/>
            <a:ext cx="731520" cy="731520"/>
          </a:xfrm>
          <a:prstGeom prst="ellipse">
            <a:avLst/>
          </a:prstGeom>
          <a:solidFill>
            <a:srgbClr val="36454F"/>
          </a:solidFill>
          <a:ln w="12700">
            <a:solidFill>
              <a:srgbClr val="36454F"/>
            </a:solidFill>
            <a:prstDash val="solid"/>
          </a:ln>
        </p:spPr>
      </p:sp>
      <p:sp>
        <p:nvSpPr>
          <p:cNvPr id="17" name="Text 15"/>
          <p:cNvSpPr/>
          <p:nvPr/>
        </p:nvSpPr>
        <p:spPr>
          <a:xfrm>
            <a:off x="5715000" y="35661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8" name="Text 16"/>
          <p:cNvSpPr/>
          <p:nvPr/>
        </p:nvSpPr>
        <p:spPr>
          <a:xfrm>
            <a:off x="4480560" y="4434840"/>
            <a:ext cx="3200400" cy="457200"/>
          </a:xfrm>
          <a:prstGeom prst="rect">
            <a:avLst/>
          </a:prstGeom>
          <a:noFill/>
          <a:ln/>
        </p:spPr>
        <p:txBody>
          <a:bodyPr wrap="square" lIns="0" tIns="0" rIns="0" bIns="0" rtlCol="0" anchor="ctr"/>
          <a:lstStyle/>
          <a:p>
            <a:pPr marL="0" indent="0" algn="ctr">
              <a:buNone/>
            </a:pPr>
            <a:r>
              <a:rPr lang="en-US" sz="2000" b="1" dirty="0">
                <a:solidFill>
                  <a:srgbClr val="36454F"/>
                </a:solidFill>
                <a:latin typeface="Calibri" pitchFamily="34" charset="0"/>
                <a:ea typeface="Calibri" pitchFamily="34" charset="-122"/>
                <a:cs typeface="Calibri" pitchFamily="34" charset="-120"/>
              </a:rPr>
              <a:t>Autonomous</a:t>
            </a:r>
            <a:endParaRPr lang="en-US" sz="2000" dirty="0"/>
          </a:p>
        </p:txBody>
      </p:sp>
      <p:sp>
        <p:nvSpPr>
          <p:cNvPr id="19" name="Text 17"/>
          <p:cNvSpPr/>
          <p:nvPr/>
        </p:nvSpPr>
        <p:spPr>
          <a:xfrm>
            <a:off x="4572000" y="4937760"/>
            <a:ext cx="3017520" cy="822960"/>
          </a:xfrm>
          <a:prstGeom prst="rect">
            <a:avLst/>
          </a:prstGeom>
          <a:noFill/>
          <a:ln/>
        </p:spPr>
        <p:txBody>
          <a:bodyPr wrap="square" lIns="0" tIns="0" rIns="0" bIns="0" rtlCol="0" anchor="ctr"/>
          <a:lstStyle/>
          <a:p>
            <a:pPr marL="0" indent="0" algn="ctr">
              <a:buNone/>
            </a:pPr>
            <a:r>
              <a:rPr lang="en-US" sz="1200" dirty="0">
                <a:solidFill>
                  <a:srgbClr val="1A1E22"/>
                </a:solidFill>
                <a:latin typeface="Calibri" pitchFamily="34" charset="0"/>
                <a:ea typeface="Calibri" pitchFamily="34" charset="-122"/>
                <a:cs typeface="Calibri" pitchFamily="34" charset="-120"/>
              </a:rPr>
              <a:t>Validated rerouting with zero human intervention on the critical path.</a:t>
            </a:r>
            <a:endParaRPr lang="en-US" sz="1200" dirty="0"/>
          </a:p>
        </p:txBody>
      </p:sp>
      <p:sp>
        <p:nvSpPr>
          <p:cNvPr id="20" name="Shape 18"/>
          <p:cNvSpPr/>
          <p:nvPr/>
        </p:nvSpPr>
        <p:spPr>
          <a:xfrm>
            <a:off x="8046720" y="3291840"/>
            <a:ext cx="3566160" cy="256032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1" name="Shape 19"/>
          <p:cNvSpPr/>
          <p:nvPr/>
        </p:nvSpPr>
        <p:spPr>
          <a:xfrm>
            <a:off x="9464040" y="3566160"/>
            <a:ext cx="731520" cy="731520"/>
          </a:xfrm>
          <a:prstGeom prst="ellipse">
            <a:avLst/>
          </a:prstGeom>
          <a:solidFill>
            <a:srgbClr val="36454F"/>
          </a:solidFill>
          <a:ln w="12700">
            <a:solidFill>
              <a:srgbClr val="36454F"/>
            </a:solidFill>
            <a:prstDash val="solid"/>
          </a:ln>
        </p:spPr>
      </p:sp>
      <p:sp>
        <p:nvSpPr>
          <p:cNvPr id="22" name="Text 20"/>
          <p:cNvSpPr/>
          <p:nvPr/>
        </p:nvSpPr>
        <p:spPr>
          <a:xfrm>
            <a:off x="9464040" y="35661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23" name="Text 21"/>
          <p:cNvSpPr/>
          <p:nvPr/>
        </p:nvSpPr>
        <p:spPr>
          <a:xfrm>
            <a:off x="8229600" y="4434840"/>
            <a:ext cx="3200400" cy="457200"/>
          </a:xfrm>
          <a:prstGeom prst="rect">
            <a:avLst/>
          </a:prstGeom>
          <a:noFill/>
          <a:ln/>
        </p:spPr>
        <p:txBody>
          <a:bodyPr wrap="square" lIns="0" tIns="0" rIns="0" bIns="0" rtlCol="0" anchor="ctr"/>
          <a:lstStyle/>
          <a:p>
            <a:pPr marL="0" indent="0" algn="ctr">
              <a:buNone/>
            </a:pPr>
            <a:r>
              <a:rPr lang="en-US" sz="2000" b="1" dirty="0">
                <a:solidFill>
                  <a:srgbClr val="36454F"/>
                </a:solidFill>
                <a:latin typeface="Calibri" pitchFamily="34" charset="0"/>
                <a:ea typeface="Calibri" pitchFamily="34" charset="-122"/>
                <a:cs typeface="Calibri" pitchFamily="34" charset="-120"/>
              </a:rPr>
              <a:t>Vendor-agnostic</a:t>
            </a:r>
            <a:endParaRPr lang="en-US" sz="2000" dirty="0"/>
          </a:p>
        </p:txBody>
      </p:sp>
      <p:sp>
        <p:nvSpPr>
          <p:cNvPr id="24" name="Text 22"/>
          <p:cNvSpPr/>
          <p:nvPr/>
        </p:nvSpPr>
        <p:spPr>
          <a:xfrm>
            <a:off x="8321040" y="4937760"/>
            <a:ext cx="3017520" cy="822960"/>
          </a:xfrm>
          <a:prstGeom prst="rect">
            <a:avLst/>
          </a:prstGeom>
          <a:noFill/>
          <a:ln/>
        </p:spPr>
        <p:txBody>
          <a:bodyPr wrap="square" lIns="0" tIns="0" rIns="0" bIns="0" rtlCol="0" anchor="ctr"/>
          <a:lstStyle/>
          <a:p>
            <a:pPr marL="0" indent="0" algn="ctr">
              <a:buNone/>
            </a:pPr>
            <a:r>
              <a:rPr lang="en-US" sz="1200" dirty="0">
                <a:solidFill>
                  <a:srgbClr val="1A1E22"/>
                </a:solidFill>
                <a:latin typeface="Calibri" pitchFamily="34" charset="0"/>
                <a:ea typeface="Calibri" pitchFamily="34" charset="-122"/>
                <a:cs typeface="Calibri" pitchFamily="34" charset="-120"/>
              </a:rPr>
              <a:t>Works with any OpenFlow 1.3+ device. No Cisco, Meraki, or VeloCloud lock-in.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COMPONENTS</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Four core innovations</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6 / 25</a:t>
            </a:r>
            <a:endParaRPr lang="en-US" sz="900" dirty="0"/>
          </a:p>
        </p:txBody>
      </p:sp>
      <p:sp>
        <p:nvSpPr>
          <p:cNvPr id="7" name="Shape 5"/>
          <p:cNvSpPr/>
          <p:nvPr/>
        </p:nvSpPr>
        <p:spPr>
          <a:xfrm>
            <a:off x="548640" y="1828800"/>
            <a:ext cx="5394960" cy="20116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548640" y="1828800"/>
            <a:ext cx="109728" cy="2011680"/>
          </a:xfrm>
          <a:prstGeom prst="rect">
            <a:avLst/>
          </a:prstGeom>
          <a:solidFill>
            <a:srgbClr val="36454F"/>
          </a:solidFill>
          <a:ln w="12700">
            <a:solidFill>
              <a:srgbClr val="36454F"/>
            </a:solidFill>
            <a:prstDash val="solid"/>
          </a:ln>
        </p:spPr>
      </p:sp>
      <p:pic>
        <p:nvPicPr>
          <p:cNvPr id="9" name="Image 0" descr="preencoded.png"/>
          <p:cNvPicPr>
            <a:picLocks noChangeAspect="1"/>
          </p:cNvPicPr>
          <p:nvPr/>
        </p:nvPicPr>
        <p:blipFill>
          <a:blip r:embed="rId3"/>
          <a:stretch>
            <a:fillRect/>
          </a:stretch>
        </p:blipFill>
        <p:spPr>
          <a:xfrm>
            <a:off x="914400" y="2194560"/>
            <a:ext cx="731520" cy="731520"/>
          </a:xfrm>
          <a:prstGeom prst="rect">
            <a:avLst/>
          </a:prstGeom>
        </p:spPr>
      </p:pic>
      <p:sp>
        <p:nvSpPr>
          <p:cNvPr id="10" name="Text 7"/>
          <p:cNvSpPr/>
          <p:nvPr/>
        </p:nvSpPr>
        <p:spPr>
          <a:xfrm>
            <a:off x="5029200" y="2103120"/>
            <a:ext cx="731520" cy="365760"/>
          </a:xfrm>
          <a:prstGeom prst="rect">
            <a:avLst/>
          </a:prstGeom>
          <a:noFill/>
          <a:ln/>
        </p:spPr>
        <p:txBody>
          <a:bodyPr wrap="square" lIns="0" tIns="0" rIns="0" bIns="0" rtlCol="0" anchor="ctr"/>
          <a:lstStyle/>
          <a:p>
            <a:pPr marL="0" indent="0" algn="r">
              <a:buNone/>
            </a:pPr>
            <a:r>
              <a:rPr lang="en-US" sz="2400" b="1" dirty="0">
                <a:solidFill>
                  <a:srgbClr val="A4ACB5"/>
                </a:solidFill>
                <a:latin typeface="Calibri" pitchFamily="34" charset="0"/>
                <a:ea typeface="Calibri" pitchFamily="34" charset="-122"/>
                <a:cs typeface="Calibri" pitchFamily="34" charset="-120"/>
              </a:rPr>
              <a:t>01</a:t>
            </a:r>
            <a:endParaRPr lang="en-US" sz="2400" dirty="0"/>
          </a:p>
        </p:txBody>
      </p:sp>
      <p:sp>
        <p:nvSpPr>
          <p:cNvPr id="11" name="Text 8"/>
          <p:cNvSpPr/>
          <p:nvPr/>
        </p:nvSpPr>
        <p:spPr>
          <a:xfrm>
            <a:off x="1783080" y="2148840"/>
            <a:ext cx="3200400" cy="457200"/>
          </a:xfrm>
          <a:prstGeom prst="rect">
            <a:avLst/>
          </a:prstGeom>
          <a:noFill/>
          <a:ln/>
        </p:spPr>
        <p:txBody>
          <a:bodyPr wrap="square" lIns="0" tIns="0" rIns="0" bIns="0" rtlCol="0" anchor="ctr"/>
          <a:lstStyle/>
          <a:p>
            <a:pPr marL="0" indent="0">
              <a:buNone/>
            </a:pPr>
            <a:r>
              <a:rPr lang="en-US" sz="1700" b="1" dirty="0">
                <a:solidFill>
                  <a:srgbClr val="36454F"/>
                </a:solidFill>
                <a:latin typeface="Calibri" pitchFamily="34" charset="0"/>
                <a:ea typeface="Calibri" pitchFamily="34" charset="-122"/>
                <a:cs typeface="Calibri" pitchFamily="34" charset="-120"/>
              </a:rPr>
              <a:t>Predictive Telemetry Engine</a:t>
            </a:r>
            <a:endParaRPr lang="en-US" sz="1700" dirty="0"/>
          </a:p>
        </p:txBody>
      </p:sp>
      <p:sp>
        <p:nvSpPr>
          <p:cNvPr id="12" name="Text 9"/>
          <p:cNvSpPr/>
          <p:nvPr/>
        </p:nvSpPr>
        <p:spPr>
          <a:xfrm>
            <a:off x="1783080" y="2697480"/>
            <a:ext cx="4023360" cy="1005840"/>
          </a:xfrm>
          <a:prstGeom prst="rect">
            <a:avLst/>
          </a:prstGeom>
          <a:noFill/>
          <a:ln/>
        </p:spPr>
        <p:txBody>
          <a:bodyPr wrap="square" lIns="0" tIns="0" rIns="0" bIns="0" rtlCol="0" anchor="ctr"/>
          <a:lstStyle/>
          <a:p>
            <a:pPr marL="0" indent="0">
              <a:buNone/>
            </a:pPr>
            <a:r>
              <a:rPr lang="en-US" sz="1200" dirty="0">
                <a:solidFill>
                  <a:srgbClr val="1A1E22"/>
                </a:solidFill>
                <a:latin typeface="Calibri" pitchFamily="34" charset="0"/>
                <a:ea typeface="Calibri" pitchFamily="34" charset="-122"/>
                <a:cs typeface="Calibri" pitchFamily="34" charset="-120"/>
              </a:rPr>
              <a:t>LSTM + attention · 60-second window · forecasts next 30–60s · 0–100 health score</a:t>
            </a:r>
            <a:endParaRPr lang="en-US" sz="1200" dirty="0"/>
          </a:p>
        </p:txBody>
      </p:sp>
      <p:sp>
        <p:nvSpPr>
          <p:cNvPr id="13" name="Shape 10"/>
          <p:cNvSpPr/>
          <p:nvPr/>
        </p:nvSpPr>
        <p:spPr>
          <a:xfrm>
            <a:off x="6217920" y="1828800"/>
            <a:ext cx="5394960" cy="20116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4" name="Shape 11"/>
          <p:cNvSpPr/>
          <p:nvPr/>
        </p:nvSpPr>
        <p:spPr>
          <a:xfrm>
            <a:off x="6217920" y="1828800"/>
            <a:ext cx="109728" cy="2011680"/>
          </a:xfrm>
          <a:prstGeom prst="rect">
            <a:avLst/>
          </a:prstGeom>
          <a:solidFill>
            <a:srgbClr val="36454F"/>
          </a:solidFill>
          <a:ln w="12700">
            <a:solidFill>
              <a:srgbClr val="36454F"/>
            </a:solidFill>
            <a:prstDash val="solid"/>
          </a:ln>
        </p:spPr>
      </p:sp>
      <p:pic>
        <p:nvPicPr>
          <p:cNvPr id="15" name="Image 1" descr="preencoded.png"/>
          <p:cNvPicPr>
            <a:picLocks noChangeAspect="1"/>
          </p:cNvPicPr>
          <p:nvPr/>
        </p:nvPicPr>
        <p:blipFill>
          <a:blip r:embed="rId4"/>
          <a:stretch>
            <a:fillRect/>
          </a:stretch>
        </p:blipFill>
        <p:spPr>
          <a:xfrm>
            <a:off x="6583680" y="2194560"/>
            <a:ext cx="731520" cy="731520"/>
          </a:xfrm>
          <a:prstGeom prst="rect">
            <a:avLst/>
          </a:prstGeom>
        </p:spPr>
      </p:pic>
      <p:sp>
        <p:nvSpPr>
          <p:cNvPr id="16" name="Text 12"/>
          <p:cNvSpPr/>
          <p:nvPr/>
        </p:nvSpPr>
        <p:spPr>
          <a:xfrm>
            <a:off x="10698480" y="2103120"/>
            <a:ext cx="731520" cy="365760"/>
          </a:xfrm>
          <a:prstGeom prst="rect">
            <a:avLst/>
          </a:prstGeom>
          <a:noFill/>
          <a:ln/>
        </p:spPr>
        <p:txBody>
          <a:bodyPr wrap="square" lIns="0" tIns="0" rIns="0" bIns="0" rtlCol="0" anchor="ctr"/>
          <a:lstStyle/>
          <a:p>
            <a:pPr marL="0" indent="0" algn="r">
              <a:buNone/>
            </a:pPr>
            <a:r>
              <a:rPr lang="en-US" sz="2400" b="1" dirty="0">
                <a:solidFill>
                  <a:srgbClr val="A4ACB5"/>
                </a:solidFill>
                <a:latin typeface="Calibri" pitchFamily="34" charset="0"/>
                <a:ea typeface="Calibri" pitchFamily="34" charset="-122"/>
                <a:cs typeface="Calibri" pitchFamily="34" charset="-120"/>
              </a:rPr>
              <a:t>02</a:t>
            </a:r>
            <a:endParaRPr lang="en-US" sz="2400" dirty="0"/>
          </a:p>
        </p:txBody>
      </p:sp>
      <p:sp>
        <p:nvSpPr>
          <p:cNvPr id="17" name="Text 13"/>
          <p:cNvSpPr/>
          <p:nvPr/>
        </p:nvSpPr>
        <p:spPr>
          <a:xfrm>
            <a:off x="7452360" y="2148840"/>
            <a:ext cx="3200400" cy="457200"/>
          </a:xfrm>
          <a:prstGeom prst="rect">
            <a:avLst/>
          </a:prstGeom>
          <a:noFill/>
          <a:ln/>
        </p:spPr>
        <p:txBody>
          <a:bodyPr wrap="square" lIns="0" tIns="0" rIns="0" bIns="0" rtlCol="0" anchor="ctr"/>
          <a:lstStyle/>
          <a:p>
            <a:pPr marL="0" indent="0">
              <a:buNone/>
            </a:pPr>
            <a:r>
              <a:rPr lang="en-US" sz="1700" b="1" dirty="0">
                <a:solidFill>
                  <a:srgbClr val="36454F"/>
                </a:solidFill>
                <a:latin typeface="Calibri" pitchFamily="34" charset="0"/>
                <a:ea typeface="Calibri" pitchFamily="34" charset="-122"/>
                <a:cs typeface="Calibri" pitchFamily="34" charset="-120"/>
              </a:rPr>
              <a:t>Autonomous Traffic Steering</a:t>
            </a:r>
            <a:endParaRPr lang="en-US" sz="1700" dirty="0"/>
          </a:p>
        </p:txBody>
      </p:sp>
      <p:sp>
        <p:nvSpPr>
          <p:cNvPr id="18" name="Text 14"/>
          <p:cNvSpPr/>
          <p:nvPr/>
        </p:nvSpPr>
        <p:spPr>
          <a:xfrm>
            <a:off x="7452360" y="2697480"/>
            <a:ext cx="4023360" cy="1005840"/>
          </a:xfrm>
          <a:prstGeom prst="rect">
            <a:avLst/>
          </a:prstGeom>
          <a:noFill/>
          <a:ln/>
        </p:spPr>
        <p:txBody>
          <a:bodyPr wrap="square" lIns="0" tIns="0" rIns="0" bIns="0" rtlCol="0" anchor="ctr"/>
          <a:lstStyle/>
          <a:p>
            <a:pPr marL="0" indent="0">
              <a:buNone/>
            </a:pPr>
            <a:r>
              <a:rPr lang="en-US" sz="1200" dirty="0">
                <a:solidFill>
                  <a:srgbClr val="1A1E22"/>
                </a:solidFill>
                <a:latin typeface="Calibri" pitchFamily="34" charset="0"/>
                <a:ea typeface="Calibri" pitchFamily="34" charset="-122"/>
                <a:cs typeface="Calibri" pitchFamily="34" charset="-120"/>
              </a:rPr>
              <a:t>Hitless handoff under 50 ms · session state preserved · zero packet loss</a:t>
            </a:r>
            <a:endParaRPr lang="en-US" sz="1200" dirty="0"/>
          </a:p>
        </p:txBody>
      </p:sp>
      <p:sp>
        <p:nvSpPr>
          <p:cNvPr id="19" name="Shape 15"/>
          <p:cNvSpPr/>
          <p:nvPr/>
        </p:nvSpPr>
        <p:spPr>
          <a:xfrm>
            <a:off x="548640" y="4069080"/>
            <a:ext cx="5394960" cy="20116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0" name="Shape 16"/>
          <p:cNvSpPr/>
          <p:nvPr/>
        </p:nvSpPr>
        <p:spPr>
          <a:xfrm>
            <a:off x="548640" y="4069080"/>
            <a:ext cx="109728" cy="2011680"/>
          </a:xfrm>
          <a:prstGeom prst="rect">
            <a:avLst/>
          </a:prstGeom>
          <a:solidFill>
            <a:srgbClr val="36454F"/>
          </a:solidFill>
          <a:ln w="12700">
            <a:solidFill>
              <a:srgbClr val="36454F"/>
            </a:solidFill>
            <a:prstDash val="solid"/>
          </a:ln>
        </p:spPr>
      </p:sp>
      <p:pic>
        <p:nvPicPr>
          <p:cNvPr id="21" name="Image 2" descr="preencoded.png"/>
          <p:cNvPicPr>
            <a:picLocks noChangeAspect="1"/>
          </p:cNvPicPr>
          <p:nvPr/>
        </p:nvPicPr>
        <p:blipFill>
          <a:blip r:embed="rId5"/>
          <a:stretch>
            <a:fillRect/>
          </a:stretch>
        </p:blipFill>
        <p:spPr>
          <a:xfrm>
            <a:off x="914400" y="4434840"/>
            <a:ext cx="731520" cy="731520"/>
          </a:xfrm>
          <a:prstGeom prst="rect">
            <a:avLst/>
          </a:prstGeom>
        </p:spPr>
      </p:pic>
      <p:sp>
        <p:nvSpPr>
          <p:cNvPr id="22" name="Text 17"/>
          <p:cNvSpPr/>
          <p:nvPr/>
        </p:nvSpPr>
        <p:spPr>
          <a:xfrm>
            <a:off x="5029200" y="4343400"/>
            <a:ext cx="731520" cy="365760"/>
          </a:xfrm>
          <a:prstGeom prst="rect">
            <a:avLst/>
          </a:prstGeom>
          <a:noFill/>
          <a:ln/>
        </p:spPr>
        <p:txBody>
          <a:bodyPr wrap="square" lIns="0" tIns="0" rIns="0" bIns="0" rtlCol="0" anchor="ctr"/>
          <a:lstStyle/>
          <a:p>
            <a:pPr marL="0" indent="0" algn="r">
              <a:buNone/>
            </a:pPr>
            <a:r>
              <a:rPr lang="en-US" sz="2400" b="1" dirty="0">
                <a:solidFill>
                  <a:srgbClr val="A4ACB5"/>
                </a:solidFill>
                <a:latin typeface="Calibri" pitchFamily="34" charset="0"/>
                <a:ea typeface="Calibri" pitchFamily="34" charset="-122"/>
                <a:cs typeface="Calibri" pitchFamily="34" charset="-120"/>
              </a:rPr>
              <a:t>03</a:t>
            </a:r>
            <a:endParaRPr lang="en-US" sz="2400" dirty="0"/>
          </a:p>
        </p:txBody>
      </p:sp>
      <p:sp>
        <p:nvSpPr>
          <p:cNvPr id="23" name="Text 18"/>
          <p:cNvSpPr/>
          <p:nvPr/>
        </p:nvSpPr>
        <p:spPr>
          <a:xfrm>
            <a:off x="1783080" y="4389120"/>
            <a:ext cx="3200400" cy="457200"/>
          </a:xfrm>
          <a:prstGeom prst="rect">
            <a:avLst/>
          </a:prstGeom>
          <a:noFill/>
          <a:ln/>
        </p:spPr>
        <p:txBody>
          <a:bodyPr wrap="square" lIns="0" tIns="0" rIns="0" bIns="0" rtlCol="0" anchor="ctr"/>
          <a:lstStyle/>
          <a:p>
            <a:pPr marL="0" indent="0">
              <a:buNone/>
            </a:pPr>
            <a:r>
              <a:rPr lang="en-US" sz="1700" b="1" dirty="0">
                <a:solidFill>
                  <a:srgbClr val="36454F"/>
                </a:solidFill>
                <a:latin typeface="Calibri" pitchFamily="34" charset="0"/>
                <a:ea typeface="Calibri" pitchFamily="34" charset="-122"/>
                <a:cs typeface="Calibri" pitchFamily="34" charset="-120"/>
              </a:rPr>
              <a:t>Digital Twin Sandbox</a:t>
            </a:r>
            <a:endParaRPr lang="en-US" sz="1700" dirty="0"/>
          </a:p>
        </p:txBody>
      </p:sp>
      <p:sp>
        <p:nvSpPr>
          <p:cNvPr id="24" name="Text 19"/>
          <p:cNvSpPr/>
          <p:nvPr/>
        </p:nvSpPr>
        <p:spPr>
          <a:xfrm>
            <a:off x="1783080" y="4937760"/>
            <a:ext cx="4023360" cy="1005840"/>
          </a:xfrm>
          <a:prstGeom prst="rect">
            <a:avLst/>
          </a:prstGeom>
          <a:noFill/>
          <a:ln/>
        </p:spPr>
        <p:txBody>
          <a:bodyPr wrap="square" lIns="0" tIns="0" rIns="0" bIns="0" rtlCol="0" anchor="ctr"/>
          <a:lstStyle/>
          <a:p>
            <a:pPr marL="0" indent="0">
              <a:buNone/>
            </a:pPr>
            <a:r>
              <a:rPr lang="en-US" sz="1200" dirty="0">
                <a:solidFill>
                  <a:srgbClr val="1A1E22"/>
                </a:solidFill>
                <a:latin typeface="Calibri" pitchFamily="34" charset="0"/>
                <a:ea typeface="Calibri" pitchFamily="34" charset="-122"/>
                <a:cs typeface="Calibri" pitchFamily="34" charset="-120"/>
              </a:rPr>
              <a:t>Validate every routing change in Mininet + Batfish before it touches production · under 5 s</a:t>
            </a:r>
            <a:endParaRPr lang="en-US" sz="1200" dirty="0"/>
          </a:p>
        </p:txBody>
      </p:sp>
      <p:sp>
        <p:nvSpPr>
          <p:cNvPr id="25" name="Shape 20"/>
          <p:cNvSpPr/>
          <p:nvPr/>
        </p:nvSpPr>
        <p:spPr>
          <a:xfrm>
            <a:off x="6217920" y="4069080"/>
            <a:ext cx="5394960" cy="20116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6" name="Shape 21"/>
          <p:cNvSpPr/>
          <p:nvPr/>
        </p:nvSpPr>
        <p:spPr>
          <a:xfrm>
            <a:off x="6217920" y="4069080"/>
            <a:ext cx="109728" cy="2011680"/>
          </a:xfrm>
          <a:prstGeom prst="rect">
            <a:avLst/>
          </a:prstGeom>
          <a:solidFill>
            <a:srgbClr val="36454F"/>
          </a:solidFill>
          <a:ln w="12700">
            <a:solidFill>
              <a:srgbClr val="36454F"/>
            </a:solidFill>
            <a:prstDash val="solid"/>
          </a:ln>
        </p:spPr>
      </p:sp>
      <p:pic>
        <p:nvPicPr>
          <p:cNvPr id="27" name="Image 3" descr="preencoded.png"/>
          <p:cNvPicPr>
            <a:picLocks noChangeAspect="1"/>
          </p:cNvPicPr>
          <p:nvPr/>
        </p:nvPicPr>
        <p:blipFill>
          <a:blip r:embed="rId6"/>
          <a:stretch>
            <a:fillRect/>
          </a:stretch>
        </p:blipFill>
        <p:spPr>
          <a:xfrm>
            <a:off x="6583680" y="4434840"/>
            <a:ext cx="731520" cy="731520"/>
          </a:xfrm>
          <a:prstGeom prst="rect">
            <a:avLst/>
          </a:prstGeom>
        </p:spPr>
      </p:pic>
      <p:sp>
        <p:nvSpPr>
          <p:cNvPr id="28" name="Text 22"/>
          <p:cNvSpPr/>
          <p:nvPr/>
        </p:nvSpPr>
        <p:spPr>
          <a:xfrm>
            <a:off x="10698480" y="4343400"/>
            <a:ext cx="731520" cy="365760"/>
          </a:xfrm>
          <a:prstGeom prst="rect">
            <a:avLst/>
          </a:prstGeom>
          <a:noFill/>
          <a:ln/>
        </p:spPr>
        <p:txBody>
          <a:bodyPr wrap="square" lIns="0" tIns="0" rIns="0" bIns="0" rtlCol="0" anchor="ctr"/>
          <a:lstStyle/>
          <a:p>
            <a:pPr marL="0" indent="0" algn="r">
              <a:buNone/>
            </a:pPr>
            <a:r>
              <a:rPr lang="en-US" sz="2400" b="1" dirty="0">
                <a:solidFill>
                  <a:srgbClr val="A4ACB5"/>
                </a:solidFill>
                <a:latin typeface="Calibri" pitchFamily="34" charset="0"/>
                <a:ea typeface="Calibri" pitchFamily="34" charset="-122"/>
                <a:cs typeface="Calibri" pitchFamily="34" charset="-120"/>
              </a:rPr>
              <a:t>04</a:t>
            </a:r>
            <a:endParaRPr lang="en-US" sz="2400" dirty="0"/>
          </a:p>
        </p:txBody>
      </p:sp>
      <p:sp>
        <p:nvSpPr>
          <p:cNvPr id="29" name="Text 23"/>
          <p:cNvSpPr/>
          <p:nvPr/>
        </p:nvSpPr>
        <p:spPr>
          <a:xfrm>
            <a:off x="7452360" y="4389120"/>
            <a:ext cx="3200400" cy="457200"/>
          </a:xfrm>
          <a:prstGeom prst="rect">
            <a:avLst/>
          </a:prstGeom>
          <a:noFill/>
          <a:ln/>
        </p:spPr>
        <p:txBody>
          <a:bodyPr wrap="square" lIns="0" tIns="0" rIns="0" bIns="0" rtlCol="0" anchor="ctr"/>
          <a:lstStyle/>
          <a:p>
            <a:pPr marL="0" indent="0">
              <a:buNone/>
            </a:pPr>
            <a:r>
              <a:rPr lang="en-US" sz="1700" b="1" dirty="0">
                <a:solidFill>
                  <a:srgbClr val="36454F"/>
                </a:solidFill>
                <a:latin typeface="Calibri" pitchFamily="34" charset="0"/>
                <a:ea typeface="Calibri" pitchFamily="34" charset="-122"/>
                <a:cs typeface="Calibri" pitchFamily="34" charset="-120"/>
              </a:rPr>
              <a:t>Intent-Based Networking</a:t>
            </a:r>
            <a:endParaRPr lang="en-US" sz="1700" dirty="0"/>
          </a:p>
        </p:txBody>
      </p:sp>
      <p:sp>
        <p:nvSpPr>
          <p:cNvPr id="30" name="Text 24"/>
          <p:cNvSpPr/>
          <p:nvPr/>
        </p:nvSpPr>
        <p:spPr>
          <a:xfrm>
            <a:off x="7452360" y="4937760"/>
            <a:ext cx="4023360" cy="1005840"/>
          </a:xfrm>
          <a:prstGeom prst="rect">
            <a:avLst/>
          </a:prstGeom>
          <a:noFill/>
          <a:ln/>
        </p:spPr>
        <p:txBody>
          <a:bodyPr wrap="square" lIns="0" tIns="0" rIns="0" bIns="0" rtlCol="0" anchor="ctr"/>
          <a:lstStyle/>
          <a:p>
            <a:pPr marL="0" indent="0">
              <a:buNone/>
            </a:pPr>
            <a:r>
              <a:rPr lang="en-US" sz="1200" dirty="0">
                <a:solidFill>
                  <a:srgbClr val="1A1E22"/>
                </a:solidFill>
                <a:latin typeface="Calibri" pitchFamily="34" charset="0"/>
                <a:ea typeface="Calibri" pitchFamily="34" charset="-122"/>
                <a:cs typeface="Calibri" pitchFamily="34" charset="-120"/>
              </a:rPr>
              <a:t>Plain-English policy · local NLP (no external LLM) · translates to YANG/NETCONF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COMPONENT 1 OF 4</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Innovation 1 — Predictive Telemetry Engine (LSTM)</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7 / 25</a:t>
            </a:r>
            <a:endParaRPr lang="en-US" sz="900" dirty="0"/>
          </a:p>
        </p:txBody>
      </p:sp>
      <p:pic>
        <p:nvPicPr>
          <p:cNvPr id="7" name="Image 0" descr="preencoded.png"/>
          <p:cNvPicPr>
            <a:picLocks noChangeAspect="1"/>
          </p:cNvPicPr>
          <p:nvPr/>
        </p:nvPicPr>
        <p:blipFill>
          <a:blip r:embed="rId3"/>
          <a:stretch>
            <a:fillRect/>
          </a:stretch>
        </p:blipFill>
        <p:spPr>
          <a:xfrm>
            <a:off x="548640" y="1783080"/>
            <a:ext cx="640080" cy="640080"/>
          </a:xfrm>
          <a:prstGeom prst="rect">
            <a:avLst/>
          </a:prstGeom>
        </p:spPr>
      </p:pic>
      <p:sp>
        <p:nvSpPr>
          <p:cNvPr id="8" name="Text 5"/>
          <p:cNvSpPr/>
          <p:nvPr/>
        </p:nvSpPr>
        <p:spPr>
          <a:xfrm>
            <a:off x="1280160" y="1828800"/>
            <a:ext cx="4572000" cy="365760"/>
          </a:xfrm>
          <a:prstGeom prst="rect">
            <a:avLst/>
          </a:prstGeom>
          <a:noFill/>
          <a:ln/>
        </p:spPr>
        <p:txBody>
          <a:bodyPr wrap="square" lIns="0" tIns="0" rIns="0" bIns="0" rtlCol="0" anchor="ctr"/>
          <a:lstStyle/>
          <a:p>
            <a:pPr marL="0" indent="0">
              <a:buNone/>
            </a:pPr>
            <a:r>
              <a:rPr lang="en-US" sz="1400" b="1" dirty="0">
                <a:solidFill>
                  <a:srgbClr val="708090"/>
                </a:solidFill>
                <a:latin typeface="Calibri" pitchFamily="34" charset="0"/>
                <a:ea typeface="Calibri" pitchFamily="34" charset="-122"/>
                <a:cs typeface="Calibri" pitchFamily="34" charset="-120"/>
              </a:rPr>
              <a:t>Plain English</a:t>
            </a:r>
            <a:endParaRPr lang="en-US" sz="1400" dirty="0"/>
          </a:p>
        </p:txBody>
      </p:sp>
      <p:sp>
        <p:nvSpPr>
          <p:cNvPr id="9" name="Text 6"/>
          <p:cNvSpPr/>
          <p:nvPr/>
        </p:nvSpPr>
        <p:spPr>
          <a:xfrm>
            <a:off x="548640" y="2377440"/>
            <a:ext cx="5669280" cy="2011680"/>
          </a:xfrm>
          <a:prstGeom prst="rect">
            <a:avLst/>
          </a:prstGeom>
          <a:noFill/>
          <a:ln/>
        </p:spPr>
        <p:txBody>
          <a:bodyPr wrap="square" lIns="0" tIns="0" rIns="0" bIns="0" rtlCol="0" anchor="ctr"/>
          <a:lstStyle/>
          <a:p>
            <a:pPr marL="0" indent="0">
              <a:buNone/>
            </a:pPr>
            <a:r>
              <a:rPr lang="en-US" sz="1400" dirty="0">
                <a:solidFill>
                  <a:srgbClr val="1A1E22"/>
                </a:solidFill>
                <a:latin typeface="Calibri" pitchFamily="34" charset="0"/>
                <a:ea typeface="Calibri" pitchFamily="34" charset="-122"/>
                <a:cs typeface="Calibri" pitchFamily="34" charset="-120"/>
              </a:rPr>
              <a:t>Think of it as a weather forecaster for your network. It watches the last minute of traffic patterns — latency, jitter, packet loss — and predicts the next 30 and 60 seconds. If the forecast says a storm is coming, PathWise starts preparing before the first raindrop.</a:t>
            </a:r>
            <a:endParaRPr lang="en-US" sz="1400" dirty="0"/>
          </a:p>
        </p:txBody>
      </p:sp>
      <p:sp>
        <p:nvSpPr>
          <p:cNvPr id="10" name="Text 7"/>
          <p:cNvSpPr/>
          <p:nvPr/>
        </p:nvSpPr>
        <p:spPr>
          <a:xfrm>
            <a:off x="548640" y="4480560"/>
            <a:ext cx="5669280" cy="32004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Output: a 0–100 health score per link</a:t>
            </a:r>
            <a:endParaRPr lang="en-US" sz="1200" dirty="0"/>
          </a:p>
        </p:txBody>
      </p:sp>
      <p:sp>
        <p:nvSpPr>
          <p:cNvPr id="11" name="Shape 8"/>
          <p:cNvSpPr/>
          <p:nvPr/>
        </p:nvSpPr>
        <p:spPr>
          <a:xfrm>
            <a:off x="548640" y="4846320"/>
            <a:ext cx="1828800" cy="1280160"/>
          </a:xfrm>
          <a:prstGeom prst="rect">
            <a:avLst/>
          </a:prstGeom>
          <a:solidFill>
            <a:srgbClr val="FFFFFF"/>
          </a:solidFill>
          <a:ln w="25400">
            <a:solidFill>
              <a:srgbClr val="3E6D2E"/>
            </a:solidFill>
            <a:prstDash val="solid"/>
          </a:ln>
        </p:spPr>
      </p:sp>
      <p:sp>
        <p:nvSpPr>
          <p:cNvPr id="12" name="Text 9"/>
          <p:cNvSpPr/>
          <p:nvPr/>
        </p:nvSpPr>
        <p:spPr>
          <a:xfrm>
            <a:off x="548640" y="4892040"/>
            <a:ext cx="1828800" cy="822960"/>
          </a:xfrm>
          <a:prstGeom prst="rect">
            <a:avLst/>
          </a:prstGeom>
          <a:noFill/>
          <a:ln/>
        </p:spPr>
        <p:txBody>
          <a:bodyPr wrap="square" lIns="0" tIns="0" rIns="0" bIns="0" rtlCol="0" anchor="ctr"/>
          <a:lstStyle/>
          <a:p>
            <a:pPr marL="0" indent="0" algn="ctr">
              <a:buNone/>
            </a:pPr>
            <a:r>
              <a:rPr lang="en-US" sz="4000" b="1" dirty="0">
                <a:solidFill>
                  <a:srgbClr val="3E6D2E"/>
                </a:solidFill>
                <a:latin typeface="Calibri" pitchFamily="34" charset="0"/>
                <a:ea typeface="Calibri" pitchFamily="34" charset="-122"/>
                <a:cs typeface="Calibri" pitchFamily="34" charset="-120"/>
              </a:rPr>
              <a:t>92</a:t>
            </a:r>
            <a:endParaRPr lang="en-US" sz="4000" dirty="0"/>
          </a:p>
        </p:txBody>
      </p:sp>
      <p:sp>
        <p:nvSpPr>
          <p:cNvPr id="13" name="Text 10"/>
          <p:cNvSpPr/>
          <p:nvPr/>
        </p:nvSpPr>
        <p:spPr>
          <a:xfrm>
            <a:off x="548640" y="5669280"/>
            <a:ext cx="1828800" cy="365760"/>
          </a:xfrm>
          <a:prstGeom prst="rect">
            <a:avLst/>
          </a:prstGeom>
          <a:noFill/>
          <a:ln/>
        </p:spPr>
        <p:txBody>
          <a:bodyPr wrap="square" lIns="0" tIns="0" rIns="0" bIns="0" rtlCol="0" anchor="ctr"/>
          <a:lstStyle/>
          <a:p>
            <a:pPr marL="0" indent="0" algn="ctr">
              <a:buNone/>
            </a:pPr>
            <a:r>
              <a:rPr lang="en-US" sz="1100" b="1" dirty="0">
                <a:solidFill>
                  <a:srgbClr val="3E6D2E"/>
                </a:solidFill>
                <a:latin typeface="Calibri" pitchFamily="34" charset="0"/>
                <a:ea typeface="Calibri" pitchFamily="34" charset="-122"/>
                <a:cs typeface="Calibri" pitchFamily="34" charset="-120"/>
              </a:rPr>
              <a:t>Healthy</a:t>
            </a:r>
            <a:endParaRPr lang="en-US" sz="1100" dirty="0"/>
          </a:p>
        </p:txBody>
      </p:sp>
      <p:sp>
        <p:nvSpPr>
          <p:cNvPr id="14" name="Shape 11"/>
          <p:cNvSpPr/>
          <p:nvPr/>
        </p:nvSpPr>
        <p:spPr>
          <a:xfrm>
            <a:off x="2468880" y="4846320"/>
            <a:ext cx="1828800" cy="1280160"/>
          </a:xfrm>
          <a:prstGeom prst="rect">
            <a:avLst/>
          </a:prstGeom>
          <a:solidFill>
            <a:srgbClr val="FFFFFF"/>
          </a:solidFill>
          <a:ln w="25400">
            <a:solidFill>
              <a:srgbClr val="B8860B"/>
            </a:solidFill>
            <a:prstDash val="solid"/>
          </a:ln>
        </p:spPr>
      </p:sp>
      <p:sp>
        <p:nvSpPr>
          <p:cNvPr id="15" name="Text 12"/>
          <p:cNvSpPr/>
          <p:nvPr/>
        </p:nvSpPr>
        <p:spPr>
          <a:xfrm>
            <a:off x="2468880" y="4892040"/>
            <a:ext cx="1828800" cy="822960"/>
          </a:xfrm>
          <a:prstGeom prst="rect">
            <a:avLst/>
          </a:prstGeom>
          <a:noFill/>
          <a:ln/>
        </p:spPr>
        <p:txBody>
          <a:bodyPr wrap="square" lIns="0" tIns="0" rIns="0" bIns="0" rtlCol="0" anchor="ctr"/>
          <a:lstStyle/>
          <a:p>
            <a:pPr marL="0" indent="0" algn="ctr">
              <a:buNone/>
            </a:pPr>
            <a:r>
              <a:rPr lang="en-US" sz="4000" b="1" dirty="0">
                <a:solidFill>
                  <a:srgbClr val="B8860B"/>
                </a:solidFill>
                <a:latin typeface="Calibri" pitchFamily="34" charset="0"/>
                <a:ea typeface="Calibri" pitchFamily="34" charset="-122"/>
                <a:cs typeface="Calibri" pitchFamily="34" charset="-120"/>
              </a:rPr>
              <a:t>68</a:t>
            </a:r>
            <a:endParaRPr lang="en-US" sz="4000" dirty="0"/>
          </a:p>
        </p:txBody>
      </p:sp>
      <p:sp>
        <p:nvSpPr>
          <p:cNvPr id="16" name="Text 13"/>
          <p:cNvSpPr/>
          <p:nvPr/>
        </p:nvSpPr>
        <p:spPr>
          <a:xfrm>
            <a:off x="2468880" y="5669280"/>
            <a:ext cx="1828800" cy="365760"/>
          </a:xfrm>
          <a:prstGeom prst="rect">
            <a:avLst/>
          </a:prstGeom>
          <a:noFill/>
          <a:ln/>
        </p:spPr>
        <p:txBody>
          <a:bodyPr wrap="square" lIns="0" tIns="0" rIns="0" bIns="0" rtlCol="0" anchor="ctr"/>
          <a:lstStyle/>
          <a:p>
            <a:pPr marL="0" indent="0" algn="ctr">
              <a:buNone/>
            </a:pPr>
            <a:r>
              <a:rPr lang="en-US" sz="1100" b="1" dirty="0">
                <a:solidFill>
                  <a:srgbClr val="B8860B"/>
                </a:solidFill>
                <a:latin typeface="Calibri" pitchFamily="34" charset="0"/>
                <a:ea typeface="Calibri" pitchFamily="34" charset="-122"/>
                <a:cs typeface="Calibri" pitchFamily="34" charset="-120"/>
              </a:rPr>
              <a:t>Warning</a:t>
            </a:r>
            <a:endParaRPr lang="en-US" sz="1100" dirty="0"/>
          </a:p>
        </p:txBody>
      </p:sp>
      <p:sp>
        <p:nvSpPr>
          <p:cNvPr id="17" name="Shape 14"/>
          <p:cNvSpPr/>
          <p:nvPr/>
        </p:nvSpPr>
        <p:spPr>
          <a:xfrm>
            <a:off x="4389120" y="4846320"/>
            <a:ext cx="1828800" cy="1280160"/>
          </a:xfrm>
          <a:prstGeom prst="rect">
            <a:avLst/>
          </a:prstGeom>
          <a:solidFill>
            <a:srgbClr val="FFFFFF"/>
          </a:solidFill>
          <a:ln w="25400">
            <a:solidFill>
              <a:srgbClr val="8B3A3A"/>
            </a:solidFill>
            <a:prstDash val="solid"/>
          </a:ln>
        </p:spPr>
      </p:sp>
      <p:sp>
        <p:nvSpPr>
          <p:cNvPr id="18" name="Text 15"/>
          <p:cNvSpPr/>
          <p:nvPr/>
        </p:nvSpPr>
        <p:spPr>
          <a:xfrm>
            <a:off x="4389120" y="4892040"/>
            <a:ext cx="1828800" cy="822960"/>
          </a:xfrm>
          <a:prstGeom prst="rect">
            <a:avLst/>
          </a:prstGeom>
          <a:noFill/>
          <a:ln/>
        </p:spPr>
        <p:txBody>
          <a:bodyPr wrap="square" lIns="0" tIns="0" rIns="0" bIns="0" rtlCol="0" anchor="ctr"/>
          <a:lstStyle/>
          <a:p>
            <a:pPr marL="0" indent="0" algn="ctr">
              <a:buNone/>
            </a:pPr>
            <a:r>
              <a:rPr lang="en-US" sz="4000" b="1" dirty="0">
                <a:solidFill>
                  <a:srgbClr val="8B3A3A"/>
                </a:solidFill>
                <a:latin typeface="Calibri" pitchFamily="34" charset="0"/>
                <a:ea typeface="Calibri" pitchFamily="34" charset="-122"/>
                <a:cs typeface="Calibri" pitchFamily="34" charset="-120"/>
              </a:rPr>
              <a:t>34</a:t>
            </a:r>
            <a:endParaRPr lang="en-US" sz="4000" dirty="0"/>
          </a:p>
        </p:txBody>
      </p:sp>
      <p:sp>
        <p:nvSpPr>
          <p:cNvPr id="19" name="Text 16"/>
          <p:cNvSpPr/>
          <p:nvPr/>
        </p:nvSpPr>
        <p:spPr>
          <a:xfrm>
            <a:off x="4389120" y="5669280"/>
            <a:ext cx="1828800" cy="365760"/>
          </a:xfrm>
          <a:prstGeom prst="rect">
            <a:avLst/>
          </a:prstGeom>
          <a:noFill/>
          <a:ln/>
        </p:spPr>
        <p:txBody>
          <a:bodyPr wrap="square" lIns="0" tIns="0" rIns="0" bIns="0" rtlCol="0" anchor="ctr"/>
          <a:lstStyle/>
          <a:p>
            <a:pPr marL="0" indent="0" algn="ctr">
              <a:buNone/>
            </a:pPr>
            <a:r>
              <a:rPr lang="en-US" sz="1100" b="1" dirty="0">
                <a:solidFill>
                  <a:srgbClr val="8B3A3A"/>
                </a:solidFill>
                <a:latin typeface="Calibri" pitchFamily="34" charset="0"/>
                <a:ea typeface="Calibri" pitchFamily="34" charset="-122"/>
                <a:cs typeface="Calibri" pitchFamily="34" charset="-120"/>
              </a:rPr>
              <a:t>Degraded</a:t>
            </a:r>
            <a:endParaRPr lang="en-US" sz="1100" dirty="0"/>
          </a:p>
        </p:txBody>
      </p:sp>
      <p:sp>
        <p:nvSpPr>
          <p:cNvPr id="20" name="Shape 17"/>
          <p:cNvSpPr/>
          <p:nvPr/>
        </p:nvSpPr>
        <p:spPr>
          <a:xfrm>
            <a:off x="6675120" y="1783080"/>
            <a:ext cx="4937760" cy="4480560"/>
          </a:xfrm>
          <a:prstGeom prst="rect">
            <a:avLst/>
          </a:prstGeom>
          <a:solidFill>
            <a:srgbClr val="36454F"/>
          </a:solidFill>
          <a:ln w="12700">
            <a:solidFill>
              <a:srgbClr val="36454F"/>
            </a:solidFill>
            <a:prstDash val="solid"/>
          </a:ln>
        </p:spPr>
      </p:sp>
      <p:sp>
        <p:nvSpPr>
          <p:cNvPr id="21" name="Text 18"/>
          <p:cNvSpPr/>
          <p:nvPr/>
        </p:nvSpPr>
        <p:spPr>
          <a:xfrm>
            <a:off x="6949440" y="2011680"/>
            <a:ext cx="4389120" cy="320040"/>
          </a:xfrm>
          <a:prstGeom prst="rect">
            <a:avLst/>
          </a:prstGeom>
          <a:noFill/>
          <a:ln/>
        </p:spPr>
        <p:txBody>
          <a:bodyPr wrap="square" lIns="0" tIns="0" rIns="0" bIns="0" rtlCol="0" anchor="ctr"/>
          <a:lstStyle/>
          <a:p>
            <a:pPr marL="0" indent="0">
              <a:buNone/>
            </a:pPr>
            <a:r>
              <a:rPr lang="en-US" sz="1000" b="1" kern="0" spc="400" dirty="0">
                <a:solidFill>
                  <a:srgbClr val="A4ACB5"/>
                </a:solidFill>
                <a:latin typeface="Calibri" pitchFamily="34" charset="0"/>
                <a:ea typeface="Calibri" pitchFamily="34" charset="-122"/>
                <a:cs typeface="Calibri" pitchFamily="34" charset="-120"/>
              </a:rPr>
              <a:t>UNDER THE HOOD</a:t>
            </a:r>
            <a:endParaRPr lang="en-US" sz="1000" dirty="0"/>
          </a:p>
        </p:txBody>
      </p:sp>
      <p:sp>
        <p:nvSpPr>
          <p:cNvPr id="22" name="Text 19"/>
          <p:cNvSpPr/>
          <p:nvPr/>
        </p:nvSpPr>
        <p:spPr>
          <a:xfrm>
            <a:off x="6995160" y="2468880"/>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Inputs</a:t>
            </a:r>
            <a:endParaRPr lang="en-US" sz="1100" dirty="0"/>
          </a:p>
        </p:txBody>
      </p:sp>
      <p:sp>
        <p:nvSpPr>
          <p:cNvPr id="23" name="Text 20"/>
          <p:cNvSpPr/>
          <p:nvPr/>
        </p:nvSpPr>
        <p:spPr>
          <a:xfrm>
            <a:off x="8366760" y="2468880"/>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Latency, jitter, packet loss at 1 Hz</a:t>
            </a:r>
            <a:endParaRPr lang="en-US" sz="1100" dirty="0"/>
          </a:p>
        </p:txBody>
      </p:sp>
      <p:sp>
        <p:nvSpPr>
          <p:cNvPr id="24" name="Text 21"/>
          <p:cNvSpPr/>
          <p:nvPr/>
        </p:nvSpPr>
        <p:spPr>
          <a:xfrm>
            <a:off x="6995160" y="2907792"/>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Window</a:t>
            </a:r>
            <a:endParaRPr lang="en-US" sz="1100" dirty="0"/>
          </a:p>
        </p:txBody>
      </p:sp>
      <p:sp>
        <p:nvSpPr>
          <p:cNvPr id="25" name="Text 22"/>
          <p:cNvSpPr/>
          <p:nvPr/>
        </p:nvSpPr>
        <p:spPr>
          <a:xfrm>
            <a:off x="8366760" y="2907792"/>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60 timesteps (last 60 seconds)</a:t>
            </a:r>
            <a:endParaRPr lang="en-US" sz="1100" dirty="0"/>
          </a:p>
        </p:txBody>
      </p:sp>
      <p:sp>
        <p:nvSpPr>
          <p:cNvPr id="26" name="Text 23"/>
          <p:cNvSpPr/>
          <p:nvPr/>
        </p:nvSpPr>
        <p:spPr>
          <a:xfrm>
            <a:off x="6995160" y="3346704"/>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Model</a:t>
            </a:r>
            <a:endParaRPr lang="en-US" sz="1100" dirty="0"/>
          </a:p>
        </p:txBody>
      </p:sp>
      <p:sp>
        <p:nvSpPr>
          <p:cNvPr id="27" name="Text 24"/>
          <p:cNvSpPr/>
          <p:nvPr/>
        </p:nvSpPr>
        <p:spPr>
          <a:xfrm>
            <a:off x="8366760" y="3346704"/>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 stacked LSTM layers · hidden 128 · dropout 0.2</a:t>
            </a:r>
            <a:endParaRPr lang="en-US" sz="1100" dirty="0"/>
          </a:p>
        </p:txBody>
      </p:sp>
      <p:sp>
        <p:nvSpPr>
          <p:cNvPr id="28" name="Text 25"/>
          <p:cNvSpPr/>
          <p:nvPr/>
        </p:nvSpPr>
        <p:spPr>
          <a:xfrm>
            <a:off x="6995160" y="3785616"/>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Attention</a:t>
            </a:r>
            <a:endParaRPr lang="en-US" sz="1100" dirty="0"/>
          </a:p>
        </p:txBody>
      </p:sp>
      <p:sp>
        <p:nvSpPr>
          <p:cNvPr id="29" name="Text 26"/>
          <p:cNvSpPr/>
          <p:nvPr/>
        </p:nvSpPr>
        <p:spPr>
          <a:xfrm>
            <a:off x="8366760" y="3785616"/>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Bahdanau additive — focuses on the telling moments</a:t>
            </a:r>
            <a:endParaRPr lang="en-US" sz="1100" dirty="0"/>
          </a:p>
        </p:txBody>
      </p:sp>
      <p:sp>
        <p:nvSpPr>
          <p:cNvPr id="30" name="Text 27"/>
          <p:cNvSpPr/>
          <p:nvPr/>
        </p:nvSpPr>
        <p:spPr>
          <a:xfrm>
            <a:off x="6995160" y="4224528"/>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Output</a:t>
            </a:r>
            <a:endParaRPr lang="en-US" sz="1100" dirty="0"/>
          </a:p>
        </p:txBody>
      </p:sp>
      <p:sp>
        <p:nvSpPr>
          <p:cNvPr id="31" name="Text 28"/>
          <p:cNvSpPr/>
          <p:nvPr/>
        </p:nvSpPr>
        <p:spPr>
          <a:xfrm>
            <a:off x="8366760" y="4224528"/>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(latency, jitter, loss) at t+30s and t+60s</a:t>
            </a:r>
            <a:endParaRPr lang="en-US" sz="1100" dirty="0"/>
          </a:p>
        </p:txBody>
      </p:sp>
      <p:sp>
        <p:nvSpPr>
          <p:cNvPr id="32" name="Text 29"/>
          <p:cNvSpPr/>
          <p:nvPr/>
        </p:nvSpPr>
        <p:spPr>
          <a:xfrm>
            <a:off x="6995160" y="4663440"/>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Accuracy</a:t>
            </a:r>
            <a:endParaRPr lang="en-US" sz="1100" dirty="0"/>
          </a:p>
        </p:txBody>
      </p:sp>
      <p:sp>
        <p:nvSpPr>
          <p:cNvPr id="33" name="Text 30"/>
          <p:cNvSpPr/>
          <p:nvPr/>
        </p:nvSpPr>
        <p:spPr>
          <a:xfrm>
            <a:off x="8366760" y="4663440"/>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90% (MSE on held-out test set)</a:t>
            </a:r>
            <a:endParaRPr lang="en-US" sz="1100" dirty="0"/>
          </a:p>
        </p:txBody>
      </p:sp>
      <p:sp>
        <p:nvSpPr>
          <p:cNvPr id="34" name="Text 31"/>
          <p:cNvSpPr/>
          <p:nvPr/>
        </p:nvSpPr>
        <p:spPr>
          <a:xfrm>
            <a:off x="6995160" y="5102352"/>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Inference</a:t>
            </a:r>
            <a:endParaRPr lang="en-US" sz="1100" dirty="0"/>
          </a:p>
        </p:txBody>
      </p:sp>
      <p:sp>
        <p:nvSpPr>
          <p:cNvPr id="35" name="Text 32"/>
          <p:cNvSpPr/>
          <p:nvPr/>
        </p:nvSpPr>
        <p:spPr>
          <a:xfrm>
            <a:off x="8366760" y="5102352"/>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&lt; 1 second per link (fits the 1 Hz loop)</a:t>
            </a:r>
            <a:endParaRPr lang="en-US" sz="1100" dirty="0"/>
          </a:p>
        </p:txBody>
      </p:sp>
      <p:sp>
        <p:nvSpPr>
          <p:cNvPr id="36" name="Text 33"/>
          <p:cNvSpPr/>
          <p:nvPr/>
        </p:nvSpPr>
        <p:spPr>
          <a:xfrm>
            <a:off x="6995160" y="5541264"/>
            <a:ext cx="1371600" cy="365760"/>
          </a:xfrm>
          <a:prstGeom prst="rect">
            <a:avLst/>
          </a:prstGeom>
          <a:noFill/>
          <a:ln/>
        </p:spPr>
        <p:txBody>
          <a:bodyPr wrap="square" lIns="0" tIns="0" rIns="0" bIns="0" rtlCol="0" anchor="ctr"/>
          <a:lstStyle/>
          <a:p>
            <a:pPr marL="0" indent="0">
              <a:buNone/>
            </a:pPr>
            <a:r>
              <a:rPr lang="en-US" sz="1100" b="1" dirty="0">
                <a:solidFill>
                  <a:srgbClr val="A4ACB5"/>
                </a:solidFill>
                <a:latin typeface="Calibri" pitchFamily="34" charset="0"/>
                <a:ea typeface="Calibri" pitchFamily="34" charset="-122"/>
                <a:cs typeface="Calibri" pitchFamily="34" charset="-120"/>
              </a:rPr>
              <a:t>Training data</a:t>
            </a:r>
            <a:endParaRPr lang="en-US" sz="1100" dirty="0"/>
          </a:p>
        </p:txBody>
      </p:sp>
      <p:sp>
        <p:nvSpPr>
          <p:cNvPr id="37" name="Text 34"/>
          <p:cNvSpPr/>
          <p:nvPr/>
        </p:nvSpPr>
        <p:spPr>
          <a:xfrm>
            <a:off x="8366760" y="5541264"/>
            <a:ext cx="292608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10 M+ synthetic points from Mininet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COMPONENT 2 OF 4</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Innovation 2 — Autonomous Traffic Steering</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8 / 25</a:t>
            </a:r>
            <a:endParaRPr lang="en-US" sz="900" dirty="0"/>
          </a:p>
        </p:txBody>
      </p:sp>
      <p:pic>
        <p:nvPicPr>
          <p:cNvPr id="7" name="Image 0" descr="preencoded.png"/>
          <p:cNvPicPr>
            <a:picLocks noChangeAspect="1"/>
          </p:cNvPicPr>
          <p:nvPr/>
        </p:nvPicPr>
        <p:blipFill>
          <a:blip r:embed="rId3"/>
          <a:stretch>
            <a:fillRect/>
          </a:stretch>
        </p:blipFill>
        <p:spPr>
          <a:xfrm>
            <a:off x="548640" y="1783080"/>
            <a:ext cx="640080" cy="640080"/>
          </a:xfrm>
          <a:prstGeom prst="rect">
            <a:avLst/>
          </a:prstGeom>
        </p:spPr>
      </p:pic>
      <p:sp>
        <p:nvSpPr>
          <p:cNvPr id="8" name="Text 5"/>
          <p:cNvSpPr/>
          <p:nvPr/>
        </p:nvSpPr>
        <p:spPr>
          <a:xfrm>
            <a:off x="1371600" y="1783080"/>
            <a:ext cx="10241280" cy="1371600"/>
          </a:xfrm>
          <a:prstGeom prst="rect">
            <a:avLst/>
          </a:prstGeom>
          <a:noFill/>
          <a:ln/>
        </p:spPr>
        <p:txBody>
          <a:bodyPr wrap="square" lIns="0" tIns="0" rIns="0" bIns="0" rtlCol="0" anchor="ctr"/>
          <a:lstStyle/>
          <a:p>
            <a:pPr marL="0" indent="0">
              <a:buNone/>
            </a:pPr>
            <a:r>
              <a:rPr lang="en-US" sz="1400" dirty="0">
                <a:solidFill>
                  <a:srgbClr val="1A1E22"/>
                </a:solidFill>
                <a:latin typeface="Calibri" pitchFamily="34" charset="0"/>
                <a:ea typeface="Calibri" pitchFamily="34" charset="-122"/>
                <a:cs typeface="Calibri" pitchFamily="34" charset="-120"/>
              </a:rPr>
              <a:t>Once the health score drops below the admin's threshold, PathWise pre-computes the new routing rules and pushes them to the SDN controller atomically. Active TCP sessions and VoIP calls keep flowing — because the switch happens while both links are still healthy.</a:t>
            </a:r>
            <a:endParaRPr lang="en-US" sz="1400" dirty="0"/>
          </a:p>
        </p:txBody>
      </p:sp>
      <p:sp>
        <p:nvSpPr>
          <p:cNvPr id="9" name="Shape 6"/>
          <p:cNvSpPr/>
          <p:nvPr/>
        </p:nvSpPr>
        <p:spPr>
          <a:xfrm>
            <a:off x="548640" y="3291840"/>
            <a:ext cx="4114800" cy="2560320"/>
          </a:xfrm>
          <a:prstGeom prst="rect">
            <a:avLst/>
          </a:prstGeom>
          <a:solidFill>
            <a:srgbClr val="36454F"/>
          </a:solidFill>
          <a:ln w="12700">
            <a:solidFill>
              <a:srgbClr val="36454F"/>
            </a:solidFill>
            <a:prstDash val="solid"/>
          </a:ln>
        </p:spPr>
      </p:sp>
      <p:sp>
        <p:nvSpPr>
          <p:cNvPr id="10" name="Text 7"/>
          <p:cNvSpPr/>
          <p:nvPr/>
        </p:nvSpPr>
        <p:spPr>
          <a:xfrm>
            <a:off x="548640" y="3566160"/>
            <a:ext cx="4114800" cy="1280160"/>
          </a:xfrm>
          <a:prstGeom prst="rect">
            <a:avLst/>
          </a:prstGeom>
          <a:noFill/>
          <a:ln/>
        </p:spPr>
        <p:txBody>
          <a:bodyPr wrap="square" lIns="0" tIns="0" rIns="0" bIns="0" rtlCol="0" anchor="ctr"/>
          <a:lstStyle/>
          <a:p>
            <a:pPr marL="0" indent="0" algn="ctr">
              <a:buNone/>
            </a:pPr>
            <a:r>
              <a:rPr lang="en-US" sz="9000" b="1" dirty="0">
                <a:solidFill>
                  <a:srgbClr val="FFFFFF"/>
                </a:solidFill>
                <a:latin typeface="Calibri" pitchFamily="34" charset="0"/>
                <a:ea typeface="Calibri" pitchFamily="34" charset="-122"/>
                <a:cs typeface="Calibri" pitchFamily="34" charset="-120"/>
              </a:rPr>
              <a:t>&lt;  50</a:t>
            </a:r>
            <a:endParaRPr lang="en-US" sz="9000" dirty="0"/>
          </a:p>
        </p:txBody>
      </p:sp>
      <p:sp>
        <p:nvSpPr>
          <p:cNvPr id="11" name="Text 8"/>
          <p:cNvSpPr/>
          <p:nvPr/>
        </p:nvSpPr>
        <p:spPr>
          <a:xfrm>
            <a:off x="548640" y="4846320"/>
            <a:ext cx="4114800" cy="365760"/>
          </a:xfrm>
          <a:prstGeom prst="rect">
            <a:avLst/>
          </a:prstGeom>
          <a:noFill/>
          <a:ln/>
        </p:spPr>
        <p:txBody>
          <a:bodyPr wrap="square" lIns="0" tIns="0" rIns="0" bIns="0" rtlCol="0" anchor="ctr"/>
          <a:lstStyle/>
          <a:p>
            <a:pPr marL="0" indent="0" algn="ctr">
              <a:buNone/>
            </a:pPr>
            <a:r>
              <a:rPr lang="en-US" sz="1800" i="1" dirty="0">
                <a:solidFill>
                  <a:srgbClr val="A4ACB5"/>
                </a:solidFill>
                <a:latin typeface="Calibri" pitchFamily="34" charset="0"/>
                <a:ea typeface="Calibri" pitchFamily="34" charset="-122"/>
                <a:cs typeface="Calibri" pitchFamily="34" charset="-120"/>
              </a:rPr>
              <a:t>milliseconds</a:t>
            </a:r>
            <a:endParaRPr lang="en-US" sz="1800" dirty="0"/>
          </a:p>
        </p:txBody>
      </p:sp>
      <p:sp>
        <p:nvSpPr>
          <p:cNvPr id="12" name="Text 9"/>
          <p:cNvSpPr/>
          <p:nvPr/>
        </p:nvSpPr>
        <p:spPr>
          <a:xfrm>
            <a:off x="548640" y="5212080"/>
            <a:ext cx="4114800" cy="274320"/>
          </a:xfrm>
          <a:prstGeom prst="rect">
            <a:avLst/>
          </a:prstGeom>
          <a:noFill/>
          <a:ln/>
        </p:spPr>
        <p:txBody>
          <a:bodyPr wrap="square" lIns="0" tIns="0" rIns="0" bIns="0" rtlCol="0" anchor="ctr"/>
          <a:lstStyle/>
          <a:p>
            <a:pPr marL="0" indent="0" algn="ctr">
              <a:buNone/>
            </a:pPr>
            <a:r>
              <a:rPr lang="en-US" sz="1200" dirty="0">
                <a:solidFill>
                  <a:srgbClr val="A4ACB5"/>
                </a:solidFill>
                <a:latin typeface="Calibri" pitchFamily="34" charset="0"/>
                <a:ea typeface="Calibri" pitchFamily="34" charset="-122"/>
                <a:cs typeface="Calibri" pitchFamily="34" charset="-120"/>
              </a:rPr>
              <a:t>trigger → flow-table update</a:t>
            </a:r>
            <a:endParaRPr lang="en-US" sz="1200" dirty="0"/>
          </a:p>
        </p:txBody>
      </p:sp>
      <p:sp>
        <p:nvSpPr>
          <p:cNvPr id="13" name="Shape 10"/>
          <p:cNvSpPr/>
          <p:nvPr/>
        </p:nvSpPr>
        <p:spPr>
          <a:xfrm>
            <a:off x="1920240" y="5532120"/>
            <a:ext cx="1371600" cy="36576"/>
          </a:xfrm>
          <a:prstGeom prst="rect">
            <a:avLst/>
          </a:prstGeom>
          <a:solidFill>
            <a:srgbClr val="A4ACB5"/>
          </a:solidFill>
          <a:ln w="12700">
            <a:solidFill>
              <a:srgbClr val="A4ACB5"/>
            </a:solidFill>
            <a:prstDash val="solid"/>
          </a:ln>
        </p:spPr>
      </p:sp>
      <p:sp>
        <p:nvSpPr>
          <p:cNvPr id="14" name="Shape 11"/>
          <p:cNvSpPr/>
          <p:nvPr/>
        </p:nvSpPr>
        <p:spPr>
          <a:xfrm>
            <a:off x="5029200" y="3291840"/>
            <a:ext cx="6583680" cy="566928"/>
          </a:xfrm>
          <a:prstGeom prst="rect">
            <a:avLst/>
          </a:prstGeom>
          <a:solidFill>
            <a:srgbClr val="FFFFFF"/>
          </a:solidFill>
          <a:ln w="9525">
            <a:solidFill>
              <a:srgbClr val="A4ACB5"/>
            </a:solidFill>
            <a:prstDash val="solid"/>
          </a:ln>
        </p:spPr>
      </p:sp>
      <p:sp>
        <p:nvSpPr>
          <p:cNvPr id="15" name="Shape 12"/>
          <p:cNvSpPr/>
          <p:nvPr/>
        </p:nvSpPr>
        <p:spPr>
          <a:xfrm>
            <a:off x="5166360" y="3392424"/>
            <a:ext cx="365760" cy="365760"/>
          </a:xfrm>
          <a:prstGeom prst="ellipse">
            <a:avLst/>
          </a:prstGeom>
          <a:solidFill>
            <a:srgbClr val="708090"/>
          </a:solidFill>
          <a:ln w="12700">
            <a:solidFill>
              <a:srgbClr val="708090"/>
            </a:solidFill>
            <a:prstDash val="solid"/>
          </a:ln>
        </p:spPr>
      </p:sp>
      <p:sp>
        <p:nvSpPr>
          <p:cNvPr id="16" name="Text 13"/>
          <p:cNvSpPr/>
          <p:nvPr/>
        </p:nvSpPr>
        <p:spPr>
          <a:xfrm>
            <a:off x="5166360" y="33924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7" name="Text 14"/>
          <p:cNvSpPr/>
          <p:nvPr/>
        </p:nvSpPr>
        <p:spPr>
          <a:xfrm>
            <a:off x="5669280" y="3355848"/>
            <a:ext cx="384048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Prediction fires</a:t>
            </a:r>
            <a:endParaRPr lang="en-US" sz="1300" dirty="0"/>
          </a:p>
        </p:txBody>
      </p:sp>
      <p:sp>
        <p:nvSpPr>
          <p:cNvPr id="18" name="Text 15"/>
          <p:cNvSpPr/>
          <p:nvPr/>
        </p:nvSpPr>
        <p:spPr>
          <a:xfrm>
            <a:off x="5669280" y="3593592"/>
            <a:ext cx="5486400" cy="237744"/>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health score below threshold</a:t>
            </a:r>
            <a:endParaRPr lang="en-US" sz="1000" dirty="0"/>
          </a:p>
        </p:txBody>
      </p:sp>
      <p:sp>
        <p:nvSpPr>
          <p:cNvPr id="19" name="Shape 16"/>
          <p:cNvSpPr/>
          <p:nvPr/>
        </p:nvSpPr>
        <p:spPr>
          <a:xfrm>
            <a:off x="5349240" y="3858768"/>
            <a:ext cx="0" cy="45720"/>
          </a:xfrm>
          <a:prstGeom prst="line">
            <a:avLst/>
          </a:prstGeom>
          <a:noFill/>
          <a:ln w="19050">
            <a:solidFill>
              <a:srgbClr val="708090"/>
            </a:solidFill>
            <a:prstDash val="solid"/>
          </a:ln>
        </p:spPr>
      </p:sp>
      <p:sp>
        <p:nvSpPr>
          <p:cNvPr id="20" name="Shape 17"/>
          <p:cNvSpPr/>
          <p:nvPr/>
        </p:nvSpPr>
        <p:spPr>
          <a:xfrm>
            <a:off x="5029200" y="3904488"/>
            <a:ext cx="6583680" cy="566928"/>
          </a:xfrm>
          <a:prstGeom prst="rect">
            <a:avLst/>
          </a:prstGeom>
          <a:solidFill>
            <a:srgbClr val="FFFFFF"/>
          </a:solidFill>
          <a:ln w="9525">
            <a:solidFill>
              <a:srgbClr val="A4ACB5"/>
            </a:solidFill>
            <a:prstDash val="solid"/>
          </a:ln>
        </p:spPr>
      </p:sp>
      <p:sp>
        <p:nvSpPr>
          <p:cNvPr id="21" name="Shape 18"/>
          <p:cNvSpPr/>
          <p:nvPr/>
        </p:nvSpPr>
        <p:spPr>
          <a:xfrm>
            <a:off x="5166360" y="4005072"/>
            <a:ext cx="365760" cy="365760"/>
          </a:xfrm>
          <a:prstGeom prst="ellipse">
            <a:avLst/>
          </a:prstGeom>
          <a:solidFill>
            <a:srgbClr val="708090"/>
          </a:solidFill>
          <a:ln w="12700">
            <a:solidFill>
              <a:srgbClr val="708090"/>
            </a:solidFill>
            <a:prstDash val="solid"/>
          </a:ln>
        </p:spPr>
      </p:sp>
      <p:sp>
        <p:nvSpPr>
          <p:cNvPr id="22" name="Text 19"/>
          <p:cNvSpPr/>
          <p:nvPr/>
        </p:nvSpPr>
        <p:spPr>
          <a:xfrm>
            <a:off x="5166360" y="40050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p:nvPr/>
        </p:nvSpPr>
        <p:spPr>
          <a:xfrm>
            <a:off x="5669280" y="3968496"/>
            <a:ext cx="384048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New flow rules computed</a:t>
            </a:r>
            <a:endParaRPr lang="en-US" sz="1300" dirty="0"/>
          </a:p>
        </p:txBody>
      </p:sp>
      <p:sp>
        <p:nvSpPr>
          <p:cNvPr id="24" name="Text 21"/>
          <p:cNvSpPr/>
          <p:nvPr/>
        </p:nvSpPr>
        <p:spPr>
          <a:xfrm>
            <a:off x="5669280" y="4206240"/>
            <a:ext cx="5486400" cy="237744"/>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pre-computed, not on-the-fly</a:t>
            </a:r>
            <a:endParaRPr lang="en-US" sz="1000" dirty="0"/>
          </a:p>
        </p:txBody>
      </p:sp>
      <p:sp>
        <p:nvSpPr>
          <p:cNvPr id="25" name="Shape 22"/>
          <p:cNvSpPr/>
          <p:nvPr/>
        </p:nvSpPr>
        <p:spPr>
          <a:xfrm>
            <a:off x="5349240" y="4471416"/>
            <a:ext cx="0" cy="45720"/>
          </a:xfrm>
          <a:prstGeom prst="line">
            <a:avLst/>
          </a:prstGeom>
          <a:noFill/>
          <a:ln w="19050">
            <a:solidFill>
              <a:srgbClr val="708090"/>
            </a:solidFill>
            <a:prstDash val="solid"/>
          </a:ln>
        </p:spPr>
      </p:sp>
      <p:sp>
        <p:nvSpPr>
          <p:cNvPr id="26" name="Shape 23"/>
          <p:cNvSpPr/>
          <p:nvPr/>
        </p:nvSpPr>
        <p:spPr>
          <a:xfrm>
            <a:off x="5029200" y="4517136"/>
            <a:ext cx="6583680" cy="566928"/>
          </a:xfrm>
          <a:prstGeom prst="rect">
            <a:avLst/>
          </a:prstGeom>
          <a:solidFill>
            <a:srgbClr val="FFFFFF"/>
          </a:solidFill>
          <a:ln w="9525">
            <a:solidFill>
              <a:srgbClr val="A4ACB5"/>
            </a:solidFill>
            <a:prstDash val="solid"/>
          </a:ln>
        </p:spPr>
      </p:sp>
      <p:sp>
        <p:nvSpPr>
          <p:cNvPr id="27" name="Shape 24"/>
          <p:cNvSpPr/>
          <p:nvPr/>
        </p:nvSpPr>
        <p:spPr>
          <a:xfrm>
            <a:off x="5166360" y="4617720"/>
            <a:ext cx="365760" cy="365760"/>
          </a:xfrm>
          <a:prstGeom prst="ellipse">
            <a:avLst/>
          </a:prstGeom>
          <a:solidFill>
            <a:srgbClr val="708090"/>
          </a:solidFill>
          <a:ln w="12700">
            <a:solidFill>
              <a:srgbClr val="708090"/>
            </a:solidFill>
            <a:prstDash val="solid"/>
          </a:ln>
        </p:spPr>
      </p:sp>
      <p:sp>
        <p:nvSpPr>
          <p:cNvPr id="28" name="Text 25"/>
          <p:cNvSpPr/>
          <p:nvPr/>
        </p:nvSpPr>
        <p:spPr>
          <a:xfrm>
            <a:off x="5166360" y="46177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6"/>
          <p:cNvSpPr/>
          <p:nvPr/>
        </p:nvSpPr>
        <p:spPr>
          <a:xfrm>
            <a:off x="5669280" y="4581144"/>
            <a:ext cx="384048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Atomic push to SDN</a:t>
            </a:r>
            <a:endParaRPr lang="en-US" sz="1300" dirty="0"/>
          </a:p>
        </p:txBody>
      </p:sp>
      <p:sp>
        <p:nvSpPr>
          <p:cNvPr id="30" name="Text 27"/>
          <p:cNvSpPr/>
          <p:nvPr/>
        </p:nvSpPr>
        <p:spPr>
          <a:xfrm>
            <a:off x="5669280" y="4818888"/>
            <a:ext cx="5486400" cy="237744"/>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OpenDaylight / ONOS northbound API</a:t>
            </a:r>
            <a:endParaRPr lang="en-US" sz="1000" dirty="0"/>
          </a:p>
        </p:txBody>
      </p:sp>
      <p:sp>
        <p:nvSpPr>
          <p:cNvPr id="31" name="Shape 28"/>
          <p:cNvSpPr/>
          <p:nvPr/>
        </p:nvSpPr>
        <p:spPr>
          <a:xfrm>
            <a:off x="5349240" y="5084064"/>
            <a:ext cx="0" cy="45720"/>
          </a:xfrm>
          <a:prstGeom prst="line">
            <a:avLst/>
          </a:prstGeom>
          <a:noFill/>
          <a:ln w="19050">
            <a:solidFill>
              <a:srgbClr val="708090"/>
            </a:solidFill>
            <a:prstDash val="solid"/>
          </a:ln>
        </p:spPr>
      </p:sp>
      <p:sp>
        <p:nvSpPr>
          <p:cNvPr id="32" name="Shape 29"/>
          <p:cNvSpPr/>
          <p:nvPr/>
        </p:nvSpPr>
        <p:spPr>
          <a:xfrm>
            <a:off x="5029200" y="5129784"/>
            <a:ext cx="6583680" cy="566928"/>
          </a:xfrm>
          <a:prstGeom prst="rect">
            <a:avLst/>
          </a:prstGeom>
          <a:solidFill>
            <a:srgbClr val="FFFFFF"/>
          </a:solidFill>
          <a:ln w="9525">
            <a:solidFill>
              <a:srgbClr val="A4ACB5"/>
            </a:solidFill>
            <a:prstDash val="solid"/>
          </a:ln>
        </p:spPr>
      </p:sp>
      <p:sp>
        <p:nvSpPr>
          <p:cNvPr id="33" name="Shape 30"/>
          <p:cNvSpPr/>
          <p:nvPr/>
        </p:nvSpPr>
        <p:spPr>
          <a:xfrm>
            <a:off x="5166360" y="5230368"/>
            <a:ext cx="365760" cy="365760"/>
          </a:xfrm>
          <a:prstGeom prst="ellipse">
            <a:avLst/>
          </a:prstGeom>
          <a:solidFill>
            <a:srgbClr val="708090"/>
          </a:solidFill>
          <a:ln w="12700">
            <a:solidFill>
              <a:srgbClr val="708090"/>
            </a:solidFill>
            <a:prstDash val="solid"/>
          </a:ln>
        </p:spPr>
      </p:sp>
      <p:sp>
        <p:nvSpPr>
          <p:cNvPr id="34" name="Text 31"/>
          <p:cNvSpPr/>
          <p:nvPr/>
        </p:nvSpPr>
        <p:spPr>
          <a:xfrm>
            <a:off x="5166360" y="52303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2"/>
          <p:cNvSpPr/>
          <p:nvPr/>
        </p:nvSpPr>
        <p:spPr>
          <a:xfrm>
            <a:off x="5669280" y="5193792"/>
            <a:ext cx="384048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Session state preserved</a:t>
            </a:r>
            <a:endParaRPr lang="en-US" sz="1300" dirty="0"/>
          </a:p>
        </p:txBody>
      </p:sp>
      <p:sp>
        <p:nvSpPr>
          <p:cNvPr id="36" name="Text 33"/>
          <p:cNvSpPr/>
          <p:nvPr/>
        </p:nvSpPr>
        <p:spPr>
          <a:xfrm>
            <a:off x="5669280" y="5431536"/>
            <a:ext cx="5486400" cy="237744"/>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zero dropped TCP / VoIP</a:t>
            </a:r>
            <a:endParaRPr lang="en-US" sz="1000" dirty="0"/>
          </a:p>
        </p:txBody>
      </p:sp>
      <p:sp>
        <p:nvSpPr>
          <p:cNvPr id="37" name="Text 34"/>
          <p:cNvSpPr/>
          <p:nvPr/>
        </p:nvSpPr>
        <p:spPr>
          <a:xfrm>
            <a:off x="5029200" y="5943600"/>
            <a:ext cx="6583680" cy="320040"/>
          </a:xfrm>
          <a:prstGeom prst="rect">
            <a:avLst/>
          </a:prstGeom>
          <a:noFill/>
          <a:ln/>
        </p:spPr>
        <p:txBody>
          <a:bodyPr wrap="square" lIns="0" tIns="0" rIns="0" bIns="0" rtlCol="0" anchor="ctr"/>
          <a:lstStyle/>
          <a:p>
            <a:pPr marL="0" indent="0">
              <a:buNone/>
            </a:pPr>
            <a:r>
              <a:rPr lang="en-US" sz="1300" b="1" i="1" dirty="0">
                <a:solidFill>
                  <a:srgbClr val="3E6D2E"/>
                </a:solidFill>
                <a:latin typeface="Calibri" pitchFamily="34" charset="0"/>
                <a:ea typeface="Calibri" pitchFamily="34" charset="-122"/>
                <a:cs typeface="Calibri" pitchFamily="34" charset="-120"/>
              </a:rPr>
              <a:t>Result: failover while both links are still healthy — no red zone.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COMPONENT 3 OF 4</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Innovation 3 — Digital Twin Validation Sandbox</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9 / 25</a:t>
            </a:r>
            <a:endParaRPr lang="en-US" sz="900" dirty="0"/>
          </a:p>
        </p:txBody>
      </p:sp>
      <p:pic>
        <p:nvPicPr>
          <p:cNvPr id="7" name="Image 0" descr="preencoded.png"/>
          <p:cNvPicPr>
            <a:picLocks noChangeAspect="1"/>
          </p:cNvPicPr>
          <p:nvPr/>
        </p:nvPicPr>
        <p:blipFill>
          <a:blip r:embed="rId3"/>
          <a:stretch>
            <a:fillRect/>
          </a:stretch>
        </p:blipFill>
        <p:spPr>
          <a:xfrm>
            <a:off x="548640" y="1783080"/>
            <a:ext cx="640080" cy="640080"/>
          </a:xfrm>
          <a:prstGeom prst="rect">
            <a:avLst/>
          </a:prstGeom>
        </p:spPr>
      </p:pic>
      <p:sp>
        <p:nvSpPr>
          <p:cNvPr id="8" name="Text 5"/>
          <p:cNvSpPr/>
          <p:nvPr/>
        </p:nvSpPr>
        <p:spPr>
          <a:xfrm>
            <a:off x="1371600" y="1783080"/>
            <a:ext cx="10241280" cy="1371600"/>
          </a:xfrm>
          <a:prstGeom prst="rect">
            <a:avLst/>
          </a:prstGeom>
          <a:noFill/>
          <a:ln/>
        </p:spPr>
        <p:txBody>
          <a:bodyPr wrap="square" lIns="0" tIns="0" rIns="0" bIns="0" rtlCol="0" anchor="ctr"/>
          <a:lstStyle/>
          <a:p>
            <a:pPr marL="0" indent="0">
              <a:buNone/>
            </a:pPr>
            <a:r>
              <a:rPr lang="en-US" sz="1400" dirty="0">
                <a:solidFill>
                  <a:srgbClr val="1A1E22"/>
                </a:solidFill>
                <a:latin typeface="Calibri" pitchFamily="34" charset="0"/>
                <a:ea typeface="Calibri" pitchFamily="34" charset="-122"/>
                <a:cs typeface="Calibri" pitchFamily="34" charset="-120"/>
              </a:rPr>
              <a:t>"What if the AI is wrong?" Every routing change is re-run inside a live replica of the network first. If the replica shows a routing loop or a firewall violation, the change is rejected — and production never sees it.</a:t>
            </a:r>
            <a:endParaRPr lang="en-US" sz="1400" dirty="0"/>
          </a:p>
        </p:txBody>
      </p:sp>
      <p:sp>
        <p:nvSpPr>
          <p:cNvPr id="9" name="Shape 6"/>
          <p:cNvSpPr/>
          <p:nvPr/>
        </p:nvSpPr>
        <p:spPr>
          <a:xfrm>
            <a:off x="548640" y="3291840"/>
            <a:ext cx="2697480" cy="21945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0" name="Text 7"/>
          <p:cNvSpPr/>
          <p:nvPr/>
        </p:nvSpPr>
        <p:spPr>
          <a:xfrm>
            <a:off x="731520" y="3566160"/>
            <a:ext cx="2331720" cy="5029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1. Proposed change</a:t>
            </a:r>
            <a:endParaRPr lang="en-US" sz="1400" dirty="0"/>
          </a:p>
        </p:txBody>
      </p:sp>
      <p:sp>
        <p:nvSpPr>
          <p:cNvPr id="11" name="Shape 8"/>
          <p:cNvSpPr/>
          <p:nvPr/>
        </p:nvSpPr>
        <p:spPr>
          <a:xfrm>
            <a:off x="731520" y="4114800"/>
            <a:ext cx="548640" cy="27432"/>
          </a:xfrm>
          <a:prstGeom prst="rect">
            <a:avLst/>
          </a:prstGeom>
          <a:solidFill>
            <a:srgbClr val="708090"/>
          </a:solidFill>
          <a:ln w="12700">
            <a:solidFill>
              <a:srgbClr val="708090"/>
            </a:solidFill>
            <a:prstDash val="solid"/>
          </a:ln>
        </p:spPr>
      </p:sp>
      <p:sp>
        <p:nvSpPr>
          <p:cNvPr id="12" name="Text 9"/>
          <p:cNvSpPr/>
          <p:nvPr/>
        </p:nvSpPr>
        <p:spPr>
          <a:xfrm>
            <a:off x="731520" y="4251960"/>
            <a:ext cx="2331720" cy="10972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New flow table arrives from Traffic Steering</a:t>
            </a:r>
            <a:endParaRPr lang="en-US" sz="1100" dirty="0"/>
          </a:p>
        </p:txBody>
      </p:sp>
      <p:sp>
        <p:nvSpPr>
          <p:cNvPr id="13" name="Text 10"/>
          <p:cNvSpPr/>
          <p:nvPr/>
        </p:nvSpPr>
        <p:spPr>
          <a:xfrm>
            <a:off x="3200400" y="4206240"/>
            <a:ext cx="274320" cy="36576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14" name="Shape 11"/>
          <p:cNvSpPr/>
          <p:nvPr/>
        </p:nvSpPr>
        <p:spPr>
          <a:xfrm>
            <a:off x="3383280" y="3291840"/>
            <a:ext cx="2697480" cy="21945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5" name="Text 12"/>
          <p:cNvSpPr/>
          <p:nvPr/>
        </p:nvSpPr>
        <p:spPr>
          <a:xfrm>
            <a:off x="3566160" y="3566160"/>
            <a:ext cx="2331720" cy="5029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2. Mininet replica</a:t>
            </a:r>
            <a:endParaRPr lang="en-US" sz="1400" dirty="0"/>
          </a:p>
        </p:txBody>
      </p:sp>
      <p:sp>
        <p:nvSpPr>
          <p:cNvPr id="16" name="Shape 13"/>
          <p:cNvSpPr/>
          <p:nvPr/>
        </p:nvSpPr>
        <p:spPr>
          <a:xfrm>
            <a:off x="3566160" y="4114800"/>
            <a:ext cx="548640" cy="27432"/>
          </a:xfrm>
          <a:prstGeom prst="rect">
            <a:avLst/>
          </a:prstGeom>
          <a:solidFill>
            <a:srgbClr val="708090"/>
          </a:solidFill>
          <a:ln w="12700">
            <a:solidFill>
              <a:srgbClr val="708090"/>
            </a:solidFill>
            <a:prstDash val="solid"/>
          </a:ln>
        </p:spPr>
      </p:sp>
      <p:sp>
        <p:nvSpPr>
          <p:cNvPr id="17" name="Text 14"/>
          <p:cNvSpPr/>
          <p:nvPr/>
        </p:nvSpPr>
        <p:spPr>
          <a:xfrm>
            <a:off x="3566160" y="4251960"/>
            <a:ext cx="2331720" cy="10972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Topology rebuilt with the same subnets, links, interfaces</a:t>
            </a:r>
            <a:endParaRPr lang="en-US" sz="1100" dirty="0"/>
          </a:p>
        </p:txBody>
      </p:sp>
      <p:sp>
        <p:nvSpPr>
          <p:cNvPr id="18" name="Text 15"/>
          <p:cNvSpPr/>
          <p:nvPr/>
        </p:nvSpPr>
        <p:spPr>
          <a:xfrm>
            <a:off x="6035040" y="4206240"/>
            <a:ext cx="274320" cy="36576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19" name="Shape 16"/>
          <p:cNvSpPr/>
          <p:nvPr/>
        </p:nvSpPr>
        <p:spPr>
          <a:xfrm>
            <a:off x="6217920" y="3291840"/>
            <a:ext cx="2697480" cy="21945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0" name="Text 17"/>
          <p:cNvSpPr/>
          <p:nvPr/>
        </p:nvSpPr>
        <p:spPr>
          <a:xfrm>
            <a:off x="6400800" y="3566160"/>
            <a:ext cx="2331720" cy="5029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3. Batfish checks</a:t>
            </a:r>
            <a:endParaRPr lang="en-US" sz="1400" dirty="0"/>
          </a:p>
        </p:txBody>
      </p:sp>
      <p:sp>
        <p:nvSpPr>
          <p:cNvPr id="21" name="Shape 18"/>
          <p:cNvSpPr/>
          <p:nvPr/>
        </p:nvSpPr>
        <p:spPr>
          <a:xfrm>
            <a:off x="6400800" y="4114800"/>
            <a:ext cx="548640" cy="27432"/>
          </a:xfrm>
          <a:prstGeom prst="rect">
            <a:avLst/>
          </a:prstGeom>
          <a:solidFill>
            <a:srgbClr val="708090"/>
          </a:solidFill>
          <a:ln w="12700">
            <a:solidFill>
              <a:srgbClr val="708090"/>
            </a:solidFill>
            <a:prstDash val="solid"/>
          </a:ln>
        </p:spPr>
      </p:sp>
      <p:sp>
        <p:nvSpPr>
          <p:cNvPr id="22" name="Text 19"/>
          <p:cNvSpPr/>
          <p:nvPr/>
        </p:nvSpPr>
        <p:spPr>
          <a:xfrm>
            <a:off x="6400800" y="4251960"/>
            <a:ext cx="2331720" cy="10972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Loop detection · ACL/firewall policy compliance</a:t>
            </a:r>
            <a:endParaRPr lang="en-US" sz="1100" dirty="0"/>
          </a:p>
        </p:txBody>
      </p:sp>
      <p:sp>
        <p:nvSpPr>
          <p:cNvPr id="23" name="Text 20"/>
          <p:cNvSpPr/>
          <p:nvPr/>
        </p:nvSpPr>
        <p:spPr>
          <a:xfrm>
            <a:off x="8869680" y="4206240"/>
            <a:ext cx="274320" cy="36576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24" name="Shape 21"/>
          <p:cNvSpPr/>
          <p:nvPr/>
        </p:nvSpPr>
        <p:spPr>
          <a:xfrm>
            <a:off x="9052560" y="3291840"/>
            <a:ext cx="2697480" cy="2194560"/>
          </a:xfrm>
          <a:prstGeom prst="rect">
            <a:avLst/>
          </a:prstGeom>
          <a:solidFill>
            <a:srgbClr val="36454F"/>
          </a:solidFill>
          <a:ln w="12700">
            <a:solidFill>
              <a:srgbClr val="A4ACB5"/>
            </a:solidFill>
            <a:prstDash val="solid"/>
          </a:ln>
          <a:effectLst>
            <a:outerShdw blurRad="101600" dist="25400" dir="5400000" algn="bl" rotWithShape="0">
              <a:srgbClr val="000000">
                <a:alpha val="8000"/>
              </a:srgbClr>
            </a:outerShdw>
          </a:effectLst>
        </p:spPr>
      </p:sp>
      <p:sp>
        <p:nvSpPr>
          <p:cNvPr id="25" name="Text 22"/>
          <p:cNvSpPr/>
          <p:nvPr/>
        </p:nvSpPr>
        <p:spPr>
          <a:xfrm>
            <a:off x="9235440" y="3566160"/>
            <a:ext cx="233172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Verdict</a:t>
            </a:r>
            <a:endParaRPr lang="en-US" sz="1400" dirty="0"/>
          </a:p>
        </p:txBody>
      </p:sp>
      <p:sp>
        <p:nvSpPr>
          <p:cNvPr id="26" name="Shape 23"/>
          <p:cNvSpPr/>
          <p:nvPr/>
        </p:nvSpPr>
        <p:spPr>
          <a:xfrm>
            <a:off x="9235440" y="4114800"/>
            <a:ext cx="548640" cy="27432"/>
          </a:xfrm>
          <a:prstGeom prst="rect">
            <a:avLst/>
          </a:prstGeom>
          <a:solidFill>
            <a:srgbClr val="A4ACB5"/>
          </a:solidFill>
          <a:ln w="12700">
            <a:solidFill>
              <a:srgbClr val="A4ACB5"/>
            </a:solidFill>
            <a:prstDash val="solid"/>
          </a:ln>
        </p:spPr>
      </p:sp>
      <p:sp>
        <p:nvSpPr>
          <p:cNvPr id="27" name="Text 24"/>
          <p:cNvSpPr/>
          <p:nvPr/>
        </p:nvSpPr>
        <p:spPr>
          <a:xfrm>
            <a:off x="9235440" y="4251960"/>
            <a:ext cx="2331720" cy="1097280"/>
          </a:xfrm>
          <a:prstGeom prst="rect">
            <a:avLst/>
          </a:prstGeom>
          <a:noFill/>
          <a:ln/>
        </p:spPr>
        <p:txBody>
          <a:bodyPr wrap="square" lIns="0" tIns="0" rIns="0" bIns="0" rtlCol="0" anchor="ctr"/>
          <a:lstStyle/>
          <a:p>
            <a:pPr marL="0" indent="0">
              <a:buNone/>
            </a:pPr>
            <a:r>
              <a:rPr lang="en-US" sz="1100" dirty="0">
                <a:solidFill>
                  <a:srgbClr val="A4ACB5"/>
                </a:solidFill>
                <a:latin typeface="Calibri" pitchFamily="34" charset="0"/>
                <a:ea typeface="Calibri" pitchFamily="34" charset="-122"/>
                <a:cs typeface="Calibri" pitchFamily="34" charset="-120"/>
              </a:rPr>
              <a:t>PASSED → production  |  FAILED → rollback + audit</a:t>
            </a:r>
            <a:endParaRPr lang="en-US" sz="1100" dirty="0"/>
          </a:p>
        </p:txBody>
      </p:sp>
      <p:sp>
        <p:nvSpPr>
          <p:cNvPr id="28" name="Shape 25"/>
          <p:cNvSpPr/>
          <p:nvPr/>
        </p:nvSpPr>
        <p:spPr>
          <a:xfrm>
            <a:off x="548640" y="5669280"/>
            <a:ext cx="11064240" cy="640080"/>
          </a:xfrm>
          <a:prstGeom prst="rect">
            <a:avLst/>
          </a:prstGeom>
          <a:solidFill>
            <a:srgbClr val="F1F2F4"/>
          </a:solidFill>
          <a:ln w="12700">
            <a:solidFill>
              <a:srgbClr val="A4ACB5"/>
            </a:solidFill>
            <a:prstDash val="solid"/>
          </a:ln>
        </p:spPr>
      </p:sp>
      <p:sp>
        <p:nvSpPr>
          <p:cNvPr id="29" name="Text 26"/>
          <p:cNvSpPr/>
          <p:nvPr/>
        </p:nvSpPr>
        <p:spPr>
          <a:xfrm>
            <a:off x="731520" y="5742432"/>
            <a:ext cx="10698480" cy="502920"/>
          </a:xfrm>
          <a:prstGeom prst="rect">
            <a:avLst/>
          </a:prstGeom>
          <a:noFill/>
          <a:ln/>
        </p:spPr>
        <p:txBody>
          <a:bodyPr wrap="square" lIns="0" tIns="0" rIns="0" bIns="0" rtlCol="0" anchor="ctr"/>
          <a:lstStyle/>
          <a:p>
            <a:pPr marL="0" indent="0">
              <a:buNone/>
            </a:pPr>
            <a:r>
              <a:rPr lang="en-US" sz="1300" b="1" dirty="0">
                <a:solidFill>
                  <a:srgbClr val="6B737A"/>
                </a:solidFill>
                <a:latin typeface="Calibri" pitchFamily="34" charset="0"/>
                <a:ea typeface="Calibri" pitchFamily="34" charset="-122"/>
                <a:cs typeface="Calibri" pitchFamily="34" charset="-120"/>
              </a:rPr>
              <a:t>Full cycle: </a:t>
            </a:r>
            <a:r>
              <a:rPr lang="en-US" sz="1600" b="1" dirty="0">
                <a:solidFill>
                  <a:srgbClr val="36454F"/>
                </a:solidFill>
                <a:latin typeface="Calibri" pitchFamily="34" charset="0"/>
                <a:ea typeface="Calibri" pitchFamily="34" charset="-122"/>
                <a:cs typeface="Calibri" pitchFamily="34" charset="-120"/>
              </a:rPr>
              <a:t>under 5 seconds</a:t>
            </a:r>
            <a:r>
              <a:rPr lang="en-US" sz="1300" dirty="0">
                <a:solidFill>
                  <a:srgbClr val="708090"/>
                </a:solidFill>
                <a:latin typeface="Calibri" pitchFamily="34" charset="0"/>
                <a:ea typeface="Calibri" pitchFamily="34" charset="-122"/>
                <a:cs typeface="Calibri" pitchFamily="34" charset="-120"/>
              </a:rPr>
              <a:t>   ·   </a:t>
            </a:r>
            <a:r>
              <a:rPr lang="en-US" sz="1300" b="1" dirty="0">
                <a:solidFill>
                  <a:srgbClr val="6B737A"/>
                </a:solidFill>
                <a:latin typeface="Calibri" pitchFamily="34" charset="0"/>
                <a:ea typeface="Calibri" pitchFamily="34" charset="-122"/>
                <a:cs typeface="Calibri" pitchFamily="34" charset="-120"/>
              </a:rPr>
              <a:t>Audit log: </a:t>
            </a:r>
            <a:r>
              <a:rPr lang="en-US" sz="1300" b="1" dirty="0">
                <a:solidFill>
                  <a:srgbClr val="36454F"/>
                </a:solidFill>
                <a:latin typeface="Calibri" pitchFamily="34" charset="0"/>
                <a:ea typeface="Calibri" pitchFamily="34" charset="-122"/>
                <a:cs typeface="Calibri" pitchFamily="34" charset="-120"/>
              </a:rPr>
              <a:t>SHA-256 checksum on every validation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COMPONENT 4 OF 4</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Innovation 4 — Intent-Based Networking (IBN)</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10 / 25</a:t>
            </a:r>
            <a:endParaRPr lang="en-US" sz="900" dirty="0"/>
          </a:p>
        </p:txBody>
      </p:sp>
      <p:pic>
        <p:nvPicPr>
          <p:cNvPr id="7" name="Image 0" descr="preencoded.png"/>
          <p:cNvPicPr>
            <a:picLocks noChangeAspect="1"/>
          </p:cNvPicPr>
          <p:nvPr/>
        </p:nvPicPr>
        <p:blipFill>
          <a:blip r:embed="rId3"/>
          <a:stretch>
            <a:fillRect/>
          </a:stretch>
        </p:blipFill>
        <p:spPr>
          <a:xfrm>
            <a:off x="548640" y="1783080"/>
            <a:ext cx="640080" cy="640080"/>
          </a:xfrm>
          <a:prstGeom prst="rect">
            <a:avLst/>
          </a:prstGeom>
        </p:spPr>
      </p:pic>
      <p:sp>
        <p:nvSpPr>
          <p:cNvPr id="8" name="Text 5"/>
          <p:cNvSpPr/>
          <p:nvPr/>
        </p:nvSpPr>
        <p:spPr>
          <a:xfrm>
            <a:off x="1371600" y="1783080"/>
            <a:ext cx="10241280" cy="1097280"/>
          </a:xfrm>
          <a:prstGeom prst="rect">
            <a:avLst/>
          </a:prstGeom>
          <a:noFill/>
          <a:ln/>
        </p:spPr>
        <p:txBody>
          <a:bodyPr wrap="square" lIns="0" tIns="0" rIns="0" bIns="0" rtlCol="0" anchor="ctr"/>
          <a:lstStyle/>
          <a:p>
            <a:pPr marL="0" indent="0">
              <a:buNone/>
            </a:pPr>
            <a:r>
              <a:rPr lang="en-US" sz="1400" dirty="0">
                <a:solidFill>
                  <a:srgbClr val="1A1E22"/>
                </a:solidFill>
                <a:latin typeface="Calibri" pitchFamily="34" charset="0"/>
                <a:ea typeface="Calibri" pitchFamily="34" charset="-122"/>
                <a:cs typeface="Calibri" pitchFamily="34" charset="-120"/>
              </a:rPr>
              <a:t>Most network platforms require a network engineer fluent in CLI and routing protocols. PathWise lets you type what you want in English — and shows you exactly what it'll do before applying it.</a:t>
            </a:r>
            <a:endParaRPr lang="en-US" sz="1400" dirty="0"/>
          </a:p>
        </p:txBody>
      </p:sp>
      <p:sp>
        <p:nvSpPr>
          <p:cNvPr id="9" name="Text 6"/>
          <p:cNvSpPr/>
          <p:nvPr/>
        </p:nvSpPr>
        <p:spPr>
          <a:xfrm>
            <a:off x="548640" y="3108960"/>
            <a:ext cx="5486400" cy="320040"/>
          </a:xfrm>
          <a:prstGeom prst="rect">
            <a:avLst/>
          </a:prstGeom>
          <a:noFill/>
          <a:ln/>
        </p:spPr>
        <p:txBody>
          <a:bodyPr wrap="square" lIns="0" tIns="0" rIns="0" bIns="0" rtlCol="0" anchor="ctr"/>
          <a:lstStyle/>
          <a:p>
            <a:pPr marL="0" indent="0">
              <a:buNone/>
            </a:pPr>
            <a:r>
              <a:rPr lang="en-US" sz="1100" b="1" dirty="0">
                <a:solidFill>
                  <a:srgbClr val="708090"/>
                </a:solidFill>
                <a:latin typeface="Calibri" pitchFamily="34" charset="0"/>
                <a:ea typeface="Calibri" pitchFamily="34" charset="-122"/>
                <a:cs typeface="Calibri" pitchFamily="34" charset="-120"/>
              </a:rPr>
              <a:t>You type:</a:t>
            </a:r>
            <a:endParaRPr lang="en-US" sz="1100" dirty="0"/>
          </a:p>
        </p:txBody>
      </p:sp>
      <p:sp>
        <p:nvSpPr>
          <p:cNvPr id="10" name="Shape 7"/>
          <p:cNvSpPr/>
          <p:nvPr/>
        </p:nvSpPr>
        <p:spPr>
          <a:xfrm>
            <a:off x="548640" y="3474720"/>
            <a:ext cx="5486400" cy="914400"/>
          </a:xfrm>
          <a:prstGeom prst="rect">
            <a:avLst/>
          </a:prstGeom>
          <a:solidFill>
            <a:srgbClr val="FFFFFF"/>
          </a:solidFill>
          <a:ln w="19050">
            <a:solidFill>
              <a:srgbClr val="36454F"/>
            </a:solidFill>
            <a:prstDash val="solid"/>
          </a:ln>
        </p:spPr>
      </p:sp>
      <p:sp>
        <p:nvSpPr>
          <p:cNvPr id="11" name="Text 8"/>
          <p:cNvSpPr/>
          <p:nvPr/>
        </p:nvSpPr>
        <p:spPr>
          <a:xfrm>
            <a:off x="777240" y="3520440"/>
            <a:ext cx="5029200" cy="822960"/>
          </a:xfrm>
          <a:prstGeom prst="rect">
            <a:avLst/>
          </a:prstGeom>
          <a:noFill/>
          <a:ln/>
        </p:spPr>
        <p:txBody>
          <a:bodyPr wrap="square" lIns="0" tIns="0" rIns="0" bIns="0" rtlCol="0" anchor="ctr"/>
          <a:lstStyle/>
          <a:p>
            <a:pPr marL="0" indent="0">
              <a:buNone/>
            </a:pPr>
            <a:r>
              <a:rPr lang="en-US" sz="1800" i="1" dirty="0">
                <a:solidFill>
                  <a:srgbClr val="1A1E22"/>
                </a:solidFill>
                <a:latin typeface="Calibri" pitchFamily="34" charset="0"/>
                <a:ea typeface="Calibri" pitchFamily="34" charset="-122"/>
                <a:cs typeface="Calibri" pitchFamily="34" charset="-120"/>
              </a:rPr>
              <a:t>"Prioritize VoIP over video on all retail sites."</a:t>
            </a:r>
            <a:endParaRPr lang="en-US" sz="1800" dirty="0"/>
          </a:p>
        </p:txBody>
      </p:sp>
      <p:sp>
        <p:nvSpPr>
          <p:cNvPr id="12" name="Text 9"/>
          <p:cNvSpPr/>
          <p:nvPr/>
        </p:nvSpPr>
        <p:spPr>
          <a:xfrm>
            <a:off x="548640" y="4526280"/>
            <a:ext cx="5486400" cy="320040"/>
          </a:xfrm>
          <a:prstGeom prst="rect">
            <a:avLst/>
          </a:prstGeom>
          <a:noFill/>
          <a:ln/>
        </p:spPr>
        <p:txBody>
          <a:bodyPr wrap="square" lIns="0" tIns="0" rIns="0" bIns="0" rtlCol="0" anchor="ctr"/>
          <a:lstStyle/>
          <a:p>
            <a:pPr marL="0" indent="0">
              <a:buNone/>
            </a:pPr>
            <a:r>
              <a:rPr lang="en-US" sz="1100" b="1" dirty="0">
                <a:solidFill>
                  <a:srgbClr val="708090"/>
                </a:solidFill>
                <a:latin typeface="Calibri" pitchFamily="34" charset="0"/>
                <a:ea typeface="Calibri" pitchFamily="34" charset="-122"/>
                <a:cs typeface="Calibri" pitchFamily="34" charset="-120"/>
              </a:rPr>
              <a:t>PathWise shows the interpreted policy:</a:t>
            </a:r>
            <a:endParaRPr lang="en-US" sz="1100" dirty="0"/>
          </a:p>
        </p:txBody>
      </p:sp>
      <p:sp>
        <p:nvSpPr>
          <p:cNvPr id="13" name="Shape 10"/>
          <p:cNvSpPr/>
          <p:nvPr/>
        </p:nvSpPr>
        <p:spPr>
          <a:xfrm>
            <a:off x="548640" y="4892040"/>
            <a:ext cx="5486400" cy="1554480"/>
          </a:xfrm>
          <a:prstGeom prst="rect">
            <a:avLst/>
          </a:prstGeom>
          <a:solidFill>
            <a:srgbClr val="F1F2F4"/>
          </a:solidFill>
          <a:ln w="9525">
            <a:solidFill>
              <a:srgbClr val="A4ACB5"/>
            </a:solidFill>
            <a:prstDash val="solid"/>
          </a:ln>
        </p:spPr>
      </p:sp>
      <p:sp>
        <p:nvSpPr>
          <p:cNvPr id="14" name="Text 11"/>
          <p:cNvSpPr/>
          <p:nvPr/>
        </p:nvSpPr>
        <p:spPr>
          <a:xfrm>
            <a:off x="731520" y="4937760"/>
            <a:ext cx="5120640" cy="1463040"/>
          </a:xfrm>
          <a:prstGeom prst="rect">
            <a:avLst/>
          </a:prstGeom>
          <a:noFill/>
          <a:ln/>
        </p:spPr>
        <p:txBody>
          <a:bodyPr wrap="square" lIns="0" tIns="0" rIns="0" bIns="0" rtlCol="0" anchor="ctr"/>
          <a:lstStyle/>
          <a:p>
            <a:pPr marL="0" indent="0">
              <a:spcAft>
                <a:spcPts val="300"/>
              </a:spcAft>
              <a:buNone/>
            </a:pPr>
            <a:r>
              <a:rPr lang="en-US" sz="1200" b="1" dirty="0">
                <a:solidFill>
                  <a:srgbClr val="6B737A"/>
                </a:solidFill>
                <a:latin typeface="Consolas" pitchFamily="34" charset="0"/>
                <a:ea typeface="Consolas" pitchFamily="34" charset="-122"/>
                <a:cs typeface="Consolas" pitchFamily="34" charset="-120"/>
              </a:rPr>
              <a:t>scope: </a:t>
            </a:r>
            <a:r>
              <a:rPr lang="en-US" sz="1200" b="1" dirty="0">
                <a:solidFill>
                  <a:srgbClr val="36454F"/>
                </a:solidFill>
                <a:latin typeface="Consolas" pitchFamily="34" charset="0"/>
                <a:ea typeface="Consolas" pitchFamily="34" charset="-122"/>
                <a:cs typeface="Consolas" pitchFamily="34" charset="-120"/>
              </a:rPr>
              <a:t>site.type == "retail"</a:t>
            </a:r>
            <a:endParaRPr lang="en-US" sz="1200" dirty="0"/>
          </a:p>
          <a:p>
            <a:pPr marL="0" indent="0">
              <a:spcAft>
                <a:spcPts val="300"/>
              </a:spcAft>
              <a:buNone/>
            </a:pPr>
            <a:r>
              <a:rPr lang="en-US" sz="1200" b="1" dirty="0">
                <a:solidFill>
                  <a:srgbClr val="6B737A"/>
                </a:solidFill>
                <a:latin typeface="Consolas" pitchFamily="34" charset="0"/>
                <a:ea typeface="Consolas" pitchFamily="34" charset="-122"/>
                <a:cs typeface="Consolas" pitchFamily="34" charset="-120"/>
              </a:rPr>
              <a:t>class VoIP:  </a:t>
            </a:r>
            <a:r>
              <a:rPr lang="en-US" sz="1200" b="1" dirty="0">
                <a:solidFill>
                  <a:srgbClr val="36454F"/>
                </a:solidFill>
                <a:latin typeface="Consolas" pitchFamily="34" charset="0"/>
                <a:ea typeface="Consolas" pitchFamily="34" charset="-122"/>
                <a:cs typeface="Consolas" pitchFamily="34" charset="-120"/>
              </a:rPr>
              <a:t>priority = HIGH</a:t>
            </a:r>
            <a:endParaRPr lang="en-US" sz="1200" dirty="0"/>
          </a:p>
          <a:p>
            <a:pPr marL="0" indent="0">
              <a:spcAft>
                <a:spcPts val="300"/>
              </a:spcAft>
              <a:buNone/>
            </a:pPr>
            <a:r>
              <a:rPr lang="en-US" sz="1200" b="1" dirty="0">
                <a:solidFill>
                  <a:srgbClr val="6B737A"/>
                </a:solidFill>
                <a:latin typeface="Consolas" pitchFamily="34" charset="0"/>
                <a:ea typeface="Consolas" pitchFamily="34" charset="-122"/>
                <a:cs typeface="Consolas" pitchFamily="34" charset="-120"/>
              </a:rPr>
              <a:t>class Video: </a:t>
            </a:r>
            <a:r>
              <a:rPr lang="en-US" sz="1200" b="1" dirty="0">
                <a:solidFill>
                  <a:srgbClr val="36454F"/>
                </a:solidFill>
                <a:latin typeface="Consolas" pitchFamily="34" charset="0"/>
                <a:ea typeface="Consolas" pitchFamily="34" charset="-122"/>
                <a:cs typeface="Consolas" pitchFamily="34" charset="-120"/>
              </a:rPr>
              <a:t>priority = MEDIUM</a:t>
            </a:r>
            <a:endParaRPr lang="en-US" sz="1200" dirty="0"/>
          </a:p>
          <a:p>
            <a:pPr marL="0" indent="0">
              <a:spcAft>
                <a:spcPts val="300"/>
              </a:spcAft>
              <a:buNone/>
            </a:pPr>
            <a:r>
              <a:rPr lang="en-US" sz="1200" b="1" dirty="0">
                <a:solidFill>
                  <a:srgbClr val="6B737A"/>
                </a:solidFill>
                <a:latin typeface="Consolas" pitchFamily="34" charset="0"/>
                <a:ea typeface="Consolas" pitchFamily="34" charset="-122"/>
                <a:cs typeface="Consolas" pitchFamily="34" charset="-120"/>
              </a:rPr>
              <a:t>action: </a:t>
            </a:r>
            <a:r>
              <a:rPr lang="en-US" sz="1200" b="1" dirty="0">
                <a:solidFill>
                  <a:srgbClr val="36454F"/>
                </a:solidFill>
                <a:latin typeface="Consolas" pitchFamily="34" charset="0"/>
                <a:ea typeface="Consolas" pitchFamily="34" charset="-122"/>
                <a:cs typeface="Consolas" pitchFamily="34" charset="-120"/>
              </a:rPr>
              <a:t>emit YANG → NETCONF → SDN controller</a:t>
            </a:r>
            <a:endParaRPr lang="en-US" sz="1200" dirty="0"/>
          </a:p>
        </p:txBody>
      </p:sp>
      <p:sp>
        <p:nvSpPr>
          <p:cNvPr id="15" name="Shape 12"/>
          <p:cNvSpPr/>
          <p:nvPr/>
        </p:nvSpPr>
        <p:spPr>
          <a:xfrm>
            <a:off x="6400800" y="3108960"/>
            <a:ext cx="5212080" cy="32004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6" name="Text 13"/>
          <p:cNvSpPr/>
          <p:nvPr/>
        </p:nvSpPr>
        <p:spPr>
          <a:xfrm>
            <a:off x="6675120" y="3337560"/>
            <a:ext cx="466344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Why this matters</a:t>
            </a:r>
            <a:endParaRPr lang="en-US" sz="1600" dirty="0"/>
          </a:p>
        </p:txBody>
      </p:sp>
      <p:sp>
        <p:nvSpPr>
          <p:cNvPr id="17" name="Text 14"/>
          <p:cNvSpPr/>
          <p:nvPr/>
        </p:nvSpPr>
        <p:spPr>
          <a:xfrm>
            <a:off x="6675120" y="3794760"/>
            <a:ext cx="4663440" cy="24688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A1E22"/>
                </a:solidFill>
                <a:latin typeface="Calibri" pitchFamily="34" charset="0"/>
                <a:ea typeface="Calibri" pitchFamily="34" charset="-122"/>
                <a:cs typeface="Calibri" pitchFamily="34" charset="-120"/>
              </a:rPr>
              <a:t>A non-technical IT manager can apply a policy without calling a network engineer.</a:t>
            </a:r>
            <a:endParaRPr lang="en-US" sz="1200" dirty="0"/>
          </a:p>
          <a:p>
            <a:pPr marL="342900" indent="-342900">
              <a:spcAft>
                <a:spcPts val="600"/>
              </a:spcAft>
              <a:buSzPct val="100000"/>
              <a:buChar char="■"/>
            </a:pPr>
            <a:r>
              <a:rPr lang="en-US" sz="1200" dirty="0">
                <a:solidFill>
                  <a:srgbClr val="1A1E22"/>
                </a:solidFill>
                <a:latin typeface="Calibri" pitchFamily="34" charset="0"/>
                <a:ea typeface="Calibri" pitchFamily="34" charset="-122"/>
                <a:cs typeface="Calibri" pitchFamily="34" charset="-120"/>
              </a:rPr>
              <a:t>The interpreter shows the YANG translation before applying — no surprises.</a:t>
            </a:r>
            <a:endParaRPr lang="en-US" sz="1200" dirty="0"/>
          </a:p>
          <a:p>
            <a:pPr marL="342900" indent="-342900">
              <a:spcAft>
                <a:spcPts val="600"/>
              </a:spcAft>
              <a:buSzPct val="100000"/>
              <a:buChar char="■"/>
            </a:pPr>
            <a:r>
              <a:rPr lang="en-US" sz="1200" dirty="0">
                <a:solidFill>
                  <a:srgbClr val="1A1E22"/>
                </a:solidFill>
                <a:latin typeface="Calibri" pitchFamily="34" charset="0"/>
                <a:ea typeface="Calibri" pitchFamily="34" charset="-122"/>
                <a:cs typeface="Calibri" pitchFamily="34" charset="-120"/>
              </a:rPr>
              <a:t>Ambiguous requests return rephrasing suggestions, not broken deploys.</a:t>
            </a:r>
            <a:endParaRPr lang="en-US" sz="1200" dirty="0"/>
          </a:p>
          <a:p>
            <a:pPr marL="342900" indent="-342900">
              <a:spcAft>
                <a:spcPts val="600"/>
              </a:spcAft>
              <a:buSzPct val="100000"/>
              <a:buChar char="■"/>
            </a:pPr>
            <a:r>
              <a:rPr lang="en-US" sz="1200" dirty="0">
                <a:solidFill>
                  <a:srgbClr val="1A1E22"/>
                </a:solidFill>
                <a:latin typeface="Calibri" pitchFamily="34" charset="0"/>
                <a:ea typeface="Calibri" pitchFamily="34" charset="-122"/>
                <a:cs typeface="Calibri" pitchFamily="34" charset="-120"/>
              </a:rPr>
              <a:t>All NLP runs locally — no external LLM calls, no sensitive data leaves the network.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ARCHITECTURE</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System architecture — microservices, containerized, event-driven</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11 / 25</a:t>
            </a:r>
            <a:endParaRPr lang="en-US" sz="900" dirty="0"/>
          </a:p>
        </p:txBody>
      </p:sp>
      <p:sp>
        <p:nvSpPr>
          <p:cNvPr id="7" name="Text 5"/>
          <p:cNvSpPr/>
          <p:nvPr/>
        </p:nvSpPr>
        <p:spPr>
          <a:xfrm>
            <a:off x="502920" y="1600200"/>
            <a:ext cx="11155680" cy="274320"/>
          </a:xfrm>
          <a:prstGeom prst="rect">
            <a:avLst/>
          </a:prstGeom>
          <a:noFill/>
          <a:ln/>
        </p:spPr>
        <p:txBody>
          <a:bodyPr wrap="square" lIns="0" tIns="0" rIns="0" bIns="0" rtlCol="0" anchor="ctr"/>
          <a:lstStyle/>
          <a:p>
            <a:pPr marL="0" indent="0">
              <a:buNone/>
            </a:pPr>
            <a:r>
              <a:rPr lang="en-US" sz="1200" i="1" dirty="0">
                <a:solidFill>
                  <a:srgbClr val="6B737A"/>
                </a:solidFill>
                <a:latin typeface="Calibri" pitchFamily="34" charset="0"/>
                <a:ea typeface="Calibri" pitchFamily="34" charset="-122"/>
                <a:cs typeface="Calibri" pitchFamily="34" charset="-120"/>
              </a:rPr>
              <a:t>React + FastAPI + PyTorch + Redis + TimescaleDB</a:t>
            </a:r>
            <a:endParaRPr lang="en-US" sz="1200" dirty="0"/>
          </a:p>
        </p:txBody>
      </p:sp>
      <p:sp>
        <p:nvSpPr>
          <p:cNvPr id="8" name="Shape 6"/>
          <p:cNvSpPr/>
          <p:nvPr/>
        </p:nvSpPr>
        <p:spPr>
          <a:xfrm>
            <a:off x="502920" y="1965960"/>
            <a:ext cx="11155680" cy="960120"/>
          </a:xfrm>
          <a:prstGeom prst="rect">
            <a:avLst/>
          </a:prstGeom>
          <a:solidFill>
            <a:srgbClr val="EAE6F0"/>
          </a:solidFill>
          <a:ln w="9525">
            <a:solidFill>
              <a:srgbClr val="5B4E78"/>
            </a:solidFill>
            <a:prstDash val="solid"/>
          </a:ln>
        </p:spPr>
      </p:sp>
      <p:sp>
        <p:nvSpPr>
          <p:cNvPr id="9" name="Shape 7"/>
          <p:cNvSpPr/>
          <p:nvPr/>
        </p:nvSpPr>
        <p:spPr>
          <a:xfrm>
            <a:off x="502920" y="1965960"/>
            <a:ext cx="109728" cy="960120"/>
          </a:xfrm>
          <a:prstGeom prst="rect">
            <a:avLst/>
          </a:prstGeom>
          <a:solidFill>
            <a:srgbClr val="5B4E78"/>
          </a:solidFill>
          <a:ln w="12700">
            <a:solidFill>
              <a:srgbClr val="5B4E78"/>
            </a:solidFill>
            <a:prstDash val="solid"/>
          </a:ln>
        </p:spPr>
      </p:sp>
      <p:sp>
        <p:nvSpPr>
          <p:cNvPr id="10" name="Text 8"/>
          <p:cNvSpPr/>
          <p:nvPr/>
        </p:nvSpPr>
        <p:spPr>
          <a:xfrm>
            <a:off x="758952" y="2130552"/>
            <a:ext cx="3108960" cy="320040"/>
          </a:xfrm>
          <a:prstGeom prst="rect">
            <a:avLst/>
          </a:prstGeom>
          <a:noFill/>
          <a:ln/>
        </p:spPr>
        <p:txBody>
          <a:bodyPr wrap="square" lIns="0" tIns="0" rIns="0" bIns="0" rtlCol="0" anchor="ctr"/>
          <a:lstStyle/>
          <a:p>
            <a:pPr marL="0" indent="0">
              <a:buNone/>
            </a:pPr>
            <a:r>
              <a:rPr lang="en-US" sz="1300" b="1" kern="0" spc="300" dirty="0">
                <a:solidFill>
                  <a:srgbClr val="5B4E78"/>
                </a:solidFill>
                <a:latin typeface="Calibri" pitchFamily="34" charset="0"/>
                <a:ea typeface="Calibri" pitchFamily="34" charset="-122"/>
                <a:cs typeface="Calibri" pitchFamily="34" charset="-120"/>
              </a:rPr>
              <a:t>FRONTEND</a:t>
            </a:r>
            <a:endParaRPr lang="en-US" sz="1300" dirty="0"/>
          </a:p>
        </p:txBody>
      </p:sp>
      <p:sp>
        <p:nvSpPr>
          <p:cNvPr id="11" name="Text 9"/>
          <p:cNvSpPr/>
          <p:nvPr/>
        </p:nvSpPr>
        <p:spPr>
          <a:xfrm>
            <a:off x="758952" y="2496312"/>
            <a:ext cx="3108960" cy="32004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React 18 · TypeScript · D3.js · TailwindCSS · WebSocket</a:t>
            </a:r>
            <a:endParaRPr lang="en-US" sz="1000" dirty="0"/>
          </a:p>
        </p:txBody>
      </p:sp>
      <p:sp>
        <p:nvSpPr>
          <p:cNvPr id="12" name="Shape 10"/>
          <p:cNvSpPr/>
          <p:nvPr/>
        </p:nvSpPr>
        <p:spPr>
          <a:xfrm>
            <a:off x="4023360" y="2075688"/>
            <a:ext cx="1826514" cy="740664"/>
          </a:xfrm>
          <a:prstGeom prst="rect">
            <a:avLst/>
          </a:prstGeom>
          <a:solidFill>
            <a:srgbClr val="FFFFFF"/>
          </a:solidFill>
          <a:ln w="9525">
            <a:solidFill>
              <a:srgbClr val="5B4E78"/>
            </a:solidFill>
            <a:prstDash val="solid"/>
          </a:ln>
        </p:spPr>
      </p:sp>
      <p:sp>
        <p:nvSpPr>
          <p:cNvPr id="13" name="Text 11"/>
          <p:cNvSpPr/>
          <p:nvPr/>
        </p:nvSpPr>
        <p:spPr>
          <a:xfrm>
            <a:off x="4096512" y="2075688"/>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IBN Console</a:t>
            </a:r>
            <a:endParaRPr lang="en-US" sz="1000" dirty="0"/>
          </a:p>
        </p:txBody>
      </p:sp>
      <p:sp>
        <p:nvSpPr>
          <p:cNvPr id="14" name="Shape 12"/>
          <p:cNvSpPr/>
          <p:nvPr/>
        </p:nvSpPr>
        <p:spPr>
          <a:xfrm>
            <a:off x="5959602" y="2075688"/>
            <a:ext cx="1826514" cy="740664"/>
          </a:xfrm>
          <a:prstGeom prst="rect">
            <a:avLst/>
          </a:prstGeom>
          <a:solidFill>
            <a:srgbClr val="FFFFFF"/>
          </a:solidFill>
          <a:ln w="9525">
            <a:solidFill>
              <a:srgbClr val="5B4E78"/>
            </a:solidFill>
            <a:prstDash val="solid"/>
          </a:ln>
        </p:spPr>
      </p:sp>
      <p:sp>
        <p:nvSpPr>
          <p:cNvPr id="15" name="Text 13"/>
          <p:cNvSpPr/>
          <p:nvPr/>
        </p:nvSpPr>
        <p:spPr>
          <a:xfrm>
            <a:off x="6032754" y="2075688"/>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Health Scoreboard</a:t>
            </a:r>
            <a:endParaRPr lang="en-US" sz="1000" dirty="0"/>
          </a:p>
        </p:txBody>
      </p:sp>
      <p:sp>
        <p:nvSpPr>
          <p:cNvPr id="16" name="Shape 14"/>
          <p:cNvSpPr/>
          <p:nvPr/>
        </p:nvSpPr>
        <p:spPr>
          <a:xfrm>
            <a:off x="7895844" y="2075688"/>
            <a:ext cx="1826514" cy="740664"/>
          </a:xfrm>
          <a:prstGeom prst="rect">
            <a:avLst/>
          </a:prstGeom>
          <a:solidFill>
            <a:srgbClr val="FFFFFF"/>
          </a:solidFill>
          <a:ln w="9525">
            <a:solidFill>
              <a:srgbClr val="5B4E78"/>
            </a:solidFill>
            <a:prstDash val="solid"/>
          </a:ln>
        </p:spPr>
      </p:sp>
      <p:sp>
        <p:nvSpPr>
          <p:cNvPr id="17" name="Text 15"/>
          <p:cNvSpPr/>
          <p:nvPr/>
        </p:nvSpPr>
        <p:spPr>
          <a:xfrm>
            <a:off x="7968996" y="2075688"/>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Digital Twin Viewer</a:t>
            </a:r>
            <a:endParaRPr lang="en-US" sz="1000" dirty="0"/>
          </a:p>
        </p:txBody>
      </p:sp>
      <p:sp>
        <p:nvSpPr>
          <p:cNvPr id="18" name="Shape 16"/>
          <p:cNvSpPr/>
          <p:nvPr/>
        </p:nvSpPr>
        <p:spPr>
          <a:xfrm>
            <a:off x="9832086" y="2075688"/>
            <a:ext cx="1826514" cy="740664"/>
          </a:xfrm>
          <a:prstGeom prst="rect">
            <a:avLst/>
          </a:prstGeom>
          <a:solidFill>
            <a:srgbClr val="FFFFFF"/>
          </a:solidFill>
          <a:ln w="9525">
            <a:solidFill>
              <a:srgbClr val="5B4E78"/>
            </a:solidFill>
            <a:prstDash val="solid"/>
          </a:ln>
        </p:spPr>
      </p:sp>
      <p:sp>
        <p:nvSpPr>
          <p:cNvPr id="19" name="Text 17"/>
          <p:cNvSpPr/>
          <p:nvPr/>
        </p:nvSpPr>
        <p:spPr>
          <a:xfrm>
            <a:off x="9905238" y="2075688"/>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Admin Panel</a:t>
            </a:r>
            <a:endParaRPr lang="en-US" sz="1000" dirty="0"/>
          </a:p>
        </p:txBody>
      </p:sp>
      <p:sp>
        <p:nvSpPr>
          <p:cNvPr id="20" name="Shape 18"/>
          <p:cNvSpPr/>
          <p:nvPr/>
        </p:nvSpPr>
        <p:spPr>
          <a:xfrm>
            <a:off x="502920" y="2999232"/>
            <a:ext cx="11155680" cy="960120"/>
          </a:xfrm>
          <a:prstGeom prst="rect">
            <a:avLst/>
          </a:prstGeom>
          <a:solidFill>
            <a:srgbClr val="E3EBEE"/>
          </a:solidFill>
          <a:ln w="9525">
            <a:solidFill>
              <a:srgbClr val="3E5B6B"/>
            </a:solidFill>
            <a:prstDash val="solid"/>
          </a:ln>
        </p:spPr>
      </p:sp>
      <p:sp>
        <p:nvSpPr>
          <p:cNvPr id="21" name="Shape 19"/>
          <p:cNvSpPr/>
          <p:nvPr/>
        </p:nvSpPr>
        <p:spPr>
          <a:xfrm>
            <a:off x="502920" y="2999232"/>
            <a:ext cx="109728" cy="960120"/>
          </a:xfrm>
          <a:prstGeom prst="rect">
            <a:avLst/>
          </a:prstGeom>
          <a:solidFill>
            <a:srgbClr val="3E5B6B"/>
          </a:solidFill>
          <a:ln w="12700">
            <a:solidFill>
              <a:srgbClr val="3E5B6B"/>
            </a:solidFill>
            <a:prstDash val="solid"/>
          </a:ln>
        </p:spPr>
      </p:sp>
      <p:sp>
        <p:nvSpPr>
          <p:cNvPr id="22" name="Text 20"/>
          <p:cNvSpPr/>
          <p:nvPr/>
        </p:nvSpPr>
        <p:spPr>
          <a:xfrm>
            <a:off x="758952" y="3163824"/>
            <a:ext cx="3108960" cy="320040"/>
          </a:xfrm>
          <a:prstGeom prst="rect">
            <a:avLst/>
          </a:prstGeom>
          <a:noFill/>
          <a:ln/>
        </p:spPr>
        <p:txBody>
          <a:bodyPr wrap="square" lIns="0" tIns="0" rIns="0" bIns="0" rtlCol="0" anchor="ctr"/>
          <a:lstStyle/>
          <a:p>
            <a:pPr marL="0" indent="0">
              <a:buNone/>
            </a:pPr>
            <a:r>
              <a:rPr lang="en-US" sz="1300" b="1" kern="0" spc="300" dirty="0">
                <a:solidFill>
                  <a:srgbClr val="3E5B6B"/>
                </a:solidFill>
                <a:latin typeface="Calibri" pitchFamily="34" charset="0"/>
                <a:ea typeface="Calibri" pitchFamily="34" charset="-122"/>
                <a:cs typeface="Calibri" pitchFamily="34" charset="-120"/>
              </a:rPr>
              <a:t>API GATEWAY</a:t>
            </a:r>
            <a:endParaRPr lang="en-US" sz="1300" dirty="0"/>
          </a:p>
        </p:txBody>
      </p:sp>
      <p:sp>
        <p:nvSpPr>
          <p:cNvPr id="23" name="Text 21"/>
          <p:cNvSpPr/>
          <p:nvPr/>
        </p:nvSpPr>
        <p:spPr>
          <a:xfrm>
            <a:off x="758952" y="3529584"/>
            <a:ext cx="3108960" cy="32004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FastAPI (Python 3.11+) · Auth/RBAC · Policy Engine · OpenAPI</a:t>
            </a:r>
            <a:endParaRPr lang="en-US" sz="1000" dirty="0"/>
          </a:p>
        </p:txBody>
      </p:sp>
      <p:sp>
        <p:nvSpPr>
          <p:cNvPr id="24" name="Shape 22"/>
          <p:cNvSpPr/>
          <p:nvPr/>
        </p:nvSpPr>
        <p:spPr>
          <a:xfrm>
            <a:off x="4023360" y="3108960"/>
            <a:ext cx="1826514" cy="740664"/>
          </a:xfrm>
          <a:prstGeom prst="rect">
            <a:avLst/>
          </a:prstGeom>
          <a:solidFill>
            <a:srgbClr val="FFFFFF"/>
          </a:solidFill>
          <a:ln w="9525">
            <a:solidFill>
              <a:srgbClr val="3E5B6B"/>
            </a:solidFill>
            <a:prstDash val="solid"/>
          </a:ln>
        </p:spPr>
      </p:sp>
      <p:sp>
        <p:nvSpPr>
          <p:cNvPr id="25" name="Text 23"/>
          <p:cNvSpPr/>
          <p:nvPr/>
        </p:nvSpPr>
        <p:spPr>
          <a:xfrm>
            <a:off x="4096512" y="3108960"/>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Auth Middleware</a:t>
            </a:r>
            <a:endParaRPr lang="en-US" sz="1000" dirty="0"/>
          </a:p>
        </p:txBody>
      </p:sp>
      <p:sp>
        <p:nvSpPr>
          <p:cNvPr id="26" name="Shape 24"/>
          <p:cNvSpPr/>
          <p:nvPr/>
        </p:nvSpPr>
        <p:spPr>
          <a:xfrm>
            <a:off x="5959602" y="3108960"/>
            <a:ext cx="1826514" cy="740664"/>
          </a:xfrm>
          <a:prstGeom prst="rect">
            <a:avLst/>
          </a:prstGeom>
          <a:solidFill>
            <a:srgbClr val="FFFFFF"/>
          </a:solidFill>
          <a:ln w="9525">
            <a:solidFill>
              <a:srgbClr val="3E5B6B"/>
            </a:solidFill>
            <a:prstDash val="solid"/>
          </a:ln>
        </p:spPr>
      </p:sp>
      <p:sp>
        <p:nvSpPr>
          <p:cNvPr id="27" name="Text 25"/>
          <p:cNvSpPr/>
          <p:nvPr/>
        </p:nvSpPr>
        <p:spPr>
          <a:xfrm>
            <a:off x="6032754" y="3108960"/>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WebSocket Mgr</a:t>
            </a:r>
            <a:endParaRPr lang="en-US" sz="1000" dirty="0"/>
          </a:p>
        </p:txBody>
      </p:sp>
      <p:sp>
        <p:nvSpPr>
          <p:cNvPr id="28" name="Shape 26"/>
          <p:cNvSpPr/>
          <p:nvPr/>
        </p:nvSpPr>
        <p:spPr>
          <a:xfrm>
            <a:off x="7895844" y="3108960"/>
            <a:ext cx="1826514" cy="740664"/>
          </a:xfrm>
          <a:prstGeom prst="rect">
            <a:avLst/>
          </a:prstGeom>
          <a:solidFill>
            <a:srgbClr val="FFFFFF"/>
          </a:solidFill>
          <a:ln w="9525">
            <a:solidFill>
              <a:srgbClr val="3E5B6B"/>
            </a:solidFill>
            <a:prstDash val="solid"/>
          </a:ln>
        </p:spPr>
      </p:sp>
      <p:sp>
        <p:nvSpPr>
          <p:cNvPr id="29" name="Text 27"/>
          <p:cNvSpPr/>
          <p:nvPr/>
        </p:nvSpPr>
        <p:spPr>
          <a:xfrm>
            <a:off x="7968996" y="3108960"/>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Policy Router</a:t>
            </a:r>
            <a:endParaRPr lang="en-US" sz="1000" dirty="0"/>
          </a:p>
        </p:txBody>
      </p:sp>
      <p:sp>
        <p:nvSpPr>
          <p:cNvPr id="30" name="Shape 28"/>
          <p:cNvSpPr/>
          <p:nvPr/>
        </p:nvSpPr>
        <p:spPr>
          <a:xfrm>
            <a:off x="9832086" y="3108960"/>
            <a:ext cx="1826514" cy="740664"/>
          </a:xfrm>
          <a:prstGeom prst="rect">
            <a:avLst/>
          </a:prstGeom>
          <a:solidFill>
            <a:srgbClr val="FFFFFF"/>
          </a:solidFill>
          <a:ln w="9525">
            <a:solidFill>
              <a:srgbClr val="3E5B6B"/>
            </a:solidFill>
            <a:prstDash val="solid"/>
          </a:ln>
        </p:spPr>
      </p:sp>
      <p:sp>
        <p:nvSpPr>
          <p:cNvPr id="31" name="Text 29"/>
          <p:cNvSpPr/>
          <p:nvPr/>
        </p:nvSpPr>
        <p:spPr>
          <a:xfrm>
            <a:off x="9905238" y="3108960"/>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REST Endpoints</a:t>
            </a:r>
            <a:endParaRPr lang="en-US" sz="1000" dirty="0"/>
          </a:p>
        </p:txBody>
      </p:sp>
      <p:sp>
        <p:nvSpPr>
          <p:cNvPr id="32" name="Shape 30"/>
          <p:cNvSpPr/>
          <p:nvPr/>
        </p:nvSpPr>
        <p:spPr>
          <a:xfrm>
            <a:off x="502920" y="4032504"/>
            <a:ext cx="11155680" cy="960120"/>
          </a:xfrm>
          <a:prstGeom prst="rect">
            <a:avLst/>
          </a:prstGeom>
          <a:solidFill>
            <a:srgbClr val="E3ECE6"/>
          </a:solidFill>
          <a:ln w="9525">
            <a:solidFill>
              <a:srgbClr val="3E5B4A"/>
            </a:solidFill>
            <a:prstDash val="solid"/>
          </a:ln>
        </p:spPr>
      </p:sp>
      <p:sp>
        <p:nvSpPr>
          <p:cNvPr id="33" name="Shape 31"/>
          <p:cNvSpPr/>
          <p:nvPr/>
        </p:nvSpPr>
        <p:spPr>
          <a:xfrm>
            <a:off x="502920" y="4032504"/>
            <a:ext cx="109728" cy="960120"/>
          </a:xfrm>
          <a:prstGeom prst="rect">
            <a:avLst/>
          </a:prstGeom>
          <a:solidFill>
            <a:srgbClr val="3E5B4A"/>
          </a:solidFill>
          <a:ln w="12700">
            <a:solidFill>
              <a:srgbClr val="3E5B4A"/>
            </a:solidFill>
            <a:prstDash val="solid"/>
          </a:ln>
        </p:spPr>
      </p:sp>
      <p:sp>
        <p:nvSpPr>
          <p:cNvPr id="34" name="Text 32"/>
          <p:cNvSpPr/>
          <p:nvPr/>
        </p:nvSpPr>
        <p:spPr>
          <a:xfrm>
            <a:off x="758952" y="4197096"/>
            <a:ext cx="3108960" cy="320040"/>
          </a:xfrm>
          <a:prstGeom prst="rect">
            <a:avLst/>
          </a:prstGeom>
          <a:noFill/>
          <a:ln/>
        </p:spPr>
        <p:txBody>
          <a:bodyPr wrap="square" lIns="0" tIns="0" rIns="0" bIns="0" rtlCol="0" anchor="ctr"/>
          <a:lstStyle/>
          <a:p>
            <a:pPr marL="0" indent="0">
              <a:buNone/>
            </a:pPr>
            <a:r>
              <a:rPr lang="en-US" sz="1300" b="1" kern="0" spc="300" dirty="0">
                <a:solidFill>
                  <a:srgbClr val="3E5B4A"/>
                </a:solidFill>
                <a:latin typeface="Calibri" pitchFamily="34" charset="0"/>
                <a:ea typeface="Calibri" pitchFamily="34" charset="-122"/>
                <a:cs typeface="Calibri" pitchFamily="34" charset="-120"/>
              </a:rPr>
              <a:t>CORE SERVICES</a:t>
            </a:r>
            <a:endParaRPr lang="en-US" sz="1300" dirty="0"/>
          </a:p>
        </p:txBody>
      </p:sp>
      <p:sp>
        <p:nvSpPr>
          <p:cNvPr id="35" name="Text 33"/>
          <p:cNvSpPr/>
          <p:nvPr/>
        </p:nvSpPr>
        <p:spPr>
          <a:xfrm>
            <a:off x="758952" y="4562856"/>
            <a:ext cx="3108960" cy="32004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Telemetry Ingestion · LSTM Prediction · Traffic Steering · Digital Twin</a:t>
            </a:r>
            <a:endParaRPr lang="en-US" sz="1000" dirty="0"/>
          </a:p>
        </p:txBody>
      </p:sp>
      <p:sp>
        <p:nvSpPr>
          <p:cNvPr id="36" name="Shape 34"/>
          <p:cNvSpPr/>
          <p:nvPr/>
        </p:nvSpPr>
        <p:spPr>
          <a:xfrm>
            <a:off x="4023360" y="4142232"/>
            <a:ext cx="1826514" cy="740664"/>
          </a:xfrm>
          <a:prstGeom prst="rect">
            <a:avLst/>
          </a:prstGeom>
          <a:solidFill>
            <a:srgbClr val="FFFFFF"/>
          </a:solidFill>
          <a:ln w="9525">
            <a:solidFill>
              <a:srgbClr val="3E5B4A"/>
            </a:solidFill>
            <a:prstDash val="solid"/>
          </a:ln>
        </p:spPr>
      </p:sp>
      <p:sp>
        <p:nvSpPr>
          <p:cNvPr id="37" name="Text 35"/>
          <p:cNvSpPr/>
          <p:nvPr/>
        </p:nvSpPr>
        <p:spPr>
          <a:xfrm>
            <a:off x="4096512" y="4142232"/>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Telemetry (SNMP/NetFlow)</a:t>
            </a:r>
            <a:endParaRPr lang="en-US" sz="1000" dirty="0"/>
          </a:p>
        </p:txBody>
      </p:sp>
      <p:sp>
        <p:nvSpPr>
          <p:cNvPr id="38" name="Shape 36"/>
          <p:cNvSpPr/>
          <p:nvPr/>
        </p:nvSpPr>
        <p:spPr>
          <a:xfrm>
            <a:off x="5959602" y="4142232"/>
            <a:ext cx="1826514" cy="740664"/>
          </a:xfrm>
          <a:prstGeom prst="rect">
            <a:avLst/>
          </a:prstGeom>
          <a:solidFill>
            <a:srgbClr val="FFFFFF"/>
          </a:solidFill>
          <a:ln w="9525">
            <a:solidFill>
              <a:srgbClr val="3E5B4A"/>
            </a:solidFill>
            <a:prstDash val="solid"/>
          </a:ln>
        </p:spPr>
      </p:sp>
      <p:sp>
        <p:nvSpPr>
          <p:cNvPr id="39" name="Text 37"/>
          <p:cNvSpPr/>
          <p:nvPr/>
        </p:nvSpPr>
        <p:spPr>
          <a:xfrm>
            <a:off x="6032754" y="4142232"/>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Prediction (PyTorch LSTM)</a:t>
            </a:r>
            <a:endParaRPr lang="en-US" sz="1000" dirty="0"/>
          </a:p>
        </p:txBody>
      </p:sp>
      <p:sp>
        <p:nvSpPr>
          <p:cNvPr id="40" name="Shape 38"/>
          <p:cNvSpPr/>
          <p:nvPr/>
        </p:nvSpPr>
        <p:spPr>
          <a:xfrm>
            <a:off x="7895844" y="4142232"/>
            <a:ext cx="1826514" cy="740664"/>
          </a:xfrm>
          <a:prstGeom prst="rect">
            <a:avLst/>
          </a:prstGeom>
          <a:solidFill>
            <a:srgbClr val="FFFFFF"/>
          </a:solidFill>
          <a:ln w="9525">
            <a:solidFill>
              <a:srgbClr val="3E5B4A"/>
            </a:solidFill>
            <a:prstDash val="solid"/>
          </a:ln>
        </p:spPr>
      </p:sp>
      <p:sp>
        <p:nvSpPr>
          <p:cNvPr id="41" name="Text 39"/>
          <p:cNvSpPr/>
          <p:nvPr/>
        </p:nvSpPr>
        <p:spPr>
          <a:xfrm>
            <a:off x="7968996" y="4142232"/>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Steering (SDN Clients)</a:t>
            </a:r>
            <a:endParaRPr lang="en-US" sz="1000" dirty="0"/>
          </a:p>
        </p:txBody>
      </p:sp>
      <p:sp>
        <p:nvSpPr>
          <p:cNvPr id="42" name="Shape 40"/>
          <p:cNvSpPr/>
          <p:nvPr/>
        </p:nvSpPr>
        <p:spPr>
          <a:xfrm>
            <a:off x="9832086" y="4142232"/>
            <a:ext cx="1826514" cy="740664"/>
          </a:xfrm>
          <a:prstGeom prst="rect">
            <a:avLst/>
          </a:prstGeom>
          <a:solidFill>
            <a:srgbClr val="FFFFFF"/>
          </a:solidFill>
          <a:ln w="9525">
            <a:solidFill>
              <a:srgbClr val="3E5B4A"/>
            </a:solidFill>
            <a:prstDash val="solid"/>
          </a:ln>
        </p:spPr>
      </p:sp>
      <p:sp>
        <p:nvSpPr>
          <p:cNvPr id="43" name="Text 41"/>
          <p:cNvSpPr/>
          <p:nvPr/>
        </p:nvSpPr>
        <p:spPr>
          <a:xfrm>
            <a:off x="9905238" y="4142232"/>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Twin (Mininet+Batfish)</a:t>
            </a:r>
            <a:endParaRPr lang="en-US" sz="1000" dirty="0"/>
          </a:p>
        </p:txBody>
      </p:sp>
      <p:sp>
        <p:nvSpPr>
          <p:cNvPr id="44" name="Shape 42"/>
          <p:cNvSpPr/>
          <p:nvPr/>
        </p:nvSpPr>
        <p:spPr>
          <a:xfrm>
            <a:off x="502920" y="5065776"/>
            <a:ext cx="11155680" cy="960120"/>
          </a:xfrm>
          <a:prstGeom prst="rect">
            <a:avLst/>
          </a:prstGeom>
          <a:solidFill>
            <a:srgbClr val="EEE9DF"/>
          </a:solidFill>
          <a:ln w="9525">
            <a:solidFill>
              <a:srgbClr val="6B5940"/>
            </a:solidFill>
            <a:prstDash val="solid"/>
          </a:ln>
        </p:spPr>
      </p:sp>
      <p:sp>
        <p:nvSpPr>
          <p:cNvPr id="45" name="Shape 43"/>
          <p:cNvSpPr/>
          <p:nvPr/>
        </p:nvSpPr>
        <p:spPr>
          <a:xfrm>
            <a:off x="502920" y="5065776"/>
            <a:ext cx="109728" cy="960120"/>
          </a:xfrm>
          <a:prstGeom prst="rect">
            <a:avLst/>
          </a:prstGeom>
          <a:solidFill>
            <a:srgbClr val="6B5940"/>
          </a:solidFill>
          <a:ln w="12700">
            <a:solidFill>
              <a:srgbClr val="6B5940"/>
            </a:solidFill>
            <a:prstDash val="solid"/>
          </a:ln>
        </p:spPr>
      </p:sp>
      <p:sp>
        <p:nvSpPr>
          <p:cNvPr id="46" name="Text 44"/>
          <p:cNvSpPr/>
          <p:nvPr/>
        </p:nvSpPr>
        <p:spPr>
          <a:xfrm>
            <a:off x="758952" y="5230368"/>
            <a:ext cx="3108960" cy="320040"/>
          </a:xfrm>
          <a:prstGeom prst="rect">
            <a:avLst/>
          </a:prstGeom>
          <a:noFill/>
          <a:ln/>
        </p:spPr>
        <p:txBody>
          <a:bodyPr wrap="square" lIns="0" tIns="0" rIns="0" bIns="0" rtlCol="0" anchor="ctr"/>
          <a:lstStyle/>
          <a:p>
            <a:pPr marL="0" indent="0">
              <a:buNone/>
            </a:pPr>
            <a:r>
              <a:rPr lang="en-US" sz="1300" b="1" kern="0" spc="300" dirty="0">
                <a:solidFill>
                  <a:srgbClr val="6B5940"/>
                </a:solidFill>
                <a:latin typeface="Calibri" pitchFamily="34" charset="0"/>
                <a:ea typeface="Calibri" pitchFamily="34" charset="-122"/>
                <a:cs typeface="Calibri" pitchFamily="34" charset="-120"/>
              </a:rPr>
              <a:t>DATA / INFRA</a:t>
            </a:r>
            <a:endParaRPr lang="en-US" sz="1300" dirty="0"/>
          </a:p>
        </p:txBody>
      </p:sp>
      <p:sp>
        <p:nvSpPr>
          <p:cNvPr id="47" name="Text 45"/>
          <p:cNvSpPr/>
          <p:nvPr/>
        </p:nvSpPr>
        <p:spPr>
          <a:xfrm>
            <a:off x="758952" y="5596128"/>
            <a:ext cx="3108960" cy="32004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TimescaleDB · Redis 7+ Streams · OpenDaylight/ONOS · Docker Compose</a:t>
            </a:r>
            <a:endParaRPr lang="en-US" sz="1000" dirty="0"/>
          </a:p>
        </p:txBody>
      </p:sp>
      <p:sp>
        <p:nvSpPr>
          <p:cNvPr id="48" name="Shape 46"/>
          <p:cNvSpPr/>
          <p:nvPr/>
        </p:nvSpPr>
        <p:spPr>
          <a:xfrm>
            <a:off x="4023360" y="5175504"/>
            <a:ext cx="1826514" cy="740664"/>
          </a:xfrm>
          <a:prstGeom prst="rect">
            <a:avLst/>
          </a:prstGeom>
          <a:solidFill>
            <a:srgbClr val="FFFFFF"/>
          </a:solidFill>
          <a:ln w="9525">
            <a:solidFill>
              <a:srgbClr val="6B5940"/>
            </a:solidFill>
            <a:prstDash val="solid"/>
          </a:ln>
        </p:spPr>
      </p:sp>
      <p:sp>
        <p:nvSpPr>
          <p:cNvPr id="49" name="Text 47"/>
          <p:cNvSpPr/>
          <p:nvPr/>
        </p:nvSpPr>
        <p:spPr>
          <a:xfrm>
            <a:off x="4096512" y="5175504"/>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TimescaleDB</a:t>
            </a:r>
            <a:endParaRPr lang="en-US" sz="1000" dirty="0"/>
          </a:p>
        </p:txBody>
      </p:sp>
      <p:sp>
        <p:nvSpPr>
          <p:cNvPr id="50" name="Shape 48"/>
          <p:cNvSpPr/>
          <p:nvPr/>
        </p:nvSpPr>
        <p:spPr>
          <a:xfrm>
            <a:off x="5959602" y="5175504"/>
            <a:ext cx="1826514" cy="740664"/>
          </a:xfrm>
          <a:prstGeom prst="rect">
            <a:avLst/>
          </a:prstGeom>
          <a:solidFill>
            <a:srgbClr val="FFFFFF"/>
          </a:solidFill>
          <a:ln w="9525">
            <a:solidFill>
              <a:srgbClr val="6B5940"/>
            </a:solidFill>
            <a:prstDash val="solid"/>
          </a:ln>
        </p:spPr>
      </p:sp>
      <p:sp>
        <p:nvSpPr>
          <p:cNvPr id="51" name="Text 49"/>
          <p:cNvSpPr/>
          <p:nvPr/>
        </p:nvSpPr>
        <p:spPr>
          <a:xfrm>
            <a:off x="6032754" y="5175504"/>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Redis Streams</a:t>
            </a:r>
            <a:endParaRPr lang="en-US" sz="1000" dirty="0"/>
          </a:p>
        </p:txBody>
      </p:sp>
      <p:sp>
        <p:nvSpPr>
          <p:cNvPr id="52" name="Shape 50"/>
          <p:cNvSpPr/>
          <p:nvPr/>
        </p:nvSpPr>
        <p:spPr>
          <a:xfrm>
            <a:off x="7895844" y="5175504"/>
            <a:ext cx="1826514" cy="740664"/>
          </a:xfrm>
          <a:prstGeom prst="rect">
            <a:avLst/>
          </a:prstGeom>
          <a:solidFill>
            <a:srgbClr val="FFFFFF"/>
          </a:solidFill>
          <a:ln w="9525">
            <a:solidFill>
              <a:srgbClr val="6B5940"/>
            </a:solidFill>
            <a:prstDash val="solid"/>
          </a:ln>
        </p:spPr>
      </p:sp>
      <p:sp>
        <p:nvSpPr>
          <p:cNvPr id="53" name="Text 51"/>
          <p:cNvSpPr/>
          <p:nvPr/>
        </p:nvSpPr>
        <p:spPr>
          <a:xfrm>
            <a:off x="7968996" y="5175504"/>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SDN Controllers</a:t>
            </a:r>
            <a:endParaRPr lang="en-US" sz="1000" dirty="0"/>
          </a:p>
        </p:txBody>
      </p:sp>
      <p:sp>
        <p:nvSpPr>
          <p:cNvPr id="54" name="Shape 52"/>
          <p:cNvSpPr/>
          <p:nvPr/>
        </p:nvSpPr>
        <p:spPr>
          <a:xfrm>
            <a:off x="9832086" y="5175504"/>
            <a:ext cx="1826514" cy="740664"/>
          </a:xfrm>
          <a:prstGeom prst="rect">
            <a:avLst/>
          </a:prstGeom>
          <a:solidFill>
            <a:srgbClr val="FFFFFF"/>
          </a:solidFill>
          <a:ln w="9525">
            <a:solidFill>
              <a:srgbClr val="6B5940"/>
            </a:solidFill>
            <a:prstDash val="solid"/>
          </a:ln>
        </p:spPr>
      </p:sp>
      <p:sp>
        <p:nvSpPr>
          <p:cNvPr id="55" name="Text 53"/>
          <p:cNvSpPr/>
          <p:nvPr/>
        </p:nvSpPr>
        <p:spPr>
          <a:xfrm>
            <a:off x="9905238" y="5175504"/>
            <a:ext cx="1680210" cy="740664"/>
          </a:xfrm>
          <a:prstGeom prst="rect">
            <a:avLst/>
          </a:prstGeom>
          <a:noFill/>
          <a:ln/>
        </p:spPr>
        <p:txBody>
          <a:bodyPr wrap="square" lIns="0" tIns="0" rIns="0" bIns="0" rtlCol="0" anchor="ctr"/>
          <a:lstStyle/>
          <a:p>
            <a:pPr marL="0" indent="0" algn="ctr">
              <a:buNone/>
            </a:pPr>
            <a:r>
              <a:rPr lang="en-US" sz="1000" b="1" dirty="0">
                <a:solidFill>
                  <a:srgbClr val="1A1E22"/>
                </a:solidFill>
                <a:latin typeface="Calibri" pitchFamily="34" charset="0"/>
                <a:ea typeface="Calibri" pitchFamily="34" charset="-122"/>
                <a:cs typeface="Calibri" pitchFamily="34" charset="-120"/>
              </a:rPr>
              <a:t>Docker / GitHub CI</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STACK</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Tech stack — the specific tools we chose</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12 / 25</a:t>
            </a:r>
            <a:endParaRPr lang="en-US" sz="900" dirty="0"/>
          </a:p>
        </p:txBody>
      </p:sp>
      <p:sp>
        <p:nvSpPr>
          <p:cNvPr id="7" name="Shape 5"/>
          <p:cNvSpPr/>
          <p:nvPr/>
        </p:nvSpPr>
        <p:spPr>
          <a:xfrm>
            <a:off x="548640" y="1828800"/>
            <a:ext cx="11064240" cy="384048"/>
          </a:xfrm>
          <a:prstGeom prst="rect">
            <a:avLst/>
          </a:prstGeom>
          <a:solidFill>
            <a:srgbClr val="36454F"/>
          </a:solidFill>
          <a:ln w="12700">
            <a:solidFill>
              <a:srgbClr val="36454F"/>
            </a:solidFill>
            <a:prstDash val="solid"/>
          </a:ln>
        </p:spPr>
      </p:sp>
      <p:sp>
        <p:nvSpPr>
          <p:cNvPr id="8" name="Text 6"/>
          <p:cNvSpPr/>
          <p:nvPr/>
        </p:nvSpPr>
        <p:spPr>
          <a:xfrm>
            <a:off x="731520" y="1883664"/>
            <a:ext cx="219456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Layer</a:t>
            </a:r>
            <a:endParaRPr lang="en-US" sz="1200" dirty="0"/>
          </a:p>
        </p:txBody>
      </p:sp>
      <p:sp>
        <p:nvSpPr>
          <p:cNvPr id="9" name="Text 7"/>
          <p:cNvSpPr/>
          <p:nvPr/>
        </p:nvSpPr>
        <p:spPr>
          <a:xfrm>
            <a:off x="3108960" y="1883664"/>
            <a:ext cx="347472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Technology</a:t>
            </a:r>
            <a:endParaRPr lang="en-US" sz="1200" dirty="0"/>
          </a:p>
        </p:txBody>
      </p:sp>
      <p:sp>
        <p:nvSpPr>
          <p:cNvPr id="10" name="Text 8"/>
          <p:cNvSpPr/>
          <p:nvPr/>
        </p:nvSpPr>
        <p:spPr>
          <a:xfrm>
            <a:off x="6766560" y="1883664"/>
            <a:ext cx="484632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Why we chose it</a:t>
            </a:r>
            <a:endParaRPr lang="en-US" sz="1200" dirty="0"/>
          </a:p>
        </p:txBody>
      </p:sp>
      <p:sp>
        <p:nvSpPr>
          <p:cNvPr id="11" name="Shape 9"/>
          <p:cNvSpPr/>
          <p:nvPr/>
        </p:nvSpPr>
        <p:spPr>
          <a:xfrm>
            <a:off x="548640" y="2212848"/>
            <a:ext cx="11064240" cy="329184"/>
          </a:xfrm>
          <a:prstGeom prst="rect">
            <a:avLst/>
          </a:prstGeom>
          <a:solidFill>
            <a:srgbClr val="F1F2F4"/>
          </a:solidFill>
          <a:ln w="12700">
            <a:solidFill>
              <a:srgbClr val="F1F2F4"/>
            </a:solidFill>
            <a:prstDash val="solid"/>
          </a:ln>
        </p:spPr>
      </p:sp>
      <p:sp>
        <p:nvSpPr>
          <p:cNvPr id="12" name="Text 10"/>
          <p:cNvSpPr/>
          <p:nvPr/>
        </p:nvSpPr>
        <p:spPr>
          <a:xfrm>
            <a:off x="731520" y="2240280"/>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Prediction</a:t>
            </a:r>
            <a:endParaRPr lang="en-US" sz="1100" dirty="0"/>
          </a:p>
        </p:txBody>
      </p:sp>
      <p:sp>
        <p:nvSpPr>
          <p:cNvPr id="13" name="Text 11"/>
          <p:cNvSpPr/>
          <p:nvPr/>
        </p:nvSpPr>
        <p:spPr>
          <a:xfrm>
            <a:off x="3108960" y="2240280"/>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Python 3.11 + PyTorch 2.x</a:t>
            </a:r>
            <a:endParaRPr lang="en-US" sz="1100" dirty="0"/>
          </a:p>
        </p:txBody>
      </p:sp>
      <p:sp>
        <p:nvSpPr>
          <p:cNvPr id="14" name="Text 12"/>
          <p:cNvSpPr/>
          <p:nvPr/>
        </p:nvSpPr>
        <p:spPr>
          <a:xfrm>
            <a:off x="6766560" y="2240280"/>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Mature LSTM/attention ecosystem</a:t>
            </a:r>
            <a:endParaRPr lang="en-US" sz="1100" dirty="0"/>
          </a:p>
        </p:txBody>
      </p:sp>
      <p:sp>
        <p:nvSpPr>
          <p:cNvPr id="15" name="Text 13"/>
          <p:cNvSpPr/>
          <p:nvPr/>
        </p:nvSpPr>
        <p:spPr>
          <a:xfrm>
            <a:off x="731520" y="2569464"/>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Time-series DB</a:t>
            </a:r>
            <a:endParaRPr lang="en-US" sz="1100" dirty="0"/>
          </a:p>
        </p:txBody>
      </p:sp>
      <p:sp>
        <p:nvSpPr>
          <p:cNvPr id="16" name="Text 14"/>
          <p:cNvSpPr/>
          <p:nvPr/>
        </p:nvSpPr>
        <p:spPr>
          <a:xfrm>
            <a:off x="3108960" y="2569464"/>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TimescaleDB (Postgres ext.)</a:t>
            </a:r>
            <a:endParaRPr lang="en-US" sz="1100" dirty="0"/>
          </a:p>
        </p:txBody>
      </p:sp>
      <p:sp>
        <p:nvSpPr>
          <p:cNvPr id="17" name="Text 15"/>
          <p:cNvSpPr/>
          <p:nvPr/>
        </p:nvSpPr>
        <p:spPr>
          <a:xfrm>
            <a:off x="6766560" y="2569464"/>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Hypertables, continuous aggregates</a:t>
            </a:r>
            <a:endParaRPr lang="en-US" sz="1100" dirty="0"/>
          </a:p>
        </p:txBody>
      </p:sp>
      <p:sp>
        <p:nvSpPr>
          <p:cNvPr id="18" name="Shape 16"/>
          <p:cNvSpPr/>
          <p:nvPr/>
        </p:nvSpPr>
        <p:spPr>
          <a:xfrm>
            <a:off x="548640" y="2871216"/>
            <a:ext cx="11064240" cy="329184"/>
          </a:xfrm>
          <a:prstGeom prst="rect">
            <a:avLst/>
          </a:prstGeom>
          <a:solidFill>
            <a:srgbClr val="F1F2F4"/>
          </a:solidFill>
          <a:ln w="12700">
            <a:solidFill>
              <a:srgbClr val="F1F2F4"/>
            </a:solidFill>
            <a:prstDash val="solid"/>
          </a:ln>
        </p:spPr>
      </p:sp>
      <p:sp>
        <p:nvSpPr>
          <p:cNvPr id="19" name="Text 17"/>
          <p:cNvSpPr/>
          <p:nvPr/>
        </p:nvSpPr>
        <p:spPr>
          <a:xfrm>
            <a:off x="731520" y="2898648"/>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Message broker</a:t>
            </a:r>
            <a:endParaRPr lang="en-US" sz="1100" dirty="0"/>
          </a:p>
        </p:txBody>
      </p:sp>
      <p:sp>
        <p:nvSpPr>
          <p:cNvPr id="20" name="Text 18"/>
          <p:cNvSpPr/>
          <p:nvPr/>
        </p:nvSpPr>
        <p:spPr>
          <a:xfrm>
            <a:off x="3108960" y="2898648"/>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Redis 7.x pub/sub</a:t>
            </a:r>
            <a:endParaRPr lang="en-US" sz="1100" dirty="0"/>
          </a:p>
        </p:txBody>
      </p:sp>
      <p:sp>
        <p:nvSpPr>
          <p:cNvPr id="21" name="Text 19"/>
          <p:cNvSpPr/>
          <p:nvPr/>
        </p:nvSpPr>
        <p:spPr>
          <a:xfrm>
            <a:off x="6766560" y="2898648"/>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Millisecond fan-out</a:t>
            </a:r>
            <a:endParaRPr lang="en-US" sz="1100" dirty="0"/>
          </a:p>
        </p:txBody>
      </p:sp>
      <p:sp>
        <p:nvSpPr>
          <p:cNvPr id="22" name="Text 20"/>
          <p:cNvSpPr/>
          <p:nvPr/>
        </p:nvSpPr>
        <p:spPr>
          <a:xfrm>
            <a:off x="731520" y="3227832"/>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Backend API</a:t>
            </a:r>
            <a:endParaRPr lang="en-US" sz="1100" dirty="0"/>
          </a:p>
        </p:txBody>
      </p:sp>
      <p:sp>
        <p:nvSpPr>
          <p:cNvPr id="23" name="Text 21"/>
          <p:cNvSpPr/>
          <p:nvPr/>
        </p:nvSpPr>
        <p:spPr>
          <a:xfrm>
            <a:off x="3108960" y="3227832"/>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FastAPI + Uvicorn</a:t>
            </a:r>
            <a:endParaRPr lang="en-US" sz="1100" dirty="0"/>
          </a:p>
        </p:txBody>
      </p:sp>
      <p:sp>
        <p:nvSpPr>
          <p:cNvPr id="24" name="Text 22"/>
          <p:cNvSpPr/>
          <p:nvPr/>
        </p:nvSpPr>
        <p:spPr>
          <a:xfrm>
            <a:off x="6766560" y="3227832"/>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Async, OpenAPI out-of-box</a:t>
            </a:r>
            <a:endParaRPr lang="en-US" sz="1100" dirty="0"/>
          </a:p>
        </p:txBody>
      </p:sp>
      <p:sp>
        <p:nvSpPr>
          <p:cNvPr id="25" name="Shape 23"/>
          <p:cNvSpPr/>
          <p:nvPr/>
        </p:nvSpPr>
        <p:spPr>
          <a:xfrm>
            <a:off x="548640" y="3529584"/>
            <a:ext cx="11064240" cy="329184"/>
          </a:xfrm>
          <a:prstGeom prst="rect">
            <a:avLst/>
          </a:prstGeom>
          <a:solidFill>
            <a:srgbClr val="F1F2F4"/>
          </a:solidFill>
          <a:ln w="12700">
            <a:solidFill>
              <a:srgbClr val="F1F2F4"/>
            </a:solidFill>
            <a:prstDash val="solid"/>
          </a:ln>
        </p:spPr>
      </p:sp>
      <p:sp>
        <p:nvSpPr>
          <p:cNvPr id="26" name="Text 24"/>
          <p:cNvSpPr/>
          <p:nvPr/>
        </p:nvSpPr>
        <p:spPr>
          <a:xfrm>
            <a:off x="731520" y="3557016"/>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SDN controllers</a:t>
            </a:r>
            <a:endParaRPr lang="en-US" sz="1100" dirty="0"/>
          </a:p>
        </p:txBody>
      </p:sp>
      <p:sp>
        <p:nvSpPr>
          <p:cNvPr id="27" name="Text 25"/>
          <p:cNvSpPr/>
          <p:nvPr/>
        </p:nvSpPr>
        <p:spPr>
          <a:xfrm>
            <a:off x="3108960" y="3557016"/>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OpenDaylight + ONOS</a:t>
            </a:r>
            <a:endParaRPr lang="en-US" sz="1100" dirty="0"/>
          </a:p>
        </p:txBody>
      </p:sp>
      <p:sp>
        <p:nvSpPr>
          <p:cNvPr id="28" name="Text 26"/>
          <p:cNvSpPr/>
          <p:nvPr/>
        </p:nvSpPr>
        <p:spPr>
          <a:xfrm>
            <a:off x="6766560" y="3557016"/>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Two dominant open SDN stacks</a:t>
            </a:r>
            <a:endParaRPr lang="en-US" sz="1100" dirty="0"/>
          </a:p>
        </p:txBody>
      </p:sp>
      <p:sp>
        <p:nvSpPr>
          <p:cNvPr id="29" name="Text 27"/>
          <p:cNvSpPr/>
          <p:nvPr/>
        </p:nvSpPr>
        <p:spPr>
          <a:xfrm>
            <a:off x="731520" y="3886200"/>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Network emulation</a:t>
            </a:r>
            <a:endParaRPr lang="en-US" sz="1100" dirty="0"/>
          </a:p>
        </p:txBody>
      </p:sp>
      <p:sp>
        <p:nvSpPr>
          <p:cNvPr id="30" name="Text 28"/>
          <p:cNvSpPr/>
          <p:nvPr/>
        </p:nvSpPr>
        <p:spPr>
          <a:xfrm>
            <a:off x="3108960" y="3886200"/>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Mininet (via WSL2)</a:t>
            </a:r>
            <a:endParaRPr lang="en-US" sz="1100" dirty="0"/>
          </a:p>
        </p:txBody>
      </p:sp>
      <p:sp>
        <p:nvSpPr>
          <p:cNvPr id="31" name="Text 29"/>
          <p:cNvSpPr/>
          <p:nvPr/>
        </p:nvSpPr>
        <p:spPr>
          <a:xfrm>
            <a:off x="6766560" y="3886200"/>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Industry-standard topology emulator</a:t>
            </a:r>
            <a:endParaRPr lang="en-US" sz="1100" dirty="0"/>
          </a:p>
        </p:txBody>
      </p:sp>
      <p:sp>
        <p:nvSpPr>
          <p:cNvPr id="32" name="Shape 30"/>
          <p:cNvSpPr/>
          <p:nvPr/>
        </p:nvSpPr>
        <p:spPr>
          <a:xfrm>
            <a:off x="548640" y="4187952"/>
            <a:ext cx="11064240" cy="329184"/>
          </a:xfrm>
          <a:prstGeom prst="rect">
            <a:avLst/>
          </a:prstGeom>
          <a:solidFill>
            <a:srgbClr val="F1F2F4"/>
          </a:solidFill>
          <a:ln w="12700">
            <a:solidFill>
              <a:srgbClr val="F1F2F4"/>
            </a:solidFill>
            <a:prstDash val="solid"/>
          </a:ln>
        </p:spPr>
      </p:sp>
      <p:sp>
        <p:nvSpPr>
          <p:cNvPr id="33" name="Text 31"/>
          <p:cNvSpPr/>
          <p:nvPr/>
        </p:nvSpPr>
        <p:spPr>
          <a:xfrm>
            <a:off x="731520" y="4215384"/>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Policy validation</a:t>
            </a:r>
            <a:endParaRPr lang="en-US" sz="1100" dirty="0"/>
          </a:p>
        </p:txBody>
      </p:sp>
      <p:sp>
        <p:nvSpPr>
          <p:cNvPr id="34" name="Text 32"/>
          <p:cNvSpPr/>
          <p:nvPr/>
        </p:nvSpPr>
        <p:spPr>
          <a:xfrm>
            <a:off x="3108960" y="4215384"/>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Batfish</a:t>
            </a:r>
            <a:endParaRPr lang="en-US" sz="1100" dirty="0"/>
          </a:p>
        </p:txBody>
      </p:sp>
      <p:sp>
        <p:nvSpPr>
          <p:cNvPr id="35" name="Text 33"/>
          <p:cNvSpPr/>
          <p:nvPr/>
        </p:nvSpPr>
        <p:spPr>
          <a:xfrm>
            <a:off x="6766560" y="4215384"/>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Formal loop + ACL analysis</a:t>
            </a:r>
            <a:endParaRPr lang="en-US" sz="1100" dirty="0"/>
          </a:p>
        </p:txBody>
      </p:sp>
      <p:sp>
        <p:nvSpPr>
          <p:cNvPr id="36" name="Text 34"/>
          <p:cNvSpPr/>
          <p:nvPr/>
        </p:nvSpPr>
        <p:spPr>
          <a:xfrm>
            <a:off x="731520" y="4544568"/>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Frontend</a:t>
            </a:r>
            <a:endParaRPr lang="en-US" sz="1100" dirty="0"/>
          </a:p>
        </p:txBody>
      </p:sp>
      <p:sp>
        <p:nvSpPr>
          <p:cNvPr id="37" name="Text 35"/>
          <p:cNvSpPr/>
          <p:nvPr/>
        </p:nvSpPr>
        <p:spPr>
          <a:xfrm>
            <a:off x="3108960" y="4544568"/>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React 18 + TypeScript</a:t>
            </a:r>
            <a:endParaRPr lang="en-US" sz="1100" dirty="0"/>
          </a:p>
        </p:txBody>
      </p:sp>
      <p:sp>
        <p:nvSpPr>
          <p:cNvPr id="38" name="Text 36"/>
          <p:cNvSpPr/>
          <p:nvPr/>
        </p:nvSpPr>
        <p:spPr>
          <a:xfrm>
            <a:off x="6766560" y="4544568"/>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Industry standard, strong typing</a:t>
            </a:r>
            <a:endParaRPr lang="en-US" sz="1100" dirty="0"/>
          </a:p>
        </p:txBody>
      </p:sp>
      <p:sp>
        <p:nvSpPr>
          <p:cNvPr id="39" name="Shape 37"/>
          <p:cNvSpPr/>
          <p:nvPr/>
        </p:nvSpPr>
        <p:spPr>
          <a:xfrm>
            <a:off x="548640" y="4846320"/>
            <a:ext cx="11064240" cy="329184"/>
          </a:xfrm>
          <a:prstGeom prst="rect">
            <a:avLst/>
          </a:prstGeom>
          <a:solidFill>
            <a:srgbClr val="F1F2F4"/>
          </a:solidFill>
          <a:ln w="12700">
            <a:solidFill>
              <a:srgbClr val="F1F2F4"/>
            </a:solidFill>
            <a:prstDash val="solid"/>
          </a:ln>
        </p:spPr>
      </p:sp>
      <p:sp>
        <p:nvSpPr>
          <p:cNvPr id="40" name="Text 38"/>
          <p:cNvSpPr/>
          <p:nvPr/>
        </p:nvSpPr>
        <p:spPr>
          <a:xfrm>
            <a:off x="731520" y="4873752"/>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Visualization</a:t>
            </a:r>
            <a:endParaRPr lang="en-US" sz="1100" dirty="0"/>
          </a:p>
        </p:txBody>
      </p:sp>
      <p:sp>
        <p:nvSpPr>
          <p:cNvPr id="41" name="Text 39"/>
          <p:cNvSpPr/>
          <p:nvPr/>
        </p:nvSpPr>
        <p:spPr>
          <a:xfrm>
            <a:off x="3108960" y="4873752"/>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D3.js v7</a:t>
            </a:r>
            <a:endParaRPr lang="en-US" sz="1100" dirty="0"/>
          </a:p>
        </p:txBody>
      </p:sp>
      <p:sp>
        <p:nvSpPr>
          <p:cNvPr id="42" name="Text 40"/>
          <p:cNvSpPr/>
          <p:nvPr/>
        </p:nvSpPr>
        <p:spPr>
          <a:xfrm>
            <a:off x="6766560" y="4873752"/>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Fine-grained time-series rendering</a:t>
            </a:r>
            <a:endParaRPr lang="en-US" sz="1100" dirty="0"/>
          </a:p>
        </p:txBody>
      </p:sp>
      <p:sp>
        <p:nvSpPr>
          <p:cNvPr id="43" name="Text 41"/>
          <p:cNvSpPr/>
          <p:nvPr/>
        </p:nvSpPr>
        <p:spPr>
          <a:xfrm>
            <a:off x="731520" y="5202936"/>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Auth</a:t>
            </a:r>
            <a:endParaRPr lang="en-US" sz="1100" dirty="0"/>
          </a:p>
        </p:txBody>
      </p:sp>
      <p:sp>
        <p:nvSpPr>
          <p:cNvPr id="44" name="Text 42"/>
          <p:cNvSpPr/>
          <p:nvPr/>
        </p:nvSpPr>
        <p:spPr>
          <a:xfrm>
            <a:off x="3108960" y="5202936"/>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JWT + bcrypt</a:t>
            </a:r>
            <a:endParaRPr lang="en-US" sz="1100" dirty="0"/>
          </a:p>
        </p:txBody>
      </p:sp>
      <p:sp>
        <p:nvSpPr>
          <p:cNvPr id="45" name="Text 43"/>
          <p:cNvSpPr/>
          <p:nvPr/>
        </p:nvSpPr>
        <p:spPr>
          <a:xfrm>
            <a:off x="6766560" y="5202936"/>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Stateless sessions, one-way hashing</a:t>
            </a:r>
            <a:endParaRPr lang="en-US" sz="1100" dirty="0"/>
          </a:p>
        </p:txBody>
      </p:sp>
      <p:sp>
        <p:nvSpPr>
          <p:cNvPr id="46" name="Shape 44"/>
          <p:cNvSpPr/>
          <p:nvPr/>
        </p:nvSpPr>
        <p:spPr>
          <a:xfrm>
            <a:off x="548640" y="5504688"/>
            <a:ext cx="11064240" cy="329184"/>
          </a:xfrm>
          <a:prstGeom prst="rect">
            <a:avLst/>
          </a:prstGeom>
          <a:solidFill>
            <a:srgbClr val="F1F2F4"/>
          </a:solidFill>
          <a:ln w="12700">
            <a:solidFill>
              <a:srgbClr val="F1F2F4"/>
            </a:solidFill>
            <a:prstDash val="solid"/>
          </a:ln>
        </p:spPr>
      </p:sp>
      <p:sp>
        <p:nvSpPr>
          <p:cNvPr id="47" name="Text 45"/>
          <p:cNvSpPr/>
          <p:nvPr/>
        </p:nvSpPr>
        <p:spPr>
          <a:xfrm>
            <a:off x="731520" y="5532120"/>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TLS</a:t>
            </a:r>
            <a:endParaRPr lang="en-US" sz="1100" dirty="0"/>
          </a:p>
        </p:txBody>
      </p:sp>
      <p:sp>
        <p:nvSpPr>
          <p:cNvPr id="48" name="Text 46"/>
          <p:cNvSpPr/>
          <p:nvPr/>
        </p:nvSpPr>
        <p:spPr>
          <a:xfrm>
            <a:off x="3108960" y="5532120"/>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TLS 1.3</a:t>
            </a:r>
            <a:endParaRPr lang="en-US" sz="1100" dirty="0"/>
          </a:p>
        </p:txBody>
      </p:sp>
      <p:sp>
        <p:nvSpPr>
          <p:cNvPr id="49" name="Text 47"/>
          <p:cNvSpPr/>
          <p:nvPr/>
        </p:nvSpPr>
        <p:spPr>
          <a:xfrm>
            <a:off x="6766560" y="5532120"/>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Enforced at nginx; older rejected</a:t>
            </a:r>
            <a:endParaRPr lang="en-US" sz="1100" dirty="0"/>
          </a:p>
        </p:txBody>
      </p:sp>
      <p:sp>
        <p:nvSpPr>
          <p:cNvPr id="50" name="Text 48"/>
          <p:cNvSpPr/>
          <p:nvPr/>
        </p:nvSpPr>
        <p:spPr>
          <a:xfrm>
            <a:off x="731520" y="5861304"/>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At-rest encryption</a:t>
            </a:r>
            <a:endParaRPr lang="en-US" sz="1100" dirty="0"/>
          </a:p>
        </p:txBody>
      </p:sp>
      <p:sp>
        <p:nvSpPr>
          <p:cNvPr id="51" name="Text 49"/>
          <p:cNvSpPr/>
          <p:nvPr/>
        </p:nvSpPr>
        <p:spPr>
          <a:xfrm>
            <a:off x="3108960" y="5861304"/>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AES-256</a:t>
            </a:r>
            <a:endParaRPr lang="en-US" sz="1100" dirty="0"/>
          </a:p>
        </p:txBody>
      </p:sp>
      <p:sp>
        <p:nvSpPr>
          <p:cNvPr id="52" name="Text 50"/>
          <p:cNvSpPr/>
          <p:nvPr/>
        </p:nvSpPr>
        <p:spPr>
          <a:xfrm>
            <a:off x="6766560" y="5861304"/>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Telemetry + credentials</a:t>
            </a:r>
            <a:endParaRPr lang="en-US" sz="1100" dirty="0"/>
          </a:p>
        </p:txBody>
      </p:sp>
      <p:sp>
        <p:nvSpPr>
          <p:cNvPr id="53" name="Shape 51"/>
          <p:cNvSpPr/>
          <p:nvPr/>
        </p:nvSpPr>
        <p:spPr>
          <a:xfrm>
            <a:off x="548640" y="6163056"/>
            <a:ext cx="11064240" cy="329184"/>
          </a:xfrm>
          <a:prstGeom prst="rect">
            <a:avLst/>
          </a:prstGeom>
          <a:solidFill>
            <a:srgbClr val="F1F2F4"/>
          </a:solidFill>
          <a:ln w="12700">
            <a:solidFill>
              <a:srgbClr val="F1F2F4"/>
            </a:solidFill>
            <a:prstDash val="solid"/>
          </a:ln>
        </p:spPr>
      </p:sp>
      <p:sp>
        <p:nvSpPr>
          <p:cNvPr id="54" name="Text 52"/>
          <p:cNvSpPr/>
          <p:nvPr/>
        </p:nvSpPr>
        <p:spPr>
          <a:xfrm>
            <a:off x="731520" y="6190488"/>
            <a:ext cx="2194560" cy="310896"/>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Containerization</a:t>
            </a:r>
            <a:endParaRPr lang="en-US" sz="1100" dirty="0"/>
          </a:p>
        </p:txBody>
      </p:sp>
      <p:sp>
        <p:nvSpPr>
          <p:cNvPr id="55" name="Text 53"/>
          <p:cNvSpPr/>
          <p:nvPr/>
        </p:nvSpPr>
        <p:spPr>
          <a:xfrm>
            <a:off x="3108960" y="6190488"/>
            <a:ext cx="3474720" cy="310896"/>
          </a:xfrm>
          <a:prstGeom prst="rect">
            <a:avLst/>
          </a:prstGeom>
          <a:noFill/>
          <a:ln/>
        </p:spPr>
        <p:txBody>
          <a:bodyPr wrap="square" lIns="0" tIns="0" rIns="0" bIns="0" rtlCol="0" anchor="ctr"/>
          <a:lstStyle/>
          <a:p>
            <a:pPr marL="0" indent="0">
              <a:buNone/>
            </a:pPr>
            <a:r>
              <a:rPr lang="en-US" sz="1100" dirty="0">
                <a:solidFill>
                  <a:srgbClr val="1A1E22"/>
                </a:solidFill>
                <a:latin typeface="Consolas" pitchFamily="34" charset="0"/>
                <a:ea typeface="Consolas" pitchFamily="34" charset="-122"/>
                <a:cs typeface="Consolas" pitchFamily="34" charset="-120"/>
              </a:rPr>
              <a:t>Docker + Docker Compose</a:t>
            </a:r>
            <a:endParaRPr lang="en-US" sz="1100" dirty="0"/>
          </a:p>
        </p:txBody>
      </p:sp>
      <p:sp>
        <p:nvSpPr>
          <p:cNvPr id="56" name="Text 54"/>
          <p:cNvSpPr/>
          <p:nvPr/>
        </p:nvSpPr>
        <p:spPr>
          <a:xfrm>
            <a:off x="6766560" y="6190488"/>
            <a:ext cx="4846320" cy="310896"/>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Repeatable, vendor-agnostic deploy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UNDER THE HOOD</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The LSTM model — a closer look</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13 / 25</a:t>
            </a:r>
            <a:endParaRPr lang="en-US" sz="900" dirty="0"/>
          </a:p>
        </p:txBody>
      </p:sp>
      <p:sp>
        <p:nvSpPr>
          <p:cNvPr id="7" name="Text 5"/>
          <p:cNvSpPr/>
          <p:nvPr/>
        </p:nvSpPr>
        <p:spPr>
          <a:xfrm>
            <a:off x="548640" y="1783080"/>
            <a:ext cx="9144000" cy="36576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Architecture</a:t>
            </a:r>
            <a:endParaRPr lang="en-US" sz="1400" dirty="0"/>
          </a:p>
        </p:txBody>
      </p:sp>
      <p:sp>
        <p:nvSpPr>
          <p:cNvPr id="8" name="Shape 6"/>
          <p:cNvSpPr/>
          <p:nvPr/>
        </p:nvSpPr>
        <p:spPr>
          <a:xfrm>
            <a:off x="548640" y="2286000"/>
            <a:ext cx="1783080" cy="1463040"/>
          </a:xfrm>
          <a:prstGeom prst="rect">
            <a:avLst/>
          </a:prstGeom>
          <a:solidFill>
            <a:srgbClr val="F1F2F4"/>
          </a:solidFill>
          <a:ln w="6350">
            <a:solidFill>
              <a:srgbClr val="A4ACB5"/>
            </a:solidFill>
            <a:prstDash val="solid"/>
          </a:ln>
        </p:spPr>
      </p:sp>
      <p:sp>
        <p:nvSpPr>
          <p:cNvPr id="9" name="Text 7"/>
          <p:cNvSpPr/>
          <p:nvPr/>
        </p:nvSpPr>
        <p:spPr>
          <a:xfrm>
            <a:off x="640080" y="2468880"/>
            <a:ext cx="1600200" cy="457200"/>
          </a:xfrm>
          <a:prstGeom prst="rect">
            <a:avLst/>
          </a:prstGeom>
          <a:noFill/>
          <a:ln/>
        </p:spPr>
        <p:txBody>
          <a:bodyPr wrap="square" lIns="0" tIns="0" rIns="0" bIns="0" rtlCol="0" anchor="ctr"/>
          <a:lstStyle/>
          <a:p>
            <a:pPr marL="0" indent="0" algn="ctr">
              <a:buNone/>
            </a:pPr>
            <a:r>
              <a:rPr lang="en-US" sz="1400" b="1" dirty="0">
                <a:solidFill>
                  <a:srgbClr val="1A1E22"/>
                </a:solidFill>
                <a:latin typeface="Calibri" pitchFamily="34" charset="0"/>
                <a:ea typeface="Calibri" pitchFamily="34" charset="-122"/>
                <a:cs typeface="Calibri" pitchFamily="34" charset="-120"/>
              </a:rPr>
              <a:t>Input</a:t>
            </a:r>
            <a:endParaRPr lang="en-US" sz="1400" dirty="0"/>
          </a:p>
        </p:txBody>
      </p:sp>
      <p:sp>
        <p:nvSpPr>
          <p:cNvPr id="10" name="Text 8"/>
          <p:cNvSpPr/>
          <p:nvPr/>
        </p:nvSpPr>
        <p:spPr>
          <a:xfrm>
            <a:off x="640080" y="2944368"/>
            <a:ext cx="1600200" cy="731520"/>
          </a:xfrm>
          <a:prstGeom prst="rect">
            <a:avLst/>
          </a:prstGeom>
          <a:noFill/>
          <a:ln/>
        </p:spPr>
        <p:txBody>
          <a:bodyPr wrap="square" lIns="0" tIns="0" rIns="0" bIns="0" rtlCol="0" anchor="ctr"/>
          <a:lstStyle/>
          <a:p>
            <a:pPr marL="0" indent="0" algn="ctr">
              <a:buNone/>
            </a:pPr>
            <a:r>
              <a:rPr lang="en-US" sz="1000" dirty="0">
                <a:solidFill>
                  <a:srgbClr val="1A1E22"/>
                </a:solidFill>
                <a:latin typeface="Consolas" pitchFamily="34" charset="0"/>
                <a:ea typeface="Consolas" pitchFamily="34" charset="-122"/>
                <a:cs typeface="Consolas" pitchFamily="34" charset="-120"/>
              </a:rPr>
              <a:t>[batch, 60, 3]</a:t>
            </a:r>
            <a:endParaRPr lang="en-US" sz="1000" dirty="0"/>
          </a:p>
          <a:p>
            <a:pPr marL="0" indent="0" algn="ctr">
              <a:buNone/>
            </a:pPr>
            <a:r>
              <a:rPr lang="en-US" sz="1000" dirty="0">
                <a:solidFill>
                  <a:srgbClr val="1A1E22"/>
                </a:solidFill>
                <a:latin typeface="Consolas" pitchFamily="34" charset="0"/>
                <a:ea typeface="Consolas" pitchFamily="34" charset="-122"/>
                <a:cs typeface="Consolas" pitchFamily="34" charset="-120"/>
              </a:rPr>
              <a:t>latency · jitter · loss</a:t>
            </a:r>
            <a:endParaRPr lang="en-US" sz="1000" dirty="0"/>
          </a:p>
        </p:txBody>
      </p:sp>
      <p:sp>
        <p:nvSpPr>
          <p:cNvPr id="11" name="Text 9"/>
          <p:cNvSpPr/>
          <p:nvPr/>
        </p:nvSpPr>
        <p:spPr>
          <a:xfrm>
            <a:off x="2286000" y="2788920"/>
            <a:ext cx="182880" cy="45720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404872" y="2286000"/>
            <a:ext cx="1783080" cy="1463040"/>
          </a:xfrm>
          <a:prstGeom prst="rect">
            <a:avLst/>
          </a:prstGeom>
          <a:solidFill>
            <a:srgbClr val="708090"/>
          </a:solidFill>
          <a:ln w="6350">
            <a:solidFill>
              <a:srgbClr val="A4ACB5"/>
            </a:solidFill>
            <a:prstDash val="solid"/>
          </a:ln>
        </p:spPr>
      </p:sp>
      <p:sp>
        <p:nvSpPr>
          <p:cNvPr id="13" name="Text 11"/>
          <p:cNvSpPr/>
          <p:nvPr/>
        </p:nvSpPr>
        <p:spPr>
          <a:xfrm>
            <a:off x="2496312" y="24688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LSTM L1</a:t>
            </a:r>
            <a:endParaRPr lang="en-US" sz="1400" dirty="0"/>
          </a:p>
        </p:txBody>
      </p:sp>
      <p:sp>
        <p:nvSpPr>
          <p:cNvPr id="14" name="Text 12"/>
          <p:cNvSpPr/>
          <p:nvPr/>
        </p:nvSpPr>
        <p:spPr>
          <a:xfrm>
            <a:off x="2496312" y="2944368"/>
            <a:ext cx="16002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hidden 128</a:t>
            </a:r>
            <a:endParaRPr lang="en-US" sz="1000" dirty="0"/>
          </a:p>
          <a:p>
            <a:pPr marL="0" indent="0" algn="ctr">
              <a:buNone/>
            </a:pPr>
            <a:r>
              <a:rPr lang="en-US" sz="1000" dirty="0">
                <a:solidFill>
                  <a:srgbClr val="FFFFFF"/>
                </a:solidFill>
                <a:latin typeface="Consolas" pitchFamily="34" charset="0"/>
                <a:ea typeface="Consolas" pitchFamily="34" charset="-122"/>
                <a:cs typeface="Consolas" pitchFamily="34" charset="-120"/>
              </a:rPr>
              <a:t>dropout 0.2</a:t>
            </a:r>
            <a:endParaRPr lang="en-US" sz="1000" dirty="0"/>
          </a:p>
        </p:txBody>
      </p:sp>
      <p:sp>
        <p:nvSpPr>
          <p:cNvPr id="15" name="Text 13"/>
          <p:cNvSpPr/>
          <p:nvPr/>
        </p:nvSpPr>
        <p:spPr>
          <a:xfrm>
            <a:off x="4142232" y="2788920"/>
            <a:ext cx="182880" cy="45720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261104" y="2286000"/>
            <a:ext cx="1783080" cy="1463040"/>
          </a:xfrm>
          <a:prstGeom prst="rect">
            <a:avLst/>
          </a:prstGeom>
          <a:solidFill>
            <a:srgbClr val="708090"/>
          </a:solidFill>
          <a:ln w="6350">
            <a:solidFill>
              <a:srgbClr val="A4ACB5"/>
            </a:solidFill>
            <a:prstDash val="solid"/>
          </a:ln>
        </p:spPr>
      </p:sp>
      <p:sp>
        <p:nvSpPr>
          <p:cNvPr id="17" name="Text 15"/>
          <p:cNvSpPr/>
          <p:nvPr/>
        </p:nvSpPr>
        <p:spPr>
          <a:xfrm>
            <a:off x="4352544" y="24688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LSTM L2</a:t>
            </a:r>
            <a:endParaRPr lang="en-US" sz="1400" dirty="0"/>
          </a:p>
        </p:txBody>
      </p:sp>
      <p:sp>
        <p:nvSpPr>
          <p:cNvPr id="18" name="Text 16"/>
          <p:cNvSpPr/>
          <p:nvPr/>
        </p:nvSpPr>
        <p:spPr>
          <a:xfrm>
            <a:off x="4352544" y="2944368"/>
            <a:ext cx="16002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hidden 128</a:t>
            </a:r>
            <a:endParaRPr lang="en-US" sz="1000" dirty="0"/>
          </a:p>
          <a:p>
            <a:pPr marL="0" indent="0" algn="ctr">
              <a:buNone/>
            </a:pPr>
            <a:r>
              <a:rPr lang="en-US" sz="1000" dirty="0">
                <a:solidFill>
                  <a:srgbClr val="FFFFFF"/>
                </a:solidFill>
                <a:latin typeface="Consolas" pitchFamily="34" charset="0"/>
                <a:ea typeface="Consolas" pitchFamily="34" charset="-122"/>
                <a:cs typeface="Consolas" pitchFamily="34" charset="-120"/>
              </a:rPr>
              <a:t>dropout 0.2</a:t>
            </a:r>
            <a:endParaRPr lang="en-US" sz="1000" dirty="0"/>
          </a:p>
        </p:txBody>
      </p:sp>
      <p:sp>
        <p:nvSpPr>
          <p:cNvPr id="19" name="Text 17"/>
          <p:cNvSpPr/>
          <p:nvPr/>
        </p:nvSpPr>
        <p:spPr>
          <a:xfrm>
            <a:off x="5998464" y="2788920"/>
            <a:ext cx="182880" cy="45720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6117336" y="2286000"/>
            <a:ext cx="1783080" cy="1463040"/>
          </a:xfrm>
          <a:prstGeom prst="rect">
            <a:avLst/>
          </a:prstGeom>
          <a:solidFill>
            <a:srgbClr val="36454F"/>
          </a:solidFill>
          <a:ln w="6350">
            <a:solidFill>
              <a:srgbClr val="A4ACB5"/>
            </a:solidFill>
            <a:prstDash val="solid"/>
          </a:ln>
        </p:spPr>
      </p:sp>
      <p:sp>
        <p:nvSpPr>
          <p:cNvPr id="21" name="Text 19"/>
          <p:cNvSpPr/>
          <p:nvPr/>
        </p:nvSpPr>
        <p:spPr>
          <a:xfrm>
            <a:off x="6208776" y="24688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Attention</a:t>
            </a:r>
            <a:endParaRPr lang="en-US" sz="1400" dirty="0"/>
          </a:p>
        </p:txBody>
      </p:sp>
      <p:sp>
        <p:nvSpPr>
          <p:cNvPr id="22" name="Text 20"/>
          <p:cNvSpPr/>
          <p:nvPr/>
        </p:nvSpPr>
        <p:spPr>
          <a:xfrm>
            <a:off x="6208776" y="2944368"/>
            <a:ext cx="16002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Bahdanau</a:t>
            </a:r>
            <a:endParaRPr lang="en-US" sz="1000" dirty="0"/>
          </a:p>
          <a:p>
            <a:pPr marL="0" indent="0" algn="ctr">
              <a:buNone/>
            </a:pPr>
            <a:r>
              <a:rPr lang="en-US" sz="1000" dirty="0">
                <a:solidFill>
                  <a:srgbClr val="FFFFFF"/>
                </a:solidFill>
                <a:latin typeface="Consolas" pitchFamily="34" charset="0"/>
                <a:ea typeface="Consolas" pitchFamily="34" charset="-122"/>
                <a:cs typeface="Consolas" pitchFamily="34" charset="-120"/>
              </a:rPr>
              <a:t>additive</a:t>
            </a:r>
            <a:endParaRPr lang="en-US" sz="1000" dirty="0"/>
          </a:p>
        </p:txBody>
      </p:sp>
      <p:sp>
        <p:nvSpPr>
          <p:cNvPr id="23" name="Text 21"/>
          <p:cNvSpPr/>
          <p:nvPr/>
        </p:nvSpPr>
        <p:spPr>
          <a:xfrm>
            <a:off x="7854696" y="2788920"/>
            <a:ext cx="182880" cy="45720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973568" y="2286000"/>
            <a:ext cx="1783080" cy="1463040"/>
          </a:xfrm>
          <a:prstGeom prst="rect">
            <a:avLst/>
          </a:prstGeom>
          <a:solidFill>
            <a:srgbClr val="A4ACB5"/>
          </a:solidFill>
          <a:ln w="6350">
            <a:solidFill>
              <a:srgbClr val="A4ACB5"/>
            </a:solidFill>
            <a:prstDash val="solid"/>
          </a:ln>
        </p:spPr>
      </p:sp>
      <p:sp>
        <p:nvSpPr>
          <p:cNvPr id="25" name="Text 23"/>
          <p:cNvSpPr/>
          <p:nvPr/>
        </p:nvSpPr>
        <p:spPr>
          <a:xfrm>
            <a:off x="8065008" y="2468880"/>
            <a:ext cx="1600200" cy="457200"/>
          </a:xfrm>
          <a:prstGeom prst="rect">
            <a:avLst/>
          </a:prstGeom>
          <a:noFill/>
          <a:ln/>
        </p:spPr>
        <p:txBody>
          <a:bodyPr wrap="square" lIns="0" tIns="0" rIns="0" bIns="0" rtlCol="0" anchor="ctr"/>
          <a:lstStyle/>
          <a:p>
            <a:pPr marL="0" indent="0" algn="ctr">
              <a:buNone/>
            </a:pPr>
            <a:r>
              <a:rPr lang="en-US" sz="1400" b="1" dirty="0">
                <a:solidFill>
                  <a:srgbClr val="1A1E22"/>
                </a:solidFill>
                <a:latin typeface="Calibri" pitchFamily="34" charset="0"/>
                <a:ea typeface="Calibri" pitchFamily="34" charset="-122"/>
                <a:cs typeface="Calibri" pitchFamily="34" charset="-120"/>
              </a:rPr>
              <a:t>Linear</a:t>
            </a:r>
            <a:endParaRPr lang="en-US" sz="1400" dirty="0"/>
          </a:p>
        </p:txBody>
      </p:sp>
      <p:sp>
        <p:nvSpPr>
          <p:cNvPr id="26" name="Text 24"/>
          <p:cNvSpPr/>
          <p:nvPr/>
        </p:nvSpPr>
        <p:spPr>
          <a:xfrm>
            <a:off x="8065008" y="2944368"/>
            <a:ext cx="1600200" cy="731520"/>
          </a:xfrm>
          <a:prstGeom prst="rect">
            <a:avLst/>
          </a:prstGeom>
          <a:noFill/>
          <a:ln/>
        </p:spPr>
        <p:txBody>
          <a:bodyPr wrap="square" lIns="0" tIns="0" rIns="0" bIns="0" rtlCol="0" anchor="ctr"/>
          <a:lstStyle/>
          <a:p>
            <a:pPr marL="0" indent="0" algn="ctr">
              <a:buNone/>
            </a:pPr>
            <a:r>
              <a:rPr lang="en-US" sz="1000" dirty="0">
                <a:solidFill>
                  <a:srgbClr val="1A1E22"/>
                </a:solidFill>
                <a:latin typeface="Consolas" pitchFamily="34" charset="0"/>
                <a:ea typeface="Consolas" pitchFamily="34" charset="-122"/>
                <a:cs typeface="Consolas" pitchFamily="34" charset="-120"/>
              </a:rPr>
              <a:t>projection</a:t>
            </a:r>
            <a:endParaRPr lang="en-US" sz="1000" dirty="0"/>
          </a:p>
          <a:p>
            <a:pPr marL="0" indent="0" algn="ctr">
              <a:buNone/>
            </a:pPr>
            <a:r>
              <a:rPr lang="en-US" sz="1000" dirty="0">
                <a:solidFill>
                  <a:srgbClr val="1A1E22"/>
                </a:solidFill>
                <a:latin typeface="Consolas" pitchFamily="34" charset="0"/>
                <a:ea typeface="Consolas" pitchFamily="34" charset="-122"/>
                <a:cs typeface="Consolas" pitchFamily="34" charset="-120"/>
              </a:rPr>
              <a:t>→ 6 outputs</a:t>
            </a:r>
            <a:endParaRPr lang="en-US" sz="1000" dirty="0"/>
          </a:p>
        </p:txBody>
      </p:sp>
      <p:sp>
        <p:nvSpPr>
          <p:cNvPr id="27" name="Text 25"/>
          <p:cNvSpPr/>
          <p:nvPr/>
        </p:nvSpPr>
        <p:spPr>
          <a:xfrm>
            <a:off x="9710928" y="2788920"/>
            <a:ext cx="182880" cy="45720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829800" y="2286000"/>
            <a:ext cx="1783080" cy="1463040"/>
          </a:xfrm>
          <a:prstGeom prst="rect">
            <a:avLst/>
          </a:prstGeom>
          <a:solidFill>
            <a:srgbClr val="F1F2F4"/>
          </a:solidFill>
          <a:ln w="6350">
            <a:solidFill>
              <a:srgbClr val="A4ACB5"/>
            </a:solidFill>
            <a:prstDash val="solid"/>
          </a:ln>
        </p:spPr>
      </p:sp>
      <p:sp>
        <p:nvSpPr>
          <p:cNvPr id="29" name="Text 27"/>
          <p:cNvSpPr/>
          <p:nvPr/>
        </p:nvSpPr>
        <p:spPr>
          <a:xfrm>
            <a:off x="9921240" y="2468880"/>
            <a:ext cx="1600200" cy="457200"/>
          </a:xfrm>
          <a:prstGeom prst="rect">
            <a:avLst/>
          </a:prstGeom>
          <a:noFill/>
          <a:ln/>
        </p:spPr>
        <p:txBody>
          <a:bodyPr wrap="square" lIns="0" tIns="0" rIns="0" bIns="0" rtlCol="0" anchor="ctr"/>
          <a:lstStyle/>
          <a:p>
            <a:pPr marL="0" indent="0" algn="ctr">
              <a:buNone/>
            </a:pPr>
            <a:r>
              <a:rPr lang="en-US" sz="1400" b="1" dirty="0">
                <a:solidFill>
                  <a:srgbClr val="1A1E22"/>
                </a:solidFill>
                <a:latin typeface="Calibri" pitchFamily="34" charset="0"/>
                <a:ea typeface="Calibri" pitchFamily="34" charset="-122"/>
                <a:cs typeface="Calibri" pitchFamily="34" charset="-120"/>
              </a:rPr>
              <a:t>Output</a:t>
            </a:r>
            <a:endParaRPr lang="en-US" sz="1400" dirty="0"/>
          </a:p>
        </p:txBody>
      </p:sp>
      <p:sp>
        <p:nvSpPr>
          <p:cNvPr id="30" name="Text 28"/>
          <p:cNvSpPr/>
          <p:nvPr/>
        </p:nvSpPr>
        <p:spPr>
          <a:xfrm>
            <a:off x="9921240" y="2944368"/>
            <a:ext cx="1600200" cy="731520"/>
          </a:xfrm>
          <a:prstGeom prst="rect">
            <a:avLst/>
          </a:prstGeom>
          <a:noFill/>
          <a:ln/>
        </p:spPr>
        <p:txBody>
          <a:bodyPr wrap="square" lIns="0" tIns="0" rIns="0" bIns="0" rtlCol="0" anchor="ctr"/>
          <a:lstStyle/>
          <a:p>
            <a:pPr marL="0" indent="0" algn="ctr">
              <a:buNone/>
            </a:pPr>
            <a:r>
              <a:rPr lang="en-US" sz="1000" dirty="0">
                <a:solidFill>
                  <a:srgbClr val="1A1E22"/>
                </a:solidFill>
                <a:latin typeface="Consolas" pitchFamily="34" charset="0"/>
                <a:ea typeface="Consolas" pitchFamily="34" charset="-122"/>
                <a:cs typeface="Consolas" pitchFamily="34" charset="-120"/>
              </a:rPr>
              <a:t>t+30s + t+60s</a:t>
            </a:r>
            <a:endParaRPr lang="en-US" sz="1000" dirty="0"/>
          </a:p>
          <a:p>
            <a:pPr marL="0" indent="0" algn="ctr">
              <a:buNone/>
            </a:pPr>
            <a:r>
              <a:rPr lang="en-US" sz="1000" dirty="0">
                <a:solidFill>
                  <a:srgbClr val="1A1E22"/>
                </a:solidFill>
                <a:latin typeface="Consolas" pitchFamily="34" charset="0"/>
                <a:ea typeface="Consolas" pitchFamily="34" charset="-122"/>
                <a:cs typeface="Consolas" pitchFamily="34" charset="-120"/>
              </a:rPr>
              <a:t>(lat, jit, loss)</a:t>
            </a:r>
            <a:endParaRPr lang="en-US" sz="1000" dirty="0"/>
          </a:p>
        </p:txBody>
      </p:sp>
      <p:sp>
        <p:nvSpPr>
          <p:cNvPr id="31" name="Text 29"/>
          <p:cNvSpPr/>
          <p:nvPr/>
        </p:nvSpPr>
        <p:spPr>
          <a:xfrm>
            <a:off x="548640" y="3931920"/>
            <a:ext cx="9144000" cy="36576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Training &amp; acceptance</a:t>
            </a:r>
            <a:endParaRPr lang="en-US" sz="1400" dirty="0"/>
          </a:p>
        </p:txBody>
      </p:sp>
      <p:sp>
        <p:nvSpPr>
          <p:cNvPr id="32" name="Shape 30"/>
          <p:cNvSpPr/>
          <p:nvPr/>
        </p:nvSpPr>
        <p:spPr>
          <a:xfrm>
            <a:off x="548640" y="4389120"/>
            <a:ext cx="11064240" cy="301752"/>
          </a:xfrm>
          <a:prstGeom prst="rect">
            <a:avLst/>
          </a:prstGeom>
          <a:solidFill>
            <a:srgbClr val="F1F2F4"/>
          </a:solidFill>
          <a:ln w="12700">
            <a:solidFill>
              <a:srgbClr val="F1F2F4"/>
            </a:solidFill>
            <a:prstDash val="solid"/>
          </a:ln>
        </p:spPr>
      </p:sp>
      <p:sp>
        <p:nvSpPr>
          <p:cNvPr id="33" name="Text 31"/>
          <p:cNvSpPr/>
          <p:nvPr/>
        </p:nvSpPr>
        <p:spPr>
          <a:xfrm>
            <a:off x="731520" y="4416552"/>
            <a:ext cx="1645920" cy="283464"/>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Data</a:t>
            </a:r>
            <a:endParaRPr lang="en-US" sz="1100" dirty="0"/>
          </a:p>
        </p:txBody>
      </p:sp>
      <p:sp>
        <p:nvSpPr>
          <p:cNvPr id="34" name="Text 32"/>
          <p:cNvSpPr/>
          <p:nvPr/>
        </p:nvSpPr>
        <p:spPr>
          <a:xfrm>
            <a:off x="2377440" y="4416552"/>
            <a:ext cx="9052560" cy="283464"/>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10 M+ synthetic points via Mininet on WSL2</a:t>
            </a:r>
            <a:endParaRPr lang="en-US" sz="1100" dirty="0"/>
          </a:p>
        </p:txBody>
      </p:sp>
      <p:sp>
        <p:nvSpPr>
          <p:cNvPr id="35" name="Text 33"/>
          <p:cNvSpPr/>
          <p:nvPr/>
        </p:nvSpPr>
        <p:spPr>
          <a:xfrm>
            <a:off x="731520" y="4718304"/>
            <a:ext cx="1645920" cy="283464"/>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Scenarios</a:t>
            </a:r>
            <a:endParaRPr lang="en-US" sz="1100" dirty="0"/>
          </a:p>
        </p:txBody>
      </p:sp>
      <p:sp>
        <p:nvSpPr>
          <p:cNvPr id="36" name="Text 34"/>
          <p:cNvSpPr/>
          <p:nvPr/>
        </p:nvSpPr>
        <p:spPr>
          <a:xfrm>
            <a:off x="2377440" y="4718304"/>
            <a:ext cx="9052560" cy="283464"/>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Gradual brownout · packet-loss spikes · jitter oscillation · multi-link degradation · recovery</a:t>
            </a:r>
            <a:endParaRPr lang="en-US" sz="1100" dirty="0"/>
          </a:p>
        </p:txBody>
      </p:sp>
      <p:sp>
        <p:nvSpPr>
          <p:cNvPr id="37" name="Shape 35"/>
          <p:cNvSpPr/>
          <p:nvPr/>
        </p:nvSpPr>
        <p:spPr>
          <a:xfrm>
            <a:off x="548640" y="4992624"/>
            <a:ext cx="11064240" cy="301752"/>
          </a:xfrm>
          <a:prstGeom prst="rect">
            <a:avLst/>
          </a:prstGeom>
          <a:solidFill>
            <a:srgbClr val="F1F2F4"/>
          </a:solidFill>
          <a:ln w="12700">
            <a:solidFill>
              <a:srgbClr val="F1F2F4"/>
            </a:solidFill>
            <a:prstDash val="solid"/>
          </a:ln>
        </p:spPr>
      </p:sp>
      <p:sp>
        <p:nvSpPr>
          <p:cNvPr id="38" name="Text 36"/>
          <p:cNvSpPr/>
          <p:nvPr/>
        </p:nvSpPr>
        <p:spPr>
          <a:xfrm>
            <a:off x="731520" y="5020056"/>
            <a:ext cx="1645920" cy="283464"/>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Optimizer</a:t>
            </a:r>
            <a:endParaRPr lang="en-US" sz="1100" dirty="0"/>
          </a:p>
        </p:txBody>
      </p:sp>
      <p:sp>
        <p:nvSpPr>
          <p:cNvPr id="39" name="Text 37"/>
          <p:cNvSpPr/>
          <p:nvPr/>
        </p:nvSpPr>
        <p:spPr>
          <a:xfrm>
            <a:off x="2377440" y="5020056"/>
            <a:ext cx="9052560" cy="283464"/>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Adam · lr = 1e-3 · batch 256 · 50 epochs · early stop (patience 5)</a:t>
            </a:r>
            <a:endParaRPr lang="en-US" sz="1100" dirty="0"/>
          </a:p>
        </p:txBody>
      </p:sp>
      <p:sp>
        <p:nvSpPr>
          <p:cNvPr id="40" name="Text 38"/>
          <p:cNvSpPr/>
          <p:nvPr/>
        </p:nvSpPr>
        <p:spPr>
          <a:xfrm>
            <a:off x="731520" y="5321808"/>
            <a:ext cx="1645920" cy="283464"/>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Split</a:t>
            </a:r>
            <a:endParaRPr lang="en-US" sz="1100" dirty="0"/>
          </a:p>
        </p:txBody>
      </p:sp>
      <p:sp>
        <p:nvSpPr>
          <p:cNvPr id="41" name="Text 39"/>
          <p:cNvSpPr/>
          <p:nvPr/>
        </p:nvSpPr>
        <p:spPr>
          <a:xfrm>
            <a:off x="2377440" y="5321808"/>
            <a:ext cx="9052560" cy="283464"/>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70 / 15 / 15  (train / val / test)</a:t>
            </a:r>
            <a:endParaRPr lang="en-US" sz="1100" dirty="0"/>
          </a:p>
        </p:txBody>
      </p:sp>
      <p:sp>
        <p:nvSpPr>
          <p:cNvPr id="42" name="Shape 40"/>
          <p:cNvSpPr/>
          <p:nvPr/>
        </p:nvSpPr>
        <p:spPr>
          <a:xfrm>
            <a:off x="548640" y="5596128"/>
            <a:ext cx="11064240" cy="301752"/>
          </a:xfrm>
          <a:prstGeom prst="rect">
            <a:avLst/>
          </a:prstGeom>
          <a:solidFill>
            <a:srgbClr val="F1F2F4"/>
          </a:solidFill>
          <a:ln w="12700">
            <a:solidFill>
              <a:srgbClr val="F1F2F4"/>
            </a:solidFill>
            <a:prstDash val="solid"/>
          </a:ln>
        </p:spPr>
      </p:sp>
      <p:sp>
        <p:nvSpPr>
          <p:cNvPr id="43" name="Text 41"/>
          <p:cNvSpPr/>
          <p:nvPr/>
        </p:nvSpPr>
        <p:spPr>
          <a:xfrm>
            <a:off x="731520" y="5623560"/>
            <a:ext cx="1645920" cy="283464"/>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Loss</a:t>
            </a:r>
            <a:endParaRPr lang="en-US" sz="1100" dirty="0"/>
          </a:p>
        </p:txBody>
      </p:sp>
      <p:sp>
        <p:nvSpPr>
          <p:cNvPr id="44" name="Text 42"/>
          <p:cNvSpPr/>
          <p:nvPr/>
        </p:nvSpPr>
        <p:spPr>
          <a:xfrm>
            <a:off x="2377440" y="5623560"/>
            <a:ext cx="9052560" cy="283464"/>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MSE on all 6 prediction targets</a:t>
            </a:r>
            <a:endParaRPr lang="en-US" sz="1100" dirty="0"/>
          </a:p>
        </p:txBody>
      </p:sp>
      <p:sp>
        <p:nvSpPr>
          <p:cNvPr id="45" name="Text 43"/>
          <p:cNvSpPr/>
          <p:nvPr/>
        </p:nvSpPr>
        <p:spPr>
          <a:xfrm>
            <a:off x="731520" y="5925312"/>
            <a:ext cx="1645920" cy="283464"/>
          </a:xfrm>
          <a:prstGeom prst="rect">
            <a:avLst/>
          </a:prstGeom>
          <a:noFill/>
          <a:ln/>
        </p:spPr>
        <p:txBody>
          <a:bodyPr wrap="square" lIns="0" tIns="0" rIns="0" bIns="0" rtlCol="0" anchor="ctr"/>
          <a:lstStyle/>
          <a:p>
            <a:pPr marL="0" indent="0">
              <a:buNone/>
            </a:pPr>
            <a:r>
              <a:rPr lang="en-US" sz="1100" b="1" dirty="0">
                <a:solidFill>
                  <a:srgbClr val="36454F"/>
                </a:solidFill>
                <a:latin typeface="Calibri" pitchFamily="34" charset="0"/>
                <a:ea typeface="Calibri" pitchFamily="34" charset="-122"/>
                <a:cs typeface="Calibri" pitchFamily="34" charset="-120"/>
              </a:rPr>
              <a:t>Acceptance</a:t>
            </a:r>
            <a:endParaRPr lang="en-US" sz="1100" dirty="0"/>
          </a:p>
        </p:txBody>
      </p:sp>
      <p:sp>
        <p:nvSpPr>
          <p:cNvPr id="46" name="Text 44"/>
          <p:cNvSpPr/>
          <p:nvPr/>
        </p:nvSpPr>
        <p:spPr>
          <a:xfrm>
            <a:off x="2377440" y="5925312"/>
            <a:ext cx="9052560" cy="283464"/>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 90% accuracy on held-out test set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DASHBOARD TOUR  ·  1 OF 3</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Dashboard — Multi-Link Health Scoreboard</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14 / 25</a:t>
            </a:r>
            <a:endParaRPr lang="en-US" sz="900" dirty="0"/>
          </a:p>
        </p:txBody>
      </p:sp>
      <p:sp>
        <p:nvSpPr>
          <p:cNvPr id="7" name="Shape 5"/>
          <p:cNvSpPr/>
          <p:nvPr/>
        </p:nvSpPr>
        <p:spPr>
          <a:xfrm>
            <a:off x="548640" y="1783080"/>
            <a:ext cx="11064240" cy="45720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548640" y="1783080"/>
            <a:ext cx="11064240" cy="411480"/>
          </a:xfrm>
          <a:prstGeom prst="rect">
            <a:avLst/>
          </a:prstGeom>
          <a:solidFill>
            <a:srgbClr val="F1F2F4"/>
          </a:solidFill>
          <a:ln w="12700">
            <a:solidFill>
              <a:srgbClr val="A4ACB5"/>
            </a:solidFill>
            <a:prstDash val="solid"/>
          </a:ln>
        </p:spPr>
      </p:sp>
      <p:sp>
        <p:nvSpPr>
          <p:cNvPr id="9" name="Shape 7"/>
          <p:cNvSpPr/>
          <p:nvPr/>
        </p:nvSpPr>
        <p:spPr>
          <a:xfrm>
            <a:off x="685800" y="1911096"/>
            <a:ext cx="155448" cy="155448"/>
          </a:xfrm>
          <a:prstGeom prst="ellipse">
            <a:avLst/>
          </a:prstGeom>
          <a:solidFill>
            <a:srgbClr val="E06C6C"/>
          </a:solidFill>
          <a:ln w="12700">
            <a:solidFill>
              <a:srgbClr val="E06C6C"/>
            </a:solidFill>
            <a:prstDash val="solid"/>
          </a:ln>
        </p:spPr>
      </p:sp>
      <p:sp>
        <p:nvSpPr>
          <p:cNvPr id="10" name="Shape 8"/>
          <p:cNvSpPr/>
          <p:nvPr/>
        </p:nvSpPr>
        <p:spPr>
          <a:xfrm>
            <a:off x="914400" y="1911096"/>
            <a:ext cx="155448" cy="155448"/>
          </a:xfrm>
          <a:prstGeom prst="ellipse">
            <a:avLst/>
          </a:prstGeom>
          <a:solidFill>
            <a:srgbClr val="B8860B"/>
          </a:solidFill>
          <a:ln w="12700">
            <a:solidFill>
              <a:srgbClr val="B8860B"/>
            </a:solidFill>
            <a:prstDash val="solid"/>
          </a:ln>
        </p:spPr>
      </p:sp>
      <p:sp>
        <p:nvSpPr>
          <p:cNvPr id="11" name="Shape 9"/>
          <p:cNvSpPr/>
          <p:nvPr/>
        </p:nvSpPr>
        <p:spPr>
          <a:xfrm>
            <a:off x="1143000" y="1911096"/>
            <a:ext cx="155448" cy="155448"/>
          </a:xfrm>
          <a:prstGeom prst="ellipse">
            <a:avLst/>
          </a:prstGeom>
          <a:solidFill>
            <a:srgbClr val="3E6D2E"/>
          </a:solidFill>
          <a:ln w="12700">
            <a:solidFill>
              <a:srgbClr val="3E6D2E"/>
            </a:solidFill>
            <a:prstDash val="solid"/>
          </a:ln>
        </p:spPr>
      </p:sp>
      <p:sp>
        <p:nvSpPr>
          <p:cNvPr id="12" name="Text 10"/>
          <p:cNvSpPr/>
          <p:nvPr/>
        </p:nvSpPr>
        <p:spPr>
          <a:xfrm>
            <a:off x="1463040" y="1874520"/>
            <a:ext cx="9235440" cy="228600"/>
          </a:xfrm>
          <a:prstGeom prst="rect">
            <a:avLst/>
          </a:prstGeom>
          <a:noFill/>
          <a:ln/>
        </p:spPr>
        <p:txBody>
          <a:bodyPr wrap="square" lIns="0" tIns="0" rIns="0" bIns="0" rtlCol="0" anchor="ctr"/>
          <a:lstStyle/>
          <a:p>
            <a:pPr marL="0" indent="0">
              <a:buNone/>
            </a:pPr>
            <a:r>
              <a:rPr lang="en-US" sz="1000" dirty="0">
                <a:solidFill>
                  <a:srgbClr val="6B737A"/>
                </a:solidFill>
                <a:latin typeface="Consolas" pitchFamily="34" charset="0"/>
                <a:ea typeface="Consolas" pitchFamily="34" charset="-122"/>
                <a:cs typeface="Consolas" pitchFamily="34" charset="-120"/>
              </a:rPr>
              <a:t>pathwise.local  /  health-scoreboard</a:t>
            </a:r>
            <a:endParaRPr lang="en-US" sz="1000" dirty="0"/>
          </a:p>
        </p:txBody>
      </p:sp>
      <p:sp>
        <p:nvSpPr>
          <p:cNvPr id="13" name="Text 11"/>
          <p:cNvSpPr/>
          <p:nvPr/>
        </p:nvSpPr>
        <p:spPr>
          <a:xfrm>
            <a:off x="822960" y="2377440"/>
            <a:ext cx="1051560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Multi-Link Health Scoreboard</a:t>
            </a:r>
            <a:endParaRPr lang="en-US" sz="1600" dirty="0"/>
          </a:p>
        </p:txBody>
      </p:sp>
      <p:sp>
        <p:nvSpPr>
          <p:cNvPr id="14" name="Text 12"/>
          <p:cNvSpPr/>
          <p:nvPr/>
        </p:nvSpPr>
        <p:spPr>
          <a:xfrm>
            <a:off x="822960" y="2743200"/>
            <a:ext cx="10515600" cy="27432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Site: Retail-Chicago-01  ·  updated 1s ago</a:t>
            </a:r>
            <a:endParaRPr lang="en-US" sz="1000" dirty="0"/>
          </a:p>
        </p:txBody>
      </p:sp>
      <p:sp>
        <p:nvSpPr>
          <p:cNvPr id="15" name="Shape 13"/>
          <p:cNvSpPr/>
          <p:nvPr/>
        </p:nvSpPr>
        <p:spPr>
          <a:xfrm>
            <a:off x="822960" y="3154680"/>
            <a:ext cx="2423160" cy="1828800"/>
          </a:xfrm>
          <a:prstGeom prst="rect">
            <a:avLst/>
          </a:prstGeom>
          <a:solidFill>
            <a:srgbClr val="FFFFFF"/>
          </a:solidFill>
          <a:ln w="25400">
            <a:solidFill>
              <a:srgbClr val="3E6D2E"/>
            </a:solidFill>
            <a:prstDash val="solid"/>
          </a:ln>
        </p:spPr>
      </p:sp>
      <p:sp>
        <p:nvSpPr>
          <p:cNvPr id="16" name="Shape 14"/>
          <p:cNvSpPr/>
          <p:nvPr/>
        </p:nvSpPr>
        <p:spPr>
          <a:xfrm>
            <a:off x="822960" y="3154680"/>
            <a:ext cx="2423160" cy="109728"/>
          </a:xfrm>
          <a:prstGeom prst="rect">
            <a:avLst/>
          </a:prstGeom>
          <a:solidFill>
            <a:srgbClr val="3E6D2E"/>
          </a:solidFill>
          <a:ln w="12700">
            <a:solidFill>
              <a:srgbClr val="3E6D2E"/>
            </a:solidFill>
            <a:prstDash val="solid"/>
          </a:ln>
        </p:spPr>
      </p:sp>
      <p:sp>
        <p:nvSpPr>
          <p:cNvPr id="17" name="Text 15"/>
          <p:cNvSpPr/>
          <p:nvPr/>
        </p:nvSpPr>
        <p:spPr>
          <a:xfrm>
            <a:off x="960120" y="3337560"/>
            <a:ext cx="214884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Fiber</a:t>
            </a:r>
            <a:endParaRPr lang="en-US" sz="1300" dirty="0"/>
          </a:p>
        </p:txBody>
      </p:sp>
      <p:sp>
        <p:nvSpPr>
          <p:cNvPr id="18" name="Text 16"/>
          <p:cNvSpPr/>
          <p:nvPr/>
        </p:nvSpPr>
        <p:spPr>
          <a:xfrm>
            <a:off x="960120" y="3337560"/>
            <a:ext cx="2148840" cy="274320"/>
          </a:xfrm>
          <a:prstGeom prst="rect">
            <a:avLst/>
          </a:prstGeom>
          <a:noFill/>
          <a:ln/>
        </p:spPr>
        <p:txBody>
          <a:bodyPr wrap="square" lIns="0" tIns="0" rIns="0" bIns="0" rtlCol="0" anchor="ctr"/>
          <a:lstStyle/>
          <a:p>
            <a:pPr marL="0" indent="0" algn="r">
              <a:buNone/>
            </a:pPr>
            <a:r>
              <a:rPr lang="en-US" sz="1000" b="1" dirty="0">
                <a:solidFill>
                  <a:srgbClr val="3E6D2E"/>
                </a:solidFill>
                <a:latin typeface="Calibri" pitchFamily="34" charset="0"/>
                <a:ea typeface="Calibri" pitchFamily="34" charset="-122"/>
                <a:cs typeface="Calibri" pitchFamily="34" charset="-120"/>
              </a:rPr>
              <a:t>Healthy</a:t>
            </a:r>
            <a:endParaRPr lang="en-US" sz="1000" dirty="0"/>
          </a:p>
        </p:txBody>
      </p:sp>
      <p:sp>
        <p:nvSpPr>
          <p:cNvPr id="19" name="Text 17"/>
          <p:cNvSpPr/>
          <p:nvPr/>
        </p:nvSpPr>
        <p:spPr>
          <a:xfrm>
            <a:off x="960120" y="3657600"/>
            <a:ext cx="2148840" cy="777240"/>
          </a:xfrm>
          <a:prstGeom prst="rect">
            <a:avLst/>
          </a:prstGeom>
          <a:noFill/>
          <a:ln/>
        </p:spPr>
        <p:txBody>
          <a:bodyPr wrap="square" lIns="0" tIns="0" rIns="0" bIns="0" rtlCol="0" anchor="ctr"/>
          <a:lstStyle/>
          <a:p>
            <a:pPr marL="0" indent="0" algn="ctr">
              <a:buNone/>
            </a:pPr>
            <a:r>
              <a:rPr lang="en-US" sz="5200" b="1" dirty="0">
                <a:solidFill>
                  <a:srgbClr val="3E6D2E"/>
                </a:solidFill>
                <a:latin typeface="Calibri" pitchFamily="34" charset="0"/>
                <a:ea typeface="Calibri" pitchFamily="34" charset="-122"/>
                <a:cs typeface="Calibri" pitchFamily="34" charset="-120"/>
              </a:rPr>
              <a:t>92</a:t>
            </a:r>
            <a:endParaRPr lang="en-US" sz="5200" dirty="0"/>
          </a:p>
        </p:txBody>
      </p:sp>
      <p:sp>
        <p:nvSpPr>
          <p:cNvPr id="20" name="Text 18"/>
          <p:cNvSpPr/>
          <p:nvPr/>
        </p:nvSpPr>
        <p:spPr>
          <a:xfrm>
            <a:off x="960120" y="4526280"/>
            <a:ext cx="2148840" cy="36576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latency 12 ms · jitter 2 ms · loss 0%</a:t>
            </a:r>
            <a:endParaRPr lang="en-US" sz="900" dirty="0"/>
          </a:p>
        </p:txBody>
      </p:sp>
      <p:sp>
        <p:nvSpPr>
          <p:cNvPr id="21" name="Shape 19"/>
          <p:cNvSpPr/>
          <p:nvPr/>
        </p:nvSpPr>
        <p:spPr>
          <a:xfrm>
            <a:off x="3520440" y="3154680"/>
            <a:ext cx="2423160" cy="1828800"/>
          </a:xfrm>
          <a:prstGeom prst="rect">
            <a:avLst/>
          </a:prstGeom>
          <a:solidFill>
            <a:srgbClr val="FFFFFF"/>
          </a:solidFill>
          <a:ln w="25400">
            <a:solidFill>
              <a:srgbClr val="B8860B"/>
            </a:solidFill>
            <a:prstDash val="solid"/>
          </a:ln>
        </p:spPr>
      </p:sp>
      <p:sp>
        <p:nvSpPr>
          <p:cNvPr id="22" name="Shape 20"/>
          <p:cNvSpPr/>
          <p:nvPr/>
        </p:nvSpPr>
        <p:spPr>
          <a:xfrm>
            <a:off x="3520440" y="3154680"/>
            <a:ext cx="2423160" cy="109728"/>
          </a:xfrm>
          <a:prstGeom prst="rect">
            <a:avLst/>
          </a:prstGeom>
          <a:solidFill>
            <a:srgbClr val="B8860B"/>
          </a:solidFill>
          <a:ln w="12700">
            <a:solidFill>
              <a:srgbClr val="B8860B"/>
            </a:solidFill>
            <a:prstDash val="solid"/>
          </a:ln>
        </p:spPr>
      </p:sp>
      <p:sp>
        <p:nvSpPr>
          <p:cNvPr id="23" name="Text 21"/>
          <p:cNvSpPr/>
          <p:nvPr/>
        </p:nvSpPr>
        <p:spPr>
          <a:xfrm>
            <a:off x="3657600" y="3337560"/>
            <a:ext cx="214884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5G</a:t>
            </a:r>
            <a:endParaRPr lang="en-US" sz="1300" dirty="0"/>
          </a:p>
        </p:txBody>
      </p:sp>
      <p:sp>
        <p:nvSpPr>
          <p:cNvPr id="24" name="Text 22"/>
          <p:cNvSpPr/>
          <p:nvPr/>
        </p:nvSpPr>
        <p:spPr>
          <a:xfrm>
            <a:off x="3657600" y="3337560"/>
            <a:ext cx="2148840" cy="274320"/>
          </a:xfrm>
          <a:prstGeom prst="rect">
            <a:avLst/>
          </a:prstGeom>
          <a:noFill/>
          <a:ln/>
        </p:spPr>
        <p:txBody>
          <a:bodyPr wrap="square" lIns="0" tIns="0" rIns="0" bIns="0" rtlCol="0" anchor="ctr"/>
          <a:lstStyle/>
          <a:p>
            <a:pPr marL="0" indent="0" algn="r">
              <a:buNone/>
            </a:pPr>
            <a:r>
              <a:rPr lang="en-US" sz="1000" b="1" dirty="0">
                <a:solidFill>
                  <a:srgbClr val="B8860B"/>
                </a:solidFill>
                <a:latin typeface="Calibri" pitchFamily="34" charset="0"/>
                <a:ea typeface="Calibri" pitchFamily="34" charset="-122"/>
                <a:cs typeface="Calibri" pitchFamily="34" charset="-120"/>
              </a:rPr>
              <a:t>Watch</a:t>
            </a:r>
            <a:endParaRPr lang="en-US" sz="1000" dirty="0"/>
          </a:p>
        </p:txBody>
      </p:sp>
      <p:sp>
        <p:nvSpPr>
          <p:cNvPr id="25" name="Text 23"/>
          <p:cNvSpPr/>
          <p:nvPr/>
        </p:nvSpPr>
        <p:spPr>
          <a:xfrm>
            <a:off x="3657600" y="3657600"/>
            <a:ext cx="2148840" cy="777240"/>
          </a:xfrm>
          <a:prstGeom prst="rect">
            <a:avLst/>
          </a:prstGeom>
          <a:noFill/>
          <a:ln/>
        </p:spPr>
        <p:txBody>
          <a:bodyPr wrap="square" lIns="0" tIns="0" rIns="0" bIns="0" rtlCol="0" anchor="ctr"/>
          <a:lstStyle/>
          <a:p>
            <a:pPr marL="0" indent="0" algn="ctr">
              <a:buNone/>
            </a:pPr>
            <a:r>
              <a:rPr lang="en-US" sz="5200" b="1" dirty="0">
                <a:solidFill>
                  <a:srgbClr val="B8860B"/>
                </a:solidFill>
                <a:latin typeface="Calibri" pitchFamily="34" charset="0"/>
                <a:ea typeface="Calibri" pitchFamily="34" charset="-122"/>
                <a:cs typeface="Calibri" pitchFamily="34" charset="-120"/>
              </a:rPr>
              <a:t>78</a:t>
            </a:r>
            <a:endParaRPr lang="en-US" sz="5200" dirty="0"/>
          </a:p>
        </p:txBody>
      </p:sp>
      <p:sp>
        <p:nvSpPr>
          <p:cNvPr id="26" name="Text 24"/>
          <p:cNvSpPr/>
          <p:nvPr/>
        </p:nvSpPr>
        <p:spPr>
          <a:xfrm>
            <a:off x="3657600" y="4526280"/>
            <a:ext cx="2148840" cy="36576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latency 24 ms · jitter 6 ms · loss 0.2%</a:t>
            </a:r>
            <a:endParaRPr lang="en-US" sz="900" dirty="0"/>
          </a:p>
        </p:txBody>
      </p:sp>
      <p:sp>
        <p:nvSpPr>
          <p:cNvPr id="27" name="Shape 25"/>
          <p:cNvSpPr/>
          <p:nvPr/>
        </p:nvSpPr>
        <p:spPr>
          <a:xfrm>
            <a:off x="6217920" y="3154680"/>
            <a:ext cx="2423160" cy="1828800"/>
          </a:xfrm>
          <a:prstGeom prst="rect">
            <a:avLst/>
          </a:prstGeom>
          <a:solidFill>
            <a:srgbClr val="FFFFFF"/>
          </a:solidFill>
          <a:ln w="25400">
            <a:solidFill>
              <a:srgbClr val="3E6D2E"/>
            </a:solidFill>
            <a:prstDash val="solid"/>
          </a:ln>
        </p:spPr>
      </p:sp>
      <p:sp>
        <p:nvSpPr>
          <p:cNvPr id="28" name="Shape 26"/>
          <p:cNvSpPr/>
          <p:nvPr/>
        </p:nvSpPr>
        <p:spPr>
          <a:xfrm>
            <a:off x="6217920" y="3154680"/>
            <a:ext cx="2423160" cy="109728"/>
          </a:xfrm>
          <a:prstGeom prst="rect">
            <a:avLst/>
          </a:prstGeom>
          <a:solidFill>
            <a:srgbClr val="3E6D2E"/>
          </a:solidFill>
          <a:ln w="12700">
            <a:solidFill>
              <a:srgbClr val="3E6D2E"/>
            </a:solidFill>
            <a:prstDash val="solid"/>
          </a:ln>
        </p:spPr>
      </p:sp>
      <p:sp>
        <p:nvSpPr>
          <p:cNvPr id="29" name="Text 27"/>
          <p:cNvSpPr/>
          <p:nvPr/>
        </p:nvSpPr>
        <p:spPr>
          <a:xfrm>
            <a:off x="6355080" y="3337560"/>
            <a:ext cx="214884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Broadband</a:t>
            </a:r>
            <a:endParaRPr lang="en-US" sz="1300" dirty="0"/>
          </a:p>
        </p:txBody>
      </p:sp>
      <p:sp>
        <p:nvSpPr>
          <p:cNvPr id="30" name="Text 28"/>
          <p:cNvSpPr/>
          <p:nvPr/>
        </p:nvSpPr>
        <p:spPr>
          <a:xfrm>
            <a:off x="6355080" y="3337560"/>
            <a:ext cx="2148840" cy="274320"/>
          </a:xfrm>
          <a:prstGeom prst="rect">
            <a:avLst/>
          </a:prstGeom>
          <a:noFill/>
          <a:ln/>
        </p:spPr>
        <p:txBody>
          <a:bodyPr wrap="square" lIns="0" tIns="0" rIns="0" bIns="0" rtlCol="0" anchor="ctr"/>
          <a:lstStyle/>
          <a:p>
            <a:pPr marL="0" indent="0" algn="r">
              <a:buNone/>
            </a:pPr>
            <a:r>
              <a:rPr lang="en-US" sz="1000" b="1" dirty="0">
                <a:solidFill>
                  <a:srgbClr val="3E6D2E"/>
                </a:solidFill>
                <a:latin typeface="Calibri" pitchFamily="34" charset="0"/>
                <a:ea typeface="Calibri" pitchFamily="34" charset="-122"/>
                <a:cs typeface="Calibri" pitchFamily="34" charset="-120"/>
              </a:rPr>
              <a:t>Healthy</a:t>
            </a:r>
            <a:endParaRPr lang="en-US" sz="1000" dirty="0"/>
          </a:p>
        </p:txBody>
      </p:sp>
      <p:sp>
        <p:nvSpPr>
          <p:cNvPr id="31" name="Text 29"/>
          <p:cNvSpPr/>
          <p:nvPr/>
        </p:nvSpPr>
        <p:spPr>
          <a:xfrm>
            <a:off x="6355080" y="3657600"/>
            <a:ext cx="2148840" cy="777240"/>
          </a:xfrm>
          <a:prstGeom prst="rect">
            <a:avLst/>
          </a:prstGeom>
          <a:noFill/>
          <a:ln/>
        </p:spPr>
        <p:txBody>
          <a:bodyPr wrap="square" lIns="0" tIns="0" rIns="0" bIns="0" rtlCol="0" anchor="ctr"/>
          <a:lstStyle/>
          <a:p>
            <a:pPr marL="0" indent="0" algn="ctr">
              <a:buNone/>
            </a:pPr>
            <a:r>
              <a:rPr lang="en-US" sz="5200" b="1" dirty="0">
                <a:solidFill>
                  <a:srgbClr val="3E6D2E"/>
                </a:solidFill>
                <a:latin typeface="Calibri" pitchFamily="34" charset="0"/>
                <a:ea typeface="Calibri" pitchFamily="34" charset="-122"/>
                <a:cs typeface="Calibri" pitchFamily="34" charset="-120"/>
              </a:rPr>
              <a:t>84</a:t>
            </a:r>
            <a:endParaRPr lang="en-US" sz="5200" dirty="0"/>
          </a:p>
        </p:txBody>
      </p:sp>
      <p:sp>
        <p:nvSpPr>
          <p:cNvPr id="32" name="Text 30"/>
          <p:cNvSpPr/>
          <p:nvPr/>
        </p:nvSpPr>
        <p:spPr>
          <a:xfrm>
            <a:off x="6355080" y="4526280"/>
            <a:ext cx="2148840" cy="36576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latency 18 ms · jitter 3 ms · loss 0.1%</a:t>
            </a:r>
            <a:endParaRPr lang="en-US" sz="900" dirty="0"/>
          </a:p>
        </p:txBody>
      </p:sp>
      <p:sp>
        <p:nvSpPr>
          <p:cNvPr id="33" name="Shape 31"/>
          <p:cNvSpPr/>
          <p:nvPr/>
        </p:nvSpPr>
        <p:spPr>
          <a:xfrm>
            <a:off x="8915400" y="3154680"/>
            <a:ext cx="2423160" cy="1828800"/>
          </a:xfrm>
          <a:prstGeom prst="rect">
            <a:avLst/>
          </a:prstGeom>
          <a:solidFill>
            <a:srgbClr val="FFFFFF"/>
          </a:solidFill>
          <a:ln w="25400">
            <a:solidFill>
              <a:srgbClr val="8B3A3A"/>
            </a:solidFill>
            <a:prstDash val="solid"/>
          </a:ln>
        </p:spPr>
      </p:sp>
      <p:sp>
        <p:nvSpPr>
          <p:cNvPr id="34" name="Shape 32"/>
          <p:cNvSpPr/>
          <p:nvPr/>
        </p:nvSpPr>
        <p:spPr>
          <a:xfrm>
            <a:off x="8915400" y="3154680"/>
            <a:ext cx="2423160" cy="109728"/>
          </a:xfrm>
          <a:prstGeom prst="rect">
            <a:avLst/>
          </a:prstGeom>
          <a:solidFill>
            <a:srgbClr val="8B3A3A"/>
          </a:solidFill>
          <a:ln w="12700">
            <a:solidFill>
              <a:srgbClr val="8B3A3A"/>
            </a:solidFill>
            <a:prstDash val="solid"/>
          </a:ln>
        </p:spPr>
      </p:sp>
      <p:sp>
        <p:nvSpPr>
          <p:cNvPr id="35" name="Text 33"/>
          <p:cNvSpPr/>
          <p:nvPr/>
        </p:nvSpPr>
        <p:spPr>
          <a:xfrm>
            <a:off x="9052560" y="3337560"/>
            <a:ext cx="2148840" cy="27432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Satellite</a:t>
            </a:r>
            <a:endParaRPr lang="en-US" sz="1300" dirty="0"/>
          </a:p>
        </p:txBody>
      </p:sp>
      <p:sp>
        <p:nvSpPr>
          <p:cNvPr id="36" name="Text 34"/>
          <p:cNvSpPr/>
          <p:nvPr/>
        </p:nvSpPr>
        <p:spPr>
          <a:xfrm>
            <a:off x="9052560" y="3337560"/>
            <a:ext cx="2148840" cy="274320"/>
          </a:xfrm>
          <a:prstGeom prst="rect">
            <a:avLst/>
          </a:prstGeom>
          <a:noFill/>
          <a:ln/>
        </p:spPr>
        <p:txBody>
          <a:bodyPr wrap="square" lIns="0" tIns="0" rIns="0" bIns="0" rtlCol="0" anchor="ctr"/>
          <a:lstStyle/>
          <a:p>
            <a:pPr marL="0" indent="0" algn="r">
              <a:buNone/>
            </a:pPr>
            <a:r>
              <a:rPr lang="en-US" sz="1000" b="1" dirty="0">
                <a:solidFill>
                  <a:srgbClr val="8B3A3A"/>
                </a:solidFill>
                <a:latin typeface="Calibri" pitchFamily="34" charset="0"/>
                <a:ea typeface="Calibri" pitchFamily="34" charset="-122"/>
                <a:cs typeface="Calibri" pitchFamily="34" charset="-120"/>
              </a:rPr>
              <a:t>Degraded</a:t>
            </a:r>
            <a:endParaRPr lang="en-US" sz="1000" dirty="0"/>
          </a:p>
        </p:txBody>
      </p:sp>
      <p:sp>
        <p:nvSpPr>
          <p:cNvPr id="37" name="Text 35"/>
          <p:cNvSpPr/>
          <p:nvPr/>
        </p:nvSpPr>
        <p:spPr>
          <a:xfrm>
            <a:off x="9052560" y="3657600"/>
            <a:ext cx="2148840" cy="777240"/>
          </a:xfrm>
          <a:prstGeom prst="rect">
            <a:avLst/>
          </a:prstGeom>
          <a:noFill/>
          <a:ln/>
        </p:spPr>
        <p:txBody>
          <a:bodyPr wrap="square" lIns="0" tIns="0" rIns="0" bIns="0" rtlCol="0" anchor="ctr"/>
          <a:lstStyle/>
          <a:p>
            <a:pPr marL="0" indent="0" algn="ctr">
              <a:buNone/>
            </a:pPr>
            <a:r>
              <a:rPr lang="en-US" sz="5200" b="1" dirty="0">
                <a:solidFill>
                  <a:srgbClr val="8B3A3A"/>
                </a:solidFill>
                <a:latin typeface="Calibri" pitchFamily="34" charset="0"/>
                <a:ea typeface="Calibri" pitchFamily="34" charset="-122"/>
                <a:cs typeface="Calibri" pitchFamily="34" charset="-120"/>
              </a:rPr>
              <a:t>41</a:t>
            </a:r>
            <a:endParaRPr lang="en-US" sz="5200" dirty="0"/>
          </a:p>
        </p:txBody>
      </p:sp>
      <p:sp>
        <p:nvSpPr>
          <p:cNvPr id="38" name="Text 36"/>
          <p:cNvSpPr/>
          <p:nvPr/>
        </p:nvSpPr>
        <p:spPr>
          <a:xfrm>
            <a:off x="9052560" y="4526280"/>
            <a:ext cx="2148840" cy="36576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latency 312 ms · jitter 48 ms · loss 3.2%</a:t>
            </a:r>
            <a:endParaRPr lang="en-US" sz="900" dirty="0"/>
          </a:p>
        </p:txBody>
      </p:sp>
      <p:sp>
        <p:nvSpPr>
          <p:cNvPr id="39" name="Shape 37"/>
          <p:cNvSpPr/>
          <p:nvPr/>
        </p:nvSpPr>
        <p:spPr>
          <a:xfrm>
            <a:off x="822960" y="5257800"/>
            <a:ext cx="10515600" cy="914400"/>
          </a:xfrm>
          <a:prstGeom prst="rect">
            <a:avLst/>
          </a:prstGeom>
          <a:solidFill>
            <a:srgbClr val="FFFBF0"/>
          </a:solidFill>
          <a:ln w="19050">
            <a:solidFill>
              <a:srgbClr val="8B3A3A"/>
            </a:solidFill>
            <a:prstDash val="solid"/>
          </a:ln>
        </p:spPr>
      </p:sp>
      <p:pic>
        <p:nvPicPr>
          <p:cNvPr id="40" name="Image 0" descr="preencoded.png"/>
          <p:cNvPicPr>
            <a:picLocks noChangeAspect="1"/>
          </p:cNvPicPr>
          <p:nvPr/>
        </p:nvPicPr>
        <p:blipFill>
          <a:blip r:embed="rId3"/>
          <a:stretch>
            <a:fillRect/>
          </a:stretch>
        </p:blipFill>
        <p:spPr>
          <a:xfrm>
            <a:off x="960120" y="5486400"/>
            <a:ext cx="411480" cy="411480"/>
          </a:xfrm>
          <a:prstGeom prst="rect">
            <a:avLst/>
          </a:prstGeom>
        </p:spPr>
      </p:pic>
      <p:sp>
        <p:nvSpPr>
          <p:cNvPr id="41" name="Text 38"/>
          <p:cNvSpPr/>
          <p:nvPr/>
        </p:nvSpPr>
        <p:spPr>
          <a:xfrm>
            <a:off x="1554480" y="5349240"/>
            <a:ext cx="9601200" cy="365760"/>
          </a:xfrm>
          <a:prstGeom prst="rect">
            <a:avLst/>
          </a:prstGeom>
          <a:noFill/>
          <a:ln/>
        </p:spPr>
        <p:txBody>
          <a:bodyPr wrap="square" lIns="0" tIns="0" rIns="0" bIns="0" rtlCol="0" anchor="ctr"/>
          <a:lstStyle/>
          <a:p>
            <a:pPr marL="0" indent="0">
              <a:buNone/>
            </a:pPr>
            <a:r>
              <a:rPr lang="en-US" sz="1300" b="1" dirty="0">
                <a:solidFill>
                  <a:srgbClr val="8B3A3A"/>
                </a:solidFill>
                <a:latin typeface="Calibri" pitchFamily="34" charset="0"/>
                <a:ea typeface="Calibri" pitchFamily="34" charset="-122"/>
                <a:cs typeface="Calibri" pitchFamily="34" charset="-120"/>
              </a:rPr>
              <a:t>Predicted degradation on Satellite · 46s lead time</a:t>
            </a:r>
            <a:endParaRPr lang="en-US" sz="1300" dirty="0"/>
          </a:p>
        </p:txBody>
      </p:sp>
      <p:sp>
        <p:nvSpPr>
          <p:cNvPr id="42" name="Text 39"/>
          <p:cNvSpPr/>
          <p:nvPr/>
        </p:nvSpPr>
        <p:spPr>
          <a:xfrm>
            <a:off x="1554480" y="5760720"/>
            <a:ext cx="9601200" cy="36576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LSTM confidence 0.92 · reason: jitter trending up 4σ · proposed: shift VoIP to Fiber · validating in sandbox…</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DASHBOARD TOUR  ·  2 OF 3</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Dashboard — Telemetry Monitor</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15 / 25</a:t>
            </a:r>
            <a:endParaRPr lang="en-US" sz="900" dirty="0"/>
          </a:p>
        </p:txBody>
      </p:sp>
      <p:sp>
        <p:nvSpPr>
          <p:cNvPr id="7" name="Shape 5"/>
          <p:cNvSpPr/>
          <p:nvPr/>
        </p:nvSpPr>
        <p:spPr>
          <a:xfrm>
            <a:off x="548640" y="1783080"/>
            <a:ext cx="11064240" cy="45720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548640" y="1783080"/>
            <a:ext cx="11064240" cy="411480"/>
          </a:xfrm>
          <a:prstGeom prst="rect">
            <a:avLst/>
          </a:prstGeom>
          <a:solidFill>
            <a:srgbClr val="F1F2F4"/>
          </a:solidFill>
          <a:ln w="12700">
            <a:solidFill>
              <a:srgbClr val="A4ACB5"/>
            </a:solidFill>
            <a:prstDash val="solid"/>
          </a:ln>
        </p:spPr>
      </p:sp>
      <p:sp>
        <p:nvSpPr>
          <p:cNvPr id="9" name="Text 7"/>
          <p:cNvSpPr/>
          <p:nvPr/>
        </p:nvSpPr>
        <p:spPr>
          <a:xfrm>
            <a:off x="822960" y="1874520"/>
            <a:ext cx="10515600" cy="228600"/>
          </a:xfrm>
          <a:prstGeom prst="rect">
            <a:avLst/>
          </a:prstGeom>
          <a:noFill/>
          <a:ln/>
        </p:spPr>
        <p:txBody>
          <a:bodyPr wrap="square" lIns="0" tIns="0" rIns="0" bIns="0" rtlCol="0" anchor="ctr"/>
          <a:lstStyle/>
          <a:p>
            <a:pPr marL="0" indent="0">
              <a:buNone/>
            </a:pPr>
            <a:r>
              <a:rPr lang="en-US" sz="1000" dirty="0">
                <a:solidFill>
                  <a:srgbClr val="6B737A"/>
                </a:solidFill>
                <a:latin typeface="Consolas" pitchFamily="34" charset="0"/>
                <a:ea typeface="Consolas" pitchFamily="34" charset="-122"/>
                <a:cs typeface="Consolas" pitchFamily="34" charset="-120"/>
              </a:rPr>
              <a:t>pathwise.local  /  telemetry-monitor  /  link=satellite</a:t>
            </a:r>
            <a:endParaRPr lang="en-US" sz="1000" dirty="0"/>
          </a:p>
        </p:txBody>
      </p:sp>
      <p:sp>
        <p:nvSpPr>
          <p:cNvPr id="10" name="Text 8"/>
          <p:cNvSpPr/>
          <p:nvPr/>
        </p:nvSpPr>
        <p:spPr>
          <a:xfrm>
            <a:off x="822960" y="2377440"/>
            <a:ext cx="1051560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Satellite link — last 30 minutes</a:t>
            </a:r>
            <a:endParaRPr lang="en-US" sz="1600" dirty="0"/>
          </a:p>
        </p:txBody>
      </p:sp>
      <p:graphicFrame>
        <p:nvGraphicFramePr>
          <p:cNvPr id="11" name="Chart 0"/>
          <p:cNvGraphicFramePr/>
          <p:nvPr/>
        </p:nvGraphicFramePr>
        <p:xfrm>
          <a:off x="822960" y="2788920"/>
          <a:ext cx="105156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822960" y="5623560"/>
            <a:ext cx="2423160" cy="685800"/>
          </a:xfrm>
          <a:prstGeom prst="rect">
            <a:avLst/>
          </a:prstGeom>
          <a:solidFill>
            <a:srgbClr val="F1F2F4"/>
          </a:solidFill>
          <a:ln w="6350">
            <a:solidFill>
              <a:srgbClr val="A4ACB5"/>
            </a:solidFill>
            <a:prstDash val="solid"/>
          </a:ln>
        </p:spPr>
      </p:sp>
      <p:sp>
        <p:nvSpPr>
          <p:cNvPr id="13" name="Text 10"/>
          <p:cNvSpPr/>
          <p:nvPr/>
        </p:nvSpPr>
        <p:spPr>
          <a:xfrm>
            <a:off x="1005840" y="5669280"/>
            <a:ext cx="2057400" cy="365760"/>
          </a:xfrm>
          <a:prstGeom prst="rect">
            <a:avLst/>
          </a:prstGeom>
          <a:noFill/>
          <a:ln/>
        </p:spPr>
        <p:txBody>
          <a:bodyPr wrap="square" lIns="0" tIns="0" rIns="0" bIns="0" rtlCol="0" anchor="ctr"/>
          <a:lstStyle/>
          <a:p>
            <a:pPr marL="0" indent="0">
              <a:buNone/>
            </a:pPr>
            <a:r>
              <a:rPr lang="en-US" sz="1800" b="1" dirty="0">
                <a:solidFill>
                  <a:srgbClr val="8B3A3A"/>
                </a:solidFill>
                <a:latin typeface="Calibri" pitchFamily="34" charset="0"/>
                <a:ea typeface="Calibri" pitchFamily="34" charset="-122"/>
                <a:cs typeface="Calibri" pitchFamily="34" charset="-120"/>
              </a:rPr>
              <a:t>312 ms</a:t>
            </a:r>
            <a:endParaRPr lang="en-US" sz="1800" dirty="0"/>
          </a:p>
        </p:txBody>
      </p:sp>
      <p:sp>
        <p:nvSpPr>
          <p:cNvPr id="14" name="Text 11"/>
          <p:cNvSpPr/>
          <p:nvPr/>
        </p:nvSpPr>
        <p:spPr>
          <a:xfrm>
            <a:off x="1005840" y="6035040"/>
            <a:ext cx="2057400" cy="22860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Current latency</a:t>
            </a:r>
            <a:endParaRPr lang="en-US" sz="900" dirty="0"/>
          </a:p>
        </p:txBody>
      </p:sp>
      <p:sp>
        <p:nvSpPr>
          <p:cNvPr id="15" name="Shape 12"/>
          <p:cNvSpPr/>
          <p:nvPr/>
        </p:nvSpPr>
        <p:spPr>
          <a:xfrm>
            <a:off x="3520440" y="5623560"/>
            <a:ext cx="2423160" cy="685800"/>
          </a:xfrm>
          <a:prstGeom prst="rect">
            <a:avLst/>
          </a:prstGeom>
          <a:solidFill>
            <a:srgbClr val="F1F2F4"/>
          </a:solidFill>
          <a:ln w="6350">
            <a:solidFill>
              <a:srgbClr val="A4ACB5"/>
            </a:solidFill>
            <a:prstDash val="solid"/>
          </a:ln>
        </p:spPr>
      </p:sp>
      <p:sp>
        <p:nvSpPr>
          <p:cNvPr id="16" name="Text 13"/>
          <p:cNvSpPr/>
          <p:nvPr/>
        </p:nvSpPr>
        <p:spPr>
          <a:xfrm>
            <a:off x="3703320" y="5669280"/>
            <a:ext cx="2057400" cy="365760"/>
          </a:xfrm>
          <a:prstGeom prst="rect">
            <a:avLst/>
          </a:prstGeom>
          <a:noFill/>
          <a:ln/>
        </p:spPr>
        <p:txBody>
          <a:bodyPr wrap="square" lIns="0" tIns="0" rIns="0" bIns="0" rtlCol="0" anchor="ctr"/>
          <a:lstStyle/>
          <a:p>
            <a:pPr marL="0" indent="0">
              <a:buNone/>
            </a:pPr>
            <a:r>
              <a:rPr lang="en-US" sz="1800" b="1" dirty="0">
                <a:solidFill>
                  <a:srgbClr val="8B3A3A"/>
                </a:solidFill>
                <a:latin typeface="Calibri" pitchFamily="34" charset="0"/>
                <a:ea typeface="Calibri" pitchFamily="34" charset="-122"/>
                <a:cs typeface="Calibri" pitchFamily="34" charset="-120"/>
              </a:rPr>
              <a:t>+ 280 ms</a:t>
            </a:r>
            <a:endParaRPr lang="en-US" sz="1800" dirty="0"/>
          </a:p>
        </p:txBody>
      </p:sp>
      <p:sp>
        <p:nvSpPr>
          <p:cNvPr id="17" name="Text 14"/>
          <p:cNvSpPr/>
          <p:nvPr/>
        </p:nvSpPr>
        <p:spPr>
          <a:xfrm>
            <a:off x="3703320" y="6035040"/>
            <a:ext cx="2057400" cy="22860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Trend (5 min)</a:t>
            </a:r>
            <a:endParaRPr lang="en-US" sz="900" dirty="0"/>
          </a:p>
        </p:txBody>
      </p:sp>
      <p:sp>
        <p:nvSpPr>
          <p:cNvPr id="18" name="Shape 15"/>
          <p:cNvSpPr/>
          <p:nvPr/>
        </p:nvSpPr>
        <p:spPr>
          <a:xfrm>
            <a:off x="6217920" y="5623560"/>
            <a:ext cx="2423160" cy="685800"/>
          </a:xfrm>
          <a:prstGeom prst="rect">
            <a:avLst/>
          </a:prstGeom>
          <a:solidFill>
            <a:srgbClr val="F1F2F4"/>
          </a:solidFill>
          <a:ln w="6350">
            <a:solidFill>
              <a:srgbClr val="A4ACB5"/>
            </a:solidFill>
            <a:prstDash val="solid"/>
          </a:ln>
        </p:spPr>
      </p:sp>
      <p:sp>
        <p:nvSpPr>
          <p:cNvPr id="19" name="Text 16"/>
          <p:cNvSpPr/>
          <p:nvPr/>
        </p:nvSpPr>
        <p:spPr>
          <a:xfrm>
            <a:off x="6400800" y="5669280"/>
            <a:ext cx="2057400" cy="365760"/>
          </a:xfrm>
          <a:prstGeom prst="rect">
            <a:avLst/>
          </a:prstGeom>
          <a:noFill/>
          <a:ln/>
        </p:spPr>
        <p:txBody>
          <a:bodyPr wrap="square" lIns="0" tIns="0" rIns="0" bIns="0" rtlCol="0" anchor="ctr"/>
          <a:lstStyle/>
          <a:p>
            <a:pPr marL="0" indent="0">
              <a:buNone/>
            </a:pPr>
            <a:r>
              <a:rPr lang="en-US" sz="1800" b="1" dirty="0">
                <a:solidFill>
                  <a:srgbClr val="8B3A3A"/>
                </a:solidFill>
                <a:latin typeface="Calibri" pitchFamily="34" charset="0"/>
                <a:ea typeface="Calibri" pitchFamily="34" charset="-122"/>
                <a:cs typeface="Calibri" pitchFamily="34" charset="-120"/>
              </a:rPr>
              <a:t>41</a:t>
            </a:r>
            <a:endParaRPr lang="en-US" sz="1800" dirty="0"/>
          </a:p>
        </p:txBody>
      </p:sp>
      <p:sp>
        <p:nvSpPr>
          <p:cNvPr id="20" name="Text 17"/>
          <p:cNvSpPr/>
          <p:nvPr/>
        </p:nvSpPr>
        <p:spPr>
          <a:xfrm>
            <a:off x="6400800" y="6035040"/>
            <a:ext cx="2057400" cy="22860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Health score</a:t>
            </a:r>
            <a:endParaRPr lang="en-US" sz="900" dirty="0"/>
          </a:p>
        </p:txBody>
      </p:sp>
      <p:sp>
        <p:nvSpPr>
          <p:cNvPr id="21" name="Shape 18"/>
          <p:cNvSpPr/>
          <p:nvPr/>
        </p:nvSpPr>
        <p:spPr>
          <a:xfrm>
            <a:off x="8915400" y="5623560"/>
            <a:ext cx="2423160" cy="685800"/>
          </a:xfrm>
          <a:prstGeom prst="rect">
            <a:avLst/>
          </a:prstGeom>
          <a:solidFill>
            <a:srgbClr val="F1F2F4"/>
          </a:solidFill>
          <a:ln w="6350">
            <a:solidFill>
              <a:srgbClr val="A4ACB5"/>
            </a:solidFill>
            <a:prstDash val="solid"/>
          </a:ln>
        </p:spPr>
      </p:sp>
      <p:sp>
        <p:nvSpPr>
          <p:cNvPr id="22" name="Text 19"/>
          <p:cNvSpPr/>
          <p:nvPr/>
        </p:nvSpPr>
        <p:spPr>
          <a:xfrm>
            <a:off x="9098280" y="5669280"/>
            <a:ext cx="2057400" cy="365760"/>
          </a:xfrm>
          <a:prstGeom prst="rect">
            <a:avLst/>
          </a:prstGeom>
          <a:noFill/>
          <a:ln/>
        </p:spPr>
        <p:txBody>
          <a:bodyPr wrap="square" lIns="0" tIns="0" rIns="0" bIns="0" rtlCol="0" anchor="ctr"/>
          <a:lstStyle/>
          <a:p>
            <a:pPr marL="0" indent="0">
              <a:buNone/>
            </a:pPr>
            <a:r>
              <a:rPr lang="en-US" sz="1800" b="1" dirty="0">
                <a:solidFill>
                  <a:srgbClr val="36454F"/>
                </a:solidFill>
                <a:latin typeface="Calibri" pitchFamily="34" charset="0"/>
                <a:ea typeface="Calibri" pitchFamily="34" charset="-122"/>
                <a:cs typeface="Calibri" pitchFamily="34" charset="-120"/>
              </a:rPr>
              <a:t>0.92</a:t>
            </a:r>
            <a:endParaRPr lang="en-US" sz="1800" dirty="0"/>
          </a:p>
        </p:txBody>
      </p:sp>
      <p:sp>
        <p:nvSpPr>
          <p:cNvPr id="23" name="Text 20"/>
          <p:cNvSpPr/>
          <p:nvPr/>
        </p:nvSpPr>
        <p:spPr>
          <a:xfrm>
            <a:off x="9098280" y="6035040"/>
            <a:ext cx="2057400" cy="22860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LSTM confidence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DASHBOARD TOUR  ·  3 OF 3</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Dashboard — Tamper-Evident Audit Log</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16 / 25</a:t>
            </a:r>
            <a:endParaRPr lang="en-US" sz="900" dirty="0"/>
          </a:p>
        </p:txBody>
      </p:sp>
      <p:sp>
        <p:nvSpPr>
          <p:cNvPr id="7" name="Shape 5"/>
          <p:cNvSpPr/>
          <p:nvPr/>
        </p:nvSpPr>
        <p:spPr>
          <a:xfrm>
            <a:off x="548640" y="1783080"/>
            <a:ext cx="11064240" cy="45720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548640" y="1783080"/>
            <a:ext cx="11064240" cy="411480"/>
          </a:xfrm>
          <a:prstGeom prst="rect">
            <a:avLst/>
          </a:prstGeom>
          <a:solidFill>
            <a:srgbClr val="F1F2F4"/>
          </a:solidFill>
          <a:ln w="12700">
            <a:solidFill>
              <a:srgbClr val="A4ACB5"/>
            </a:solidFill>
            <a:prstDash val="solid"/>
          </a:ln>
        </p:spPr>
      </p:sp>
      <p:sp>
        <p:nvSpPr>
          <p:cNvPr id="9" name="Text 7"/>
          <p:cNvSpPr/>
          <p:nvPr/>
        </p:nvSpPr>
        <p:spPr>
          <a:xfrm>
            <a:off x="822960" y="1874520"/>
            <a:ext cx="10515600" cy="228600"/>
          </a:xfrm>
          <a:prstGeom prst="rect">
            <a:avLst/>
          </a:prstGeom>
          <a:noFill/>
          <a:ln/>
        </p:spPr>
        <p:txBody>
          <a:bodyPr wrap="square" lIns="0" tIns="0" rIns="0" bIns="0" rtlCol="0" anchor="ctr"/>
          <a:lstStyle/>
          <a:p>
            <a:pPr marL="0" indent="0">
              <a:buNone/>
            </a:pPr>
            <a:r>
              <a:rPr lang="en-US" sz="1000" dirty="0">
                <a:solidFill>
                  <a:srgbClr val="6B737A"/>
                </a:solidFill>
                <a:latin typeface="Consolas" pitchFamily="34" charset="0"/>
                <a:ea typeface="Consolas" pitchFamily="34" charset="-122"/>
                <a:cs typeface="Consolas" pitchFamily="34" charset="-120"/>
              </a:rPr>
              <a:t>pathwise.local  /  audit-log</a:t>
            </a:r>
            <a:endParaRPr lang="en-US" sz="1000" dirty="0"/>
          </a:p>
        </p:txBody>
      </p:sp>
      <p:sp>
        <p:nvSpPr>
          <p:cNvPr id="10" name="Text 8"/>
          <p:cNvSpPr/>
          <p:nvPr/>
        </p:nvSpPr>
        <p:spPr>
          <a:xfrm>
            <a:off x="822960" y="2377440"/>
            <a:ext cx="10515600" cy="365760"/>
          </a:xfrm>
          <a:prstGeom prst="rect">
            <a:avLst/>
          </a:prstGeom>
          <a:noFill/>
          <a:ln/>
        </p:spPr>
        <p:txBody>
          <a:bodyPr wrap="square" lIns="0" tIns="0" rIns="0" bIns="0" rtlCol="0" anchor="ctr"/>
          <a:lstStyle/>
          <a:p>
            <a:pPr marL="0" indent="0">
              <a:buNone/>
            </a:pPr>
            <a:r>
              <a:rPr lang="en-US" sz="1600" b="1" dirty="0">
                <a:solidFill>
                  <a:srgbClr val="36454F"/>
                </a:solidFill>
                <a:latin typeface="Calibri" pitchFamily="34" charset="0"/>
                <a:ea typeface="Calibri" pitchFamily="34" charset="-122"/>
                <a:cs typeface="Calibri" pitchFamily="34" charset="-120"/>
              </a:rPr>
              <a:t>Audit log · filter by type, date, actor</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2788920"/>
          <a:ext cx="10515600" cy="2176272"/>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1089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Timestamp</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Actor</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Details</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Checksum</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14:32:18.203</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SYSTEM</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b="1" dirty="0">
                          <a:solidFill>
                            <a:srgbClr val="8B3A3A"/>
                          </a:solidFill>
                          <a:latin typeface="Calibri" pitchFamily="34" charset="0"/>
                          <a:ea typeface="Calibri" pitchFamily="34" charset="-122"/>
                          <a:cs typeface="Calibri" pitchFamily="34" charset="-120"/>
                        </a:rPr>
                        <a:t>Steering triggered</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Satellite→Fiber · VoIP · conf 0.92</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onsolas" pitchFamily="34" charset="0"/>
                          <a:ea typeface="Consolas" pitchFamily="34" charset="-122"/>
                          <a:cs typeface="Consolas" pitchFamily="34" charset="-120"/>
                        </a:rPr>
                        <a:t>a3f9c1…</a:t>
                      </a:r>
                      <a:endParaRPr lang="en-US" sz="1000" dirty="0">
                        <a:latin typeface="Consolas" charset="0"/>
                        <a:ea typeface="Consolas" charset="0"/>
                        <a:cs typeface="Consolas"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14:32:18.141</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SYSTEM</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b="1" dirty="0">
                          <a:solidFill>
                            <a:srgbClr val="3E6D2E"/>
                          </a:solidFill>
                          <a:latin typeface="Calibri" pitchFamily="34" charset="0"/>
                          <a:ea typeface="Calibri" pitchFamily="34" charset="-122"/>
                          <a:cs typeface="Calibri" pitchFamily="34" charset="-120"/>
                        </a:rPr>
                        <a:t>Sandbox PASSED</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Mininet + Batfish · no loops · ACL ok</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onsolas" pitchFamily="34" charset="0"/>
                          <a:ea typeface="Consolas" pitchFamily="34" charset="-122"/>
                          <a:cs typeface="Consolas" pitchFamily="34" charset="-120"/>
                        </a:rPr>
                        <a:t>d2b7e0…</a:t>
                      </a:r>
                      <a:endParaRPr lang="en-US" sz="1000" dirty="0">
                        <a:latin typeface="Consolas" charset="0"/>
                        <a:ea typeface="Consolas" charset="0"/>
                        <a:cs typeface="Consolas"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14:32:17.864</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SYSTEM</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b="1" dirty="0">
                          <a:solidFill>
                            <a:srgbClr val="36454F"/>
                          </a:solidFill>
                          <a:latin typeface="Calibri" pitchFamily="34" charset="0"/>
                          <a:ea typeface="Calibri" pitchFamily="34" charset="-122"/>
                          <a:cs typeface="Calibri" pitchFamily="34" charset="-120"/>
                        </a:rPr>
                        <a:t>Validation requested</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Proposed flow-table diff · 3 rules</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onsolas" pitchFamily="34" charset="0"/>
                          <a:ea typeface="Consolas" pitchFamily="34" charset="-122"/>
                          <a:cs typeface="Consolas" pitchFamily="34" charset="-120"/>
                        </a:rPr>
                        <a:t>5e4a99…</a:t>
                      </a:r>
                      <a:endParaRPr lang="en-US" sz="1000" dirty="0">
                        <a:latin typeface="Consolas" charset="0"/>
                        <a:ea typeface="Consolas" charset="0"/>
                        <a:cs typeface="Consolas"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14:32:17.611</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SYSTEM</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b="1" dirty="0">
                          <a:solidFill>
                            <a:srgbClr val="B8860B"/>
                          </a:solidFill>
                          <a:latin typeface="Calibri" pitchFamily="34" charset="0"/>
                          <a:ea typeface="Calibri" pitchFamily="34" charset="-122"/>
                          <a:cs typeface="Calibri" pitchFamily="34" charset="-120"/>
                        </a:rPr>
                        <a:t>Alert fired</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Satellite degradation predicted · 46s</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onsolas" pitchFamily="34" charset="0"/>
                          <a:ea typeface="Consolas" pitchFamily="34" charset="-122"/>
                          <a:cs typeface="Consolas" pitchFamily="34" charset="-120"/>
                        </a:rPr>
                        <a:t>0f3c8b…</a:t>
                      </a:r>
                      <a:endParaRPr lang="en-US" sz="1000" dirty="0">
                        <a:latin typeface="Consolas" charset="0"/>
                        <a:ea typeface="Consolas" charset="0"/>
                        <a:cs typeface="Consolas"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14:15:02.000</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v.kodakandla</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b="1" dirty="0">
                          <a:solidFill>
                            <a:srgbClr val="36454F"/>
                          </a:solidFill>
                          <a:latin typeface="Calibri" pitchFamily="34" charset="0"/>
                          <a:ea typeface="Calibri" pitchFamily="34" charset="-122"/>
                          <a:cs typeface="Calibri" pitchFamily="34" charset="-120"/>
                        </a:rPr>
                        <a:t>Policy deployed</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VoIP &gt; Video on retail sites (IBN)</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onsolas" pitchFamily="34" charset="0"/>
                          <a:ea typeface="Consolas" pitchFamily="34" charset="-122"/>
                          <a:cs typeface="Consolas" pitchFamily="34" charset="-120"/>
                        </a:rPr>
                        <a:t>b8172e…</a:t>
                      </a:r>
                      <a:endParaRPr lang="en-US" sz="1000" dirty="0">
                        <a:latin typeface="Consolas" charset="0"/>
                        <a:ea typeface="Consolas" charset="0"/>
                        <a:cs typeface="Consolas"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14:02:44.000</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m.nalluri</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alibri" pitchFamily="34" charset="0"/>
                          <a:ea typeface="Calibri" pitchFamily="34" charset="-122"/>
                          <a:cs typeface="Calibri" pitchFamily="34" charset="-120"/>
                        </a:rPr>
                        <a:t>Login</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1A1E22"/>
                          </a:solidFill>
                          <a:latin typeface="Calibri" pitchFamily="34" charset="0"/>
                          <a:ea typeface="Calibri" pitchFamily="34" charset="-122"/>
                          <a:cs typeface="Calibri" pitchFamily="34" charset="-120"/>
                        </a:rPr>
                        <a:t>Role: IT Manager · TLS 1.3</a:t>
                      </a:r>
                      <a:endParaRPr lang="en-US" sz="1000" dirty="0">
                        <a:latin typeface="Calibri" charset="0"/>
                        <a:ea typeface="Calibri" charset="0"/>
                        <a:cs typeface="Calibri"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1000" dirty="0">
                          <a:solidFill>
                            <a:srgbClr val="6B737A"/>
                          </a:solidFill>
                          <a:latin typeface="Consolas" pitchFamily="34" charset="0"/>
                          <a:ea typeface="Consolas" pitchFamily="34" charset="-122"/>
                          <a:cs typeface="Consolas" pitchFamily="34" charset="-120"/>
                        </a:rPr>
                        <a:t>16fa04…</a:t>
                      </a:r>
                      <a:endParaRPr lang="en-US" sz="1000" dirty="0">
                        <a:latin typeface="Consolas" charset="0"/>
                        <a:ea typeface="Consolas" charset="0"/>
                        <a:cs typeface="Consolas" charset="0"/>
                      </a:endParaRPr>
                    </a:p>
                  </a:txBody>
                  <a:tcP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Shape 9"/>
          <p:cNvSpPr/>
          <p:nvPr/>
        </p:nvSpPr>
        <p:spPr>
          <a:xfrm>
            <a:off x="822960" y="5532120"/>
            <a:ext cx="10515600" cy="640080"/>
          </a:xfrm>
          <a:prstGeom prst="rect">
            <a:avLst/>
          </a:prstGeom>
          <a:solidFill>
            <a:srgbClr val="F1F2F4"/>
          </a:solidFill>
          <a:ln w="12700">
            <a:solidFill>
              <a:srgbClr val="A4ACB5"/>
            </a:solidFill>
            <a:prstDash val="solid"/>
          </a:ln>
        </p:spPr>
      </p:sp>
      <p:pic>
        <p:nvPicPr>
          <p:cNvPr id="13" name="Image 0" descr="preencoded.png"/>
          <p:cNvPicPr>
            <a:picLocks noChangeAspect="1"/>
          </p:cNvPicPr>
          <p:nvPr/>
        </p:nvPicPr>
        <p:blipFill>
          <a:blip r:embed="rId3"/>
          <a:stretch>
            <a:fillRect/>
          </a:stretch>
        </p:blipFill>
        <p:spPr>
          <a:xfrm>
            <a:off x="1005840" y="5669280"/>
            <a:ext cx="365760" cy="365760"/>
          </a:xfrm>
          <a:prstGeom prst="rect">
            <a:avLst/>
          </a:prstGeom>
        </p:spPr>
      </p:pic>
      <p:sp>
        <p:nvSpPr>
          <p:cNvPr id="14" name="Text 10"/>
          <p:cNvSpPr/>
          <p:nvPr/>
        </p:nvSpPr>
        <p:spPr>
          <a:xfrm>
            <a:off x="1554480" y="5623560"/>
            <a:ext cx="9692640" cy="50292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Every row carries a SHA-256 checksum. </a:t>
            </a:r>
            <a:r>
              <a:rPr lang="en-US" sz="1200" dirty="0">
                <a:solidFill>
                  <a:srgbClr val="1A1E22"/>
                </a:solidFill>
                <a:latin typeface="Calibri" pitchFamily="34" charset="0"/>
                <a:ea typeface="Calibri" pitchFamily="34" charset="-122"/>
                <a:cs typeface="Calibri" pitchFamily="34" charset="-120"/>
              </a:rPr>
              <a:t>Any tampering breaks the checksum and is flagged on read — HIPAA-grade evidence.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USE CASES</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Use cases — human + automated workflows</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17 / 25</a:t>
            </a:r>
            <a:endParaRPr lang="en-US" sz="900" dirty="0"/>
          </a:p>
        </p:txBody>
      </p:sp>
      <p:sp>
        <p:nvSpPr>
          <p:cNvPr id="7" name="Shape 5"/>
          <p:cNvSpPr/>
          <p:nvPr/>
        </p:nvSpPr>
        <p:spPr>
          <a:xfrm>
            <a:off x="548640" y="1783080"/>
            <a:ext cx="5486400" cy="438912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548640" y="1783080"/>
            <a:ext cx="5486400" cy="548640"/>
          </a:xfrm>
          <a:prstGeom prst="rect">
            <a:avLst/>
          </a:prstGeom>
          <a:solidFill>
            <a:srgbClr val="36454F"/>
          </a:solidFill>
          <a:ln w="12700">
            <a:solidFill>
              <a:srgbClr val="36454F"/>
            </a:solidFill>
            <a:prstDash val="solid"/>
          </a:ln>
        </p:spPr>
      </p:sp>
      <p:sp>
        <p:nvSpPr>
          <p:cNvPr id="9" name="Text 7"/>
          <p:cNvSpPr/>
          <p:nvPr/>
        </p:nvSpPr>
        <p:spPr>
          <a:xfrm>
            <a:off x="731520" y="1874520"/>
            <a:ext cx="5120640" cy="41148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System-automated (no human on hot path)</a:t>
            </a:r>
            <a:endParaRPr lang="en-US" sz="1300" dirty="0"/>
          </a:p>
        </p:txBody>
      </p:sp>
      <p:sp>
        <p:nvSpPr>
          <p:cNvPr id="10" name="Text 8"/>
          <p:cNvSpPr/>
          <p:nvPr/>
        </p:nvSpPr>
        <p:spPr>
          <a:xfrm>
            <a:off x="731520" y="2514600"/>
            <a:ext cx="82296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UC-2</a:t>
            </a:r>
            <a:endParaRPr lang="en-US" sz="1300" dirty="0"/>
          </a:p>
        </p:txBody>
      </p:sp>
      <p:sp>
        <p:nvSpPr>
          <p:cNvPr id="11" name="Text 9"/>
          <p:cNvSpPr/>
          <p:nvPr/>
        </p:nvSpPr>
        <p:spPr>
          <a:xfrm>
            <a:off x="1554480" y="2514600"/>
            <a:ext cx="4389120" cy="365760"/>
          </a:xfrm>
          <a:prstGeom prst="rect">
            <a:avLst/>
          </a:prstGeom>
          <a:noFill/>
          <a:ln/>
        </p:spPr>
        <p:txBody>
          <a:bodyPr wrap="square" lIns="0" tIns="0" rIns="0" bIns="0" rtlCol="0" anchor="ctr"/>
          <a:lstStyle/>
          <a:p>
            <a:pPr marL="0" indent="0">
              <a:buNone/>
            </a:pPr>
            <a:r>
              <a:rPr lang="en-US" sz="1400" b="1" dirty="0">
                <a:solidFill>
                  <a:srgbClr val="1A1E22"/>
                </a:solidFill>
                <a:latin typeface="Calibri" pitchFamily="34" charset="0"/>
                <a:ea typeface="Calibri" pitchFamily="34" charset="-122"/>
                <a:cs typeface="Calibri" pitchFamily="34" charset="-120"/>
              </a:rPr>
              <a:t>Predict Link Degradation</a:t>
            </a:r>
            <a:endParaRPr lang="en-US" sz="1400" dirty="0"/>
          </a:p>
        </p:txBody>
      </p:sp>
      <p:sp>
        <p:nvSpPr>
          <p:cNvPr id="12" name="Text 10"/>
          <p:cNvSpPr/>
          <p:nvPr/>
        </p:nvSpPr>
        <p:spPr>
          <a:xfrm>
            <a:off x="1554480" y="2880360"/>
            <a:ext cx="4389120" cy="36576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1 Hz polling · 30–60s forecast</a:t>
            </a:r>
            <a:endParaRPr lang="en-US" sz="1100" dirty="0"/>
          </a:p>
        </p:txBody>
      </p:sp>
      <p:sp>
        <p:nvSpPr>
          <p:cNvPr id="13" name="Shape 11"/>
          <p:cNvSpPr/>
          <p:nvPr/>
        </p:nvSpPr>
        <p:spPr>
          <a:xfrm>
            <a:off x="731520" y="3474720"/>
            <a:ext cx="5120640" cy="13716"/>
          </a:xfrm>
          <a:prstGeom prst="rect">
            <a:avLst/>
          </a:prstGeom>
          <a:solidFill>
            <a:srgbClr val="E5E7EA"/>
          </a:solidFill>
          <a:ln w="12700">
            <a:solidFill>
              <a:srgbClr val="E5E7EA"/>
            </a:solidFill>
            <a:prstDash val="solid"/>
          </a:ln>
        </p:spPr>
      </p:sp>
      <p:sp>
        <p:nvSpPr>
          <p:cNvPr id="14" name="Text 12"/>
          <p:cNvSpPr/>
          <p:nvPr/>
        </p:nvSpPr>
        <p:spPr>
          <a:xfrm>
            <a:off x="731520" y="3749040"/>
            <a:ext cx="82296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UC-3</a:t>
            </a:r>
            <a:endParaRPr lang="en-US" sz="1300" dirty="0"/>
          </a:p>
        </p:txBody>
      </p:sp>
      <p:sp>
        <p:nvSpPr>
          <p:cNvPr id="15" name="Text 13"/>
          <p:cNvSpPr/>
          <p:nvPr/>
        </p:nvSpPr>
        <p:spPr>
          <a:xfrm>
            <a:off x="1554480" y="3749040"/>
            <a:ext cx="4389120" cy="365760"/>
          </a:xfrm>
          <a:prstGeom prst="rect">
            <a:avLst/>
          </a:prstGeom>
          <a:noFill/>
          <a:ln/>
        </p:spPr>
        <p:txBody>
          <a:bodyPr wrap="square" lIns="0" tIns="0" rIns="0" bIns="0" rtlCol="0" anchor="ctr"/>
          <a:lstStyle/>
          <a:p>
            <a:pPr marL="0" indent="0">
              <a:buNone/>
            </a:pPr>
            <a:r>
              <a:rPr lang="en-US" sz="1400" b="1" dirty="0">
                <a:solidFill>
                  <a:srgbClr val="1A1E22"/>
                </a:solidFill>
                <a:latin typeface="Calibri" pitchFamily="34" charset="0"/>
                <a:ea typeface="Calibri" pitchFamily="34" charset="-122"/>
                <a:cs typeface="Calibri" pitchFamily="34" charset="-120"/>
              </a:rPr>
              <a:t>Execute Traffic Steering</a:t>
            </a:r>
            <a:endParaRPr lang="en-US" sz="1400" dirty="0"/>
          </a:p>
        </p:txBody>
      </p:sp>
      <p:sp>
        <p:nvSpPr>
          <p:cNvPr id="16" name="Text 14"/>
          <p:cNvSpPr/>
          <p:nvPr/>
        </p:nvSpPr>
        <p:spPr>
          <a:xfrm>
            <a:off x="1554480" y="4114800"/>
            <a:ext cx="4389120" cy="36576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&lt; 50 ms · zero packet loss</a:t>
            </a:r>
            <a:endParaRPr lang="en-US" sz="1100" dirty="0"/>
          </a:p>
        </p:txBody>
      </p:sp>
      <p:sp>
        <p:nvSpPr>
          <p:cNvPr id="17" name="Shape 15"/>
          <p:cNvSpPr/>
          <p:nvPr/>
        </p:nvSpPr>
        <p:spPr>
          <a:xfrm>
            <a:off x="731520" y="4709160"/>
            <a:ext cx="5120640" cy="13716"/>
          </a:xfrm>
          <a:prstGeom prst="rect">
            <a:avLst/>
          </a:prstGeom>
          <a:solidFill>
            <a:srgbClr val="E5E7EA"/>
          </a:solidFill>
          <a:ln w="12700">
            <a:solidFill>
              <a:srgbClr val="E5E7EA"/>
            </a:solidFill>
            <a:prstDash val="solid"/>
          </a:ln>
        </p:spPr>
      </p:sp>
      <p:sp>
        <p:nvSpPr>
          <p:cNvPr id="18" name="Text 16"/>
          <p:cNvSpPr/>
          <p:nvPr/>
        </p:nvSpPr>
        <p:spPr>
          <a:xfrm>
            <a:off x="731520" y="4983480"/>
            <a:ext cx="82296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UC-4</a:t>
            </a:r>
            <a:endParaRPr lang="en-US" sz="1300" dirty="0"/>
          </a:p>
        </p:txBody>
      </p:sp>
      <p:sp>
        <p:nvSpPr>
          <p:cNvPr id="19" name="Text 17"/>
          <p:cNvSpPr/>
          <p:nvPr/>
        </p:nvSpPr>
        <p:spPr>
          <a:xfrm>
            <a:off x="1554480" y="4983480"/>
            <a:ext cx="4389120" cy="365760"/>
          </a:xfrm>
          <a:prstGeom prst="rect">
            <a:avLst/>
          </a:prstGeom>
          <a:noFill/>
          <a:ln/>
        </p:spPr>
        <p:txBody>
          <a:bodyPr wrap="square" lIns="0" tIns="0" rIns="0" bIns="0" rtlCol="0" anchor="ctr"/>
          <a:lstStyle/>
          <a:p>
            <a:pPr marL="0" indent="0">
              <a:buNone/>
            </a:pPr>
            <a:r>
              <a:rPr lang="en-US" sz="1400" b="1" dirty="0">
                <a:solidFill>
                  <a:srgbClr val="1A1E22"/>
                </a:solidFill>
                <a:latin typeface="Calibri" pitchFamily="34" charset="0"/>
                <a:ea typeface="Calibri" pitchFamily="34" charset="-122"/>
                <a:cs typeface="Calibri" pitchFamily="34" charset="-120"/>
              </a:rPr>
              <a:t>Validate Routing Change</a:t>
            </a:r>
            <a:endParaRPr lang="en-US" sz="1400" dirty="0"/>
          </a:p>
        </p:txBody>
      </p:sp>
      <p:sp>
        <p:nvSpPr>
          <p:cNvPr id="20" name="Text 18"/>
          <p:cNvSpPr/>
          <p:nvPr/>
        </p:nvSpPr>
        <p:spPr>
          <a:xfrm>
            <a:off x="1554480" y="5349240"/>
            <a:ext cx="4389120" cy="36576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&lt; 5 s full cycle</a:t>
            </a:r>
            <a:endParaRPr lang="en-US" sz="1100" dirty="0"/>
          </a:p>
        </p:txBody>
      </p:sp>
      <p:sp>
        <p:nvSpPr>
          <p:cNvPr id="21" name="Shape 19"/>
          <p:cNvSpPr/>
          <p:nvPr/>
        </p:nvSpPr>
        <p:spPr>
          <a:xfrm>
            <a:off x="6309360" y="1783080"/>
            <a:ext cx="5303520" cy="438912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2" name="Shape 20"/>
          <p:cNvSpPr/>
          <p:nvPr/>
        </p:nvSpPr>
        <p:spPr>
          <a:xfrm>
            <a:off x="6309360" y="1783080"/>
            <a:ext cx="5303520" cy="548640"/>
          </a:xfrm>
          <a:prstGeom prst="rect">
            <a:avLst/>
          </a:prstGeom>
          <a:solidFill>
            <a:srgbClr val="708090"/>
          </a:solidFill>
          <a:ln w="12700">
            <a:solidFill>
              <a:srgbClr val="708090"/>
            </a:solidFill>
            <a:prstDash val="solid"/>
          </a:ln>
        </p:spPr>
      </p:sp>
      <p:sp>
        <p:nvSpPr>
          <p:cNvPr id="23" name="Text 21"/>
          <p:cNvSpPr/>
          <p:nvPr/>
        </p:nvSpPr>
        <p:spPr>
          <a:xfrm>
            <a:off x="6492240" y="1874520"/>
            <a:ext cx="4937760" cy="41148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Human-in-the-loop (operator driven)</a:t>
            </a:r>
            <a:endParaRPr lang="en-US" sz="1300" dirty="0"/>
          </a:p>
        </p:txBody>
      </p:sp>
      <p:sp>
        <p:nvSpPr>
          <p:cNvPr id="24" name="Text 22"/>
          <p:cNvSpPr/>
          <p:nvPr/>
        </p:nvSpPr>
        <p:spPr>
          <a:xfrm>
            <a:off x="6492240" y="2514600"/>
            <a:ext cx="82296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UC-1</a:t>
            </a:r>
            <a:endParaRPr lang="en-US" sz="1300" dirty="0"/>
          </a:p>
        </p:txBody>
      </p:sp>
      <p:sp>
        <p:nvSpPr>
          <p:cNvPr id="25" name="Text 23"/>
          <p:cNvSpPr/>
          <p:nvPr/>
        </p:nvSpPr>
        <p:spPr>
          <a:xfrm>
            <a:off x="7315200" y="2514600"/>
            <a:ext cx="4114800" cy="365760"/>
          </a:xfrm>
          <a:prstGeom prst="rect">
            <a:avLst/>
          </a:prstGeom>
          <a:noFill/>
          <a:ln/>
        </p:spPr>
        <p:txBody>
          <a:bodyPr wrap="square" lIns="0" tIns="0" rIns="0" bIns="0" rtlCol="0" anchor="ctr"/>
          <a:lstStyle/>
          <a:p>
            <a:pPr marL="0" indent="0">
              <a:buNone/>
            </a:pPr>
            <a:r>
              <a:rPr lang="en-US" sz="1400" b="1" dirty="0">
                <a:solidFill>
                  <a:srgbClr val="1A1E22"/>
                </a:solidFill>
                <a:latin typeface="Calibri" pitchFamily="34" charset="0"/>
                <a:ea typeface="Calibri" pitchFamily="34" charset="-122"/>
                <a:cs typeface="Calibri" pitchFamily="34" charset="-120"/>
              </a:rPr>
              <a:t>Monitor Network Telemetry</a:t>
            </a:r>
            <a:endParaRPr lang="en-US" sz="1400" dirty="0"/>
          </a:p>
        </p:txBody>
      </p:sp>
      <p:sp>
        <p:nvSpPr>
          <p:cNvPr id="26" name="Text 24"/>
          <p:cNvSpPr/>
          <p:nvPr/>
        </p:nvSpPr>
        <p:spPr>
          <a:xfrm>
            <a:off x="7315200" y="2880360"/>
            <a:ext cx="4114800" cy="36576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200 ms query · 10+ concurrent sessions</a:t>
            </a:r>
            <a:endParaRPr lang="en-US" sz="1100" dirty="0"/>
          </a:p>
        </p:txBody>
      </p:sp>
      <p:sp>
        <p:nvSpPr>
          <p:cNvPr id="27" name="Shape 25"/>
          <p:cNvSpPr/>
          <p:nvPr/>
        </p:nvSpPr>
        <p:spPr>
          <a:xfrm>
            <a:off x="6492240" y="3474720"/>
            <a:ext cx="4937760" cy="13716"/>
          </a:xfrm>
          <a:prstGeom prst="rect">
            <a:avLst/>
          </a:prstGeom>
          <a:solidFill>
            <a:srgbClr val="E5E7EA"/>
          </a:solidFill>
          <a:ln w="12700">
            <a:solidFill>
              <a:srgbClr val="E5E7EA"/>
            </a:solidFill>
            <a:prstDash val="solid"/>
          </a:ln>
        </p:spPr>
      </p:sp>
      <p:sp>
        <p:nvSpPr>
          <p:cNvPr id="28" name="Text 26"/>
          <p:cNvSpPr/>
          <p:nvPr/>
        </p:nvSpPr>
        <p:spPr>
          <a:xfrm>
            <a:off x="6492240" y="3749040"/>
            <a:ext cx="82296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UC-5</a:t>
            </a:r>
            <a:endParaRPr lang="en-US" sz="1300" dirty="0"/>
          </a:p>
        </p:txBody>
      </p:sp>
      <p:sp>
        <p:nvSpPr>
          <p:cNvPr id="29" name="Text 27"/>
          <p:cNvSpPr/>
          <p:nvPr/>
        </p:nvSpPr>
        <p:spPr>
          <a:xfrm>
            <a:off x="7315200" y="3749040"/>
            <a:ext cx="4114800" cy="365760"/>
          </a:xfrm>
          <a:prstGeom prst="rect">
            <a:avLst/>
          </a:prstGeom>
          <a:noFill/>
          <a:ln/>
        </p:spPr>
        <p:txBody>
          <a:bodyPr wrap="square" lIns="0" tIns="0" rIns="0" bIns="0" rtlCol="0" anchor="ctr"/>
          <a:lstStyle/>
          <a:p>
            <a:pPr marL="0" indent="0">
              <a:buNone/>
            </a:pPr>
            <a:r>
              <a:rPr lang="en-US" sz="1400" b="1" dirty="0">
                <a:solidFill>
                  <a:srgbClr val="1A1E22"/>
                </a:solidFill>
                <a:latin typeface="Calibri" pitchFamily="34" charset="0"/>
                <a:ea typeface="Calibri" pitchFamily="34" charset="-122"/>
                <a:cs typeface="Calibri" pitchFamily="34" charset="-120"/>
              </a:rPr>
              <a:t>Manage Network Policy (IBN)</a:t>
            </a:r>
            <a:endParaRPr lang="en-US" sz="1400" dirty="0"/>
          </a:p>
        </p:txBody>
      </p:sp>
      <p:sp>
        <p:nvSpPr>
          <p:cNvPr id="30" name="Text 28"/>
          <p:cNvSpPr/>
          <p:nvPr/>
        </p:nvSpPr>
        <p:spPr>
          <a:xfrm>
            <a:off x="7315200" y="4114800"/>
            <a:ext cx="4114800" cy="36576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NL → YANG · preview before apply</a:t>
            </a:r>
            <a:endParaRPr lang="en-US" sz="1100" dirty="0"/>
          </a:p>
        </p:txBody>
      </p:sp>
      <p:sp>
        <p:nvSpPr>
          <p:cNvPr id="31" name="Shape 29"/>
          <p:cNvSpPr/>
          <p:nvPr/>
        </p:nvSpPr>
        <p:spPr>
          <a:xfrm>
            <a:off x="6492240" y="4709160"/>
            <a:ext cx="4937760" cy="13716"/>
          </a:xfrm>
          <a:prstGeom prst="rect">
            <a:avLst/>
          </a:prstGeom>
          <a:solidFill>
            <a:srgbClr val="E5E7EA"/>
          </a:solidFill>
          <a:ln w="12700">
            <a:solidFill>
              <a:srgbClr val="E5E7EA"/>
            </a:solidFill>
            <a:prstDash val="solid"/>
          </a:ln>
        </p:spPr>
      </p:sp>
      <p:sp>
        <p:nvSpPr>
          <p:cNvPr id="32" name="Text 30"/>
          <p:cNvSpPr/>
          <p:nvPr/>
        </p:nvSpPr>
        <p:spPr>
          <a:xfrm>
            <a:off x="6492240" y="4983480"/>
            <a:ext cx="82296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UC-6</a:t>
            </a:r>
            <a:endParaRPr lang="en-US" sz="1300" dirty="0"/>
          </a:p>
        </p:txBody>
      </p:sp>
      <p:sp>
        <p:nvSpPr>
          <p:cNvPr id="33" name="Text 31"/>
          <p:cNvSpPr/>
          <p:nvPr/>
        </p:nvSpPr>
        <p:spPr>
          <a:xfrm>
            <a:off x="7315200" y="4983480"/>
            <a:ext cx="4114800" cy="365760"/>
          </a:xfrm>
          <a:prstGeom prst="rect">
            <a:avLst/>
          </a:prstGeom>
          <a:noFill/>
          <a:ln/>
        </p:spPr>
        <p:txBody>
          <a:bodyPr wrap="square" lIns="0" tIns="0" rIns="0" bIns="0" rtlCol="0" anchor="ctr"/>
          <a:lstStyle/>
          <a:p>
            <a:pPr marL="0" indent="0">
              <a:buNone/>
            </a:pPr>
            <a:r>
              <a:rPr lang="en-US" sz="1400" b="1" dirty="0">
                <a:solidFill>
                  <a:srgbClr val="1A1E22"/>
                </a:solidFill>
                <a:latin typeface="Calibri" pitchFamily="34" charset="0"/>
                <a:ea typeface="Calibri" pitchFamily="34" charset="-122"/>
                <a:cs typeface="Calibri" pitchFamily="34" charset="-120"/>
              </a:rPr>
              <a:t>Authenticate User</a:t>
            </a:r>
            <a:endParaRPr lang="en-US" sz="1400" dirty="0"/>
          </a:p>
        </p:txBody>
      </p:sp>
      <p:sp>
        <p:nvSpPr>
          <p:cNvPr id="34" name="Text 32"/>
          <p:cNvSpPr/>
          <p:nvPr/>
        </p:nvSpPr>
        <p:spPr>
          <a:xfrm>
            <a:off x="7315200" y="5349240"/>
            <a:ext cx="4114800" cy="365760"/>
          </a:xfrm>
          <a:prstGeom prst="rect">
            <a:avLst/>
          </a:prstGeom>
          <a:noFill/>
          <a:ln/>
        </p:spPr>
        <p:txBody>
          <a:bodyPr wrap="square" lIns="0" tIns="0" rIns="0" bIns="0" rtlCol="0" anchor="ctr"/>
          <a:lstStyle/>
          <a:p>
            <a:pPr marL="0" indent="0">
              <a:buNone/>
            </a:pPr>
            <a:r>
              <a:rPr lang="en-US" sz="1100" dirty="0">
                <a:solidFill>
                  <a:srgbClr val="6B737A"/>
                </a:solidFill>
                <a:latin typeface="Calibri" pitchFamily="34" charset="0"/>
                <a:ea typeface="Calibri" pitchFamily="34" charset="-122"/>
                <a:cs typeface="Calibri" pitchFamily="34" charset="-120"/>
              </a:rPr>
              <a:t>Generic error · 5-attempt lockout · TLS 1.3</a:t>
            </a:r>
            <a:endParaRPr lang="en-US" sz="1100" dirty="0"/>
          </a:p>
        </p:txBody>
      </p:sp>
      <p:sp>
        <p:nvSpPr>
          <p:cNvPr id="35" name="Text 33"/>
          <p:cNvSpPr/>
          <p:nvPr/>
        </p:nvSpPr>
        <p:spPr>
          <a:xfrm>
            <a:off x="548640" y="6355080"/>
            <a:ext cx="11064240" cy="274320"/>
          </a:xfrm>
          <a:prstGeom prst="rect">
            <a:avLst/>
          </a:prstGeom>
          <a:noFill/>
          <a:ln/>
        </p:spPr>
        <p:txBody>
          <a:bodyPr wrap="square" lIns="0" tIns="0" rIns="0" bIns="0" rtlCol="0" anchor="ctr"/>
          <a:lstStyle/>
          <a:p>
            <a:pPr marL="0" indent="0" algn="ctr">
              <a:buNone/>
            </a:pPr>
            <a:r>
              <a:rPr lang="en-US" sz="1200" i="1" dirty="0">
                <a:solidFill>
                  <a:srgbClr val="708090"/>
                </a:solidFill>
                <a:latin typeface="Calibri" pitchFamily="34" charset="0"/>
                <a:ea typeface="Calibri" pitchFamily="34" charset="-122"/>
                <a:cs typeface="Calibri" pitchFamily="34" charset="-120"/>
              </a:rPr>
              <a:t>Every automated UC writes to the tamper-evident audit log — with LSTM confidence + reasoning.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COMPETITION</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PathWise vs. the competitive landscape</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18 / 25</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2560320"/>
        </p:xfrm>
        <a:graphic>
          <a:graphicData uri="http://schemas.openxmlformats.org/drawingml/2006/table">
            <a:tbl>
              <a:tblPr/>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tblGrid>
              <a:tr h="36576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Dimension</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Cisco SD-WAN + PPR</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Juniper Mist AI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Palo Alto Prisma + ADEM</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VMware VeloCloud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3645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PathWise AI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solidFill>
                      <a:srgbClr val="708090"/>
                    </a:solidFill>
                  </a:tcPr>
                </a:tc>
                <a:extLst>
                  <a:ext uri="{0D108BD9-81ED-4DB2-BD59-A6C34878D82A}">
                    <a16:rowId xmlns:a16="http://schemas.microsoft.com/office/drawing/2014/main" val="10000"/>
                  </a:ext>
                </a:extLst>
              </a:tr>
              <a:tr h="365760">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Detection model</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Predictive ML (recommend)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AI-native (Marvis)</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Predictive UX (ADEM)</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Reactive DMPO</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b="1" dirty="0">
                          <a:solidFill>
                            <a:srgbClr val="36454F"/>
                          </a:solidFill>
                          <a:latin typeface="Calibri" pitchFamily="34" charset="0"/>
                          <a:ea typeface="Calibri" pitchFamily="34" charset="-122"/>
                          <a:cs typeface="Calibri" pitchFamily="34" charset="-120"/>
                        </a:rPr>
                        <a:t>Predictive LSTM · 30–60 s lead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Action model</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Human approves rec.</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Auto-heal (bounded)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Auto-reroute to SaaS</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Reactive failover</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b="1" dirty="0">
                          <a:solidFill>
                            <a:srgbClr val="36454F"/>
                          </a:solidFill>
                          <a:latin typeface="Calibri" pitchFamily="34" charset="0"/>
                          <a:ea typeface="Calibri" pitchFamily="34" charset="-122"/>
                          <a:cs typeface="Calibri" pitchFamily="34" charset="-120"/>
                        </a:rPr>
                        <a:t>Autonomous + sandbox-validated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Pre-deploy check</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b="1" dirty="0">
                          <a:solidFill>
                            <a:srgbClr val="36454F"/>
                          </a:solidFill>
                          <a:latin typeface="Calibri" pitchFamily="34" charset="0"/>
                          <a:ea typeface="Calibri" pitchFamily="34" charset="-122"/>
                          <a:cs typeface="Calibri" pitchFamily="34" charset="-120"/>
                        </a:rPr>
                        <a:t>Digital Twin (Mininet+Batfish)</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Hardware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Cisco / Meraki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Juniper appliances</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Prisma appliances</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VeloCloud Edge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b="1" dirty="0">
                          <a:solidFill>
                            <a:srgbClr val="36454F"/>
                          </a:solidFill>
                          <a:latin typeface="Calibri" pitchFamily="34" charset="0"/>
                          <a:ea typeface="Calibri" pitchFamily="34" charset="-122"/>
                          <a:cs typeface="Calibri" pitchFamily="34" charset="-120"/>
                        </a:rPr>
                        <a:t>Any OpenFlow 1.3+</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Control plane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vManage (GUI+CLI)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Mist UI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Prisma UI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Orchestrator GUI</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b="1" dirty="0">
                          <a:solidFill>
                            <a:srgbClr val="36454F"/>
                          </a:solidFill>
                          <a:latin typeface="Calibri" pitchFamily="34" charset="0"/>
                          <a:ea typeface="Calibri" pitchFamily="34" charset="-122"/>
                          <a:cs typeface="Calibri" pitchFamily="34" charset="-120"/>
                        </a:rPr>
                        <a:t>Plain-English IBN</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Data residency</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Meraki cloud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Mist cloud</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Prisma cloud SaaS</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dirty="0">
                          <a:solidFill>
                            <a:srgbClr val="1A1E22"/>
                          </a:solidFill>
                          <a:latin typeface="Calibri" pitchFamily="34" charset="0"/>
                          <a:ea typeface="Calibri" pitchFamily="34" charset="-122"/>
                          <a:cs typeface="Calibri" pitchFamily="34" charset="-120"/>
                        </a:rPr>
                        <a:t>Cloud orchestrator</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tc>
                  <a:txBody>
                    <a:bodyPr/>
                    <a:lstStyle/>
                    <a:p>
                      <a:pPr marL="0" indent="0">
                        <a:buNone/>
                      </a:pPr>
                      <a:r>
                        <a:rPr lang="en-US" sz="950" b="1" dirty="0">
                          <a:solidFill>
                            <a:srgbClr val="36454F"/>
                          </a:solidFill>
                          <a:latin typeface="Calibri" pitchFamily="34" charset="0"/>
                          <a:ea typeface="Calibri" pitchFamily="34" charset="-122"/>
                          <a:cs typeface="Calibri" pitchFamily="34" charset="-120"/>
                        </a:rPr>
                        <a:t>Self-hosted on-prem / private</a:t>
                      </a:r>
                      <a:endParaRPr lang="en-US" sz="950" dirty="0">
                        <a:latin typeface="Calibri" charset="0"/>
                        <a:ea typeface="Calibri" charset="0"/>
                        <a:cs typeface="Calibri" charset="0"/>
                      </a:endParaRPr>
                    </a:p>
                  </a:txBody>
                  <a:tcPr anchor="ctr">
                    <a:lnL w="6350" cap="flat" cmpd="sng" algn="ctr">
                      <a:solidFill>
                        <a:srgbClr val="E0E3E6"/>
                      </a:solidFill>
                      <a:prstDash val="solid"/>
                      <a:round/>
                      <a:headEnd type="none" w="med" len="med"/>
                      <a:tailEnd type="none" w="med" len="med"/>
                    </a:lnL>
                    <a:lnR w="6350" cap="flat" cmpd="sng" algn="ctr">
                      <a:solidFill>
                        <a:srgbClr val="E0E3E6"/>
                      </a:solidFill>
                      <a:prstDash val="solid"/>
                      <a:round/>
                      <a:headEnd type="none" w="med" len="med"/>
                      <a:tailEnd type="none" w="med" len="med"/>
                    </a:lnR>
                    <a:lnT w="6350" cap="flat" cmpd="sng" algn="ctr">
                      <a:solidFill>
                        <a:srgbClr val="E0E3E6"/>
                      </a:solidFill>
                      <a:prstDash val="solid"/>
                      <a:round/>
                      <a:headEnd type="none" w="med" len="med"/>
                      <a:tailEnd type="none" w="med" len="med"/>
                    </a:lnT>
                    <a:lnB w="6350" cap="flat" cmpd="sng" algn="ctr">
                      <a:solidFill>
                        <a:srgbClr val="E0E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hape 5"/>
          <p:cNvSpPr/>
          <p:nvPr/>
        </p:nvSpPr>
        <p:spPr>
          <a:xfrm>
            <a:off x="548640" y="4754880"/>
            <a:ext cx="11064240" cy="1463040"/>
          </a:xfrm>
          <a:prstGeom prst="rect">
            <a:avLst/>
          </a:prstGeom>
          <a:solidFill>
            <a:srgbClr val="F1F2F4"/>
          </a:solidFill>
          <a:ln w="12700">
            <a:solidFill>
              <a:srgbClr val="A4ACB5"/>
            </a:solidFill>
            <a:prstDash val="solid"/>
          </a:ln>
        </p:spPr>
      </p:sp>
      <p:sp>
        <p:nvSpPr>
          <p:cNvPr id="9" name="Shape 6"/>
          <p:cNvSpPr/>
          <p:nvPr/>
        </p:nvSpPr>
        <p:spPr>
          <a:xfrm>
            <a:off x="548640" y="4754880"/>
            <a:ext cx="109728" cy="1463040"/>
          </a:xfrm>
          <a:prstGeom prst="rect">
            <a:avLst/>
          </a:prstGeom>
          <a:solidFill>
            <a:srgbClr val="36454F"/>
          </a:solidFill>
          <a:ln w="12700">
            <a:solidFill>
              <a:srgbClr val="36454F"/>
            </a:solidFill>
            <a:prstDash val="solid"/>
          </a:ln>
        </p:spPr>
      </p:sp>
      <p:sp>
        <p:nvSpPr>
          <p:cNvPr id="10" name="Text 7"/>
          <p:cNvSpPr/>
          <p:nvPr/>
        </p:nvSpPr>
        <p:spPr>
          <a:xfrm>
            <a:off x="822960" y="4846320"/>
            <a:ext cx="9144000" cy="274320"/>
          </a:xfrm>
          <a:prstGeom prst="rect">
            <a:avLst/>
          </a:prstGeom>
          <a:noFill/>
          <a:ln/>
        </p:spPr>
        <p:txBody>
          <a:bodyPr wrap="square" lIns="0" tIns="0" rIns="0" bIns="0" rtlCol="0" anchor="ctr"/>
          <a:lstStyle/>
          <a:p>
            <a:pPr marL="0" indent="0">
              <a:buNone/>
            </a:pPr>
            <a:r>
              <a:rPr lang="en-US" sz="1000" b="1" kern="0" spc="200" dirty="0">
                <a:solidFill>
                  <a:srgbClr val="6B737A"/>
                </a:solidFill>
                <a:latin typeface="Calibri" pitchFamily="34" charset="0"/>
                <a:ea typeface="Calibri" pitchFamily="34" charset="-122"/>
                <a:cs typeface="Calibri" pitchFamily="34" charset="-120"/>
              </a:rPr>
              <a:t>The single line:</a:t>
            </a:r>
            <a:endParaRPr lang="en-US" sz="1000" dirty="0"/>
          </a:p>
        </p:txBody>
      </p:sp>
      <p:sp>
        <p:nvSpPr>
          <p:cNvPr id="11" name="Text 8"/>
          <p:cNvSpPr/>
          <p:nvPr/>
        </p:nvSpPr>
        <p:spPr>
          <a:xfrm>
            <a:off x="822960" y="5120640"/>
            <a:ext cx="10515600" cy="1051560"/>
          </a:xfrm>
          <a:prstGeom prst="rect">
            <a:avLst/>
          </a:prstGeom>
          <a:noFill/>
          <a:ln/>
        </p:spPr>
        <p:txBody>
          <a:bodyPr wrap="square" lIns="0" tIns="0" rIns="0" bIns="0" rtlCol="0" anchor="ctr"/>
          <a:lstStyle/>
          <a:p>
            <a:pPr marL="0" indent="0">
              <a:buNone/>
            </a:pPr>
            <a:r>
              <a:rPr lang="en-US" sz="1200" i="1" dirty="0">
                <a:solidFill>
                  <a:srgbClr val="1A1E22"/>
                </a:solidFill>
                <a:latin typeface="Calibri" pitchFamily="34" charset="0"/>
                <a:ea typeface="Calibri" pitchFamily="34" charset="-122"/>
                <a:cs typeface="Calibri" pitchFamily="34" charset="-120"/>
              </a:rPr>
              <a:t>Predictive AI is no longer unique — Cisco, Juniper, and Palo Alto all have versions of it. What is unique is the COMBINATION: predictive AI + sandbox-validated autonomous action + plain-English control + vendor-agnostic OpenFlow + self-hosted residency. No single commercial product ships all five.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TARGET USERS</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Who benefits — target users</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19 / 25</a:t>
            </a:r>
            <a:endParaRPr lang="en-US" sz="900" dirty="0"/>
          </a:p>
        </p:txBody>
      </p:sp>
      <p:sp>
        <p:nvSpPr>
          <p:cNvPr id="7" name="Shape 5"/>
          <p:cNvSpPr/>
          <p:nvPr/>
        </p:nvSpPr>
        <p:spPr>
          <a:xfrm>
            <a:off x="548640" y="1828800"/>
            <a:ext cx="3657600" cy="13716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pic>
        <p:nvPicPr>
          <p:cNvPr id="8" name="Image 0" descr="preencoded.png"/>
          <p:cNvPicPr>
            <a:picLocks noChangeAspect="1"/>
          </p:cNvPicPr>
          <p:nvPr/>
        </p:nvPicPr>
        <p:blipFill>
          <a:blip r:embed="rId3"/>
          <a:stretch>
            <a:fillRect/>
          </a:stretch>
        </p:blipFill>
        <p:spPr>
          <a:xfrm>
            <a:off x="731520" y="2057400"/>
            <a:ext cx="502920" cy="502920"/>
          </a:xfrm>
          <a:prstGeom prst="rect">
            <a:avLst/>
          </a:prstGeom>
        </p:spPr>
      </p:pic>
      <p:sp>
        <p:nvSpPr>
          <p:cNvPr id="9" name="Text 6"/>
          <p:cNvSpPr/>
          <p:nvPr/>
        </p:nvSpPr>
        <p:spPr>
          <a:xfrm>
            <a:off x="1417320" y="2011680"/>
            <a:ext cx="2651760" cy="365760"/>
          </a:xfrm>
          <a:prstGeom prst="rect">
            <a:avLst/>
          </a:prstGeom>
          <a:noFill/>
          <a:ln/>
        </p:spPr>
        <p:txBody>
          <a:bodyPr wrap="square" lIns="0" tIns="0" rIns="0" bIns="0" rtlCol="0" anchor="ctr"/>
          <a:lstStyle/>
          <a:p>
            <a:pPr marL="0" indent="0">
              <a:buNone/>
            </a:pPr>
            <a:r>
              <a:rPr lang="en-US" sz="1500" b="1" dirty="0">
                <a:solidFill>
                  <a:srgbClr val="36454F"/>
                </a:solidFill>
                <a:latin typeface="Calibri" pitchFamily="34" charset="0"/>
                <a:ea typeface="Calibri" pitchFamily="34" charset="-122"/>
                <a:cs typeface="Calibri" pitchFamily="34" charset="-120"/>
              </a:rPr>
              <a:t>SMEs</a:t>
            </a:r>
            <a:endParaRPr lang="en-US" sz="1500" dirty="0"/>
          </a:p>
        </p:txBody>
      </p:sp>
      <p:sp>
        <p:nvSpPr>
          <p:cNvPr id="10" name="Text 7"/>
          <p:cNvSpPr/>
          <p:nvPr/>
        </p:nvSpPr>
        <p:spPr>
          <a:xfrm>
            <a:off x="1417320" y="2377440"/>
            <a:ext cx="2651760" cy="36576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No network engineer on staff · still need 99.9% uptime</a:t>
            </a:r>
            <a:endParaRPr lang="en-US" sz="1000" dirty="0"/>
          </a:p>
        </p:txBody>
      </p:sp>
      <p:sp>
        <p:nvSpPr>
          <p:cNvPr id="11" name="Text 8"/>
          <p:cNvSpPr/>
          <p:nvPr/>
        </p:nvSpPr>
        <p:spPr>
          <a:xfrm>
            <a:off x="731520" y="2788920"/>
            <a:ext cx="3291840" cy="365760"/>
          </a:xfrm>
          <a:prstGeom prst="rect">
            <a:avLst/>
          </a:prstGeom>
          <a:noFill/>
          <a:ln/>
        </p:spPr>
        <p:txBody>
          <a:bodyPr wrap="square" lIns="0" tIns="0" rIns="0" bIns="0" rtlCol="0" anchor="ctr"/>
          <a:lstStyle/>
          <a:p>
            <a:pPr marL="0" indent="0">
              <a:buNone/>
            </a:pPr>
            <a:r>
              <a:rPr lang="en-US" sz="1000" b="1" i="1" dirty="0">
                <a:solidFill>
                  <a:srgbClr val="36454F"/>
                </a:solidFill>
                <a:latin typeface="Calibri" pitchFamily="34" charset="0"/>
                <a:ea typeface="Calibri" pitchFamily="34" charset="-122"/>
                <a:cs typeface="Calibri" pitchFamily="34" charset="-120"/>
              </a:rPr>
              <a:t>Plain-English control, commodity hardware</a:t>
            </a:r>
            <a:endParaRPr lang="en-US" sz="1000" dirty="0"/>
          </a:p>
        </p:txBody>
      </p:sp>
      <p:sp>
        <p:nvSpPr>
          <p:cNvPr id="12" name="Shape 9"/>
          <p:cNvSpPr/>
          <p:nvPr/>
        </p:nvSpPr>
        <p:spPr>
          <a:xfrm>
            <a:off x="4343400" y="1828800"/>
            <a:ext cx="3657600" cy="13716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pic>
        <p:nvPicPr>
          <p:cNvPr id="13" name="Image 1" descr="preencoded.png"/>
          <p:cNvPicPr>
            <a:picLocks noChangeAspect="1"/>
          </p:cNvPicPr>
          <p:nvPr/>
        </p:nvPicPr>
        <p:blipFill>
          <a:blip r:embed="rId4"/>
          <a:stretch>
            <a:fillRect/>
          </a:stretch>
        </p:blipFill>
        <p:spPr>
          <a:xfrm>
            <a:off x="4526280" y="2057400"/>
            <a:ext cx="502920" cy="502920"/>
          </a:xfrm>
          <a:prstGeom prst="rect">
            <a:avLst/>
          </a:prstGeom>
        </p:spPr>
      </p:pic>
      <p:sp>
        <p:nvSpPr>
          <p:cNvPr id="14" name="Text 10"/>
          <p:cNvSpPr/>
          <p:nvPr/>
        </p:nvSpPr>
        <p:spPr>
          <a:xfrm>
            <a:off x="5212080" y="2011680"/>
            <a:ext cx="2651760" cy="365760"/>
          </a:xfrm>
          <a:prstGeom prst="rect">
            <a:avLst/>
          </a:prstGeom>
          <a:noFill/>
          <a:ln/>
        </p:spPr>
        <p:txBody>
          <a:bodyPr wrap="square" lIns="0" tIns="0" rIns="0" bIns="0" rtlCol="0" anchor="ctr"/>
          <a:lstStyle/>
          <a:p>
            <a:pPr marL="0" indent="0">
              <a:buNone/>
            </a:pPr>
            <a:r>
              <a:rPr lang="en-US" sz="1500" b="1" dirty="0">
                <a:solidFill>
                  <a:srgbClr val="36454F"/>
                </a:solidFill>
                <a:latin typeface="Calibri" pitchFamily="34" charset="0"/>
                <a:ea typeface="Calibri" pitchFamily="34" charset="-122"/>
                <a:cs typeface="Calibri" pitchFamily="34" charset="-120"/>
              </a:rPr>
              <a:t>MSPs</a:t>
            </a:r>
            <a:endParaRPr lang="en-US" sz="1500" dirty="0"/>
          </a:p>
        </p:txBody>
      </p:sp>
      <p:sp>
        <p:nvSpPr>
          <p:cNvPr id="15" name="Text 11"/>
          <p:cNvSpPr/>
          <p:nvPr/>
        </p:nvSpPr>
        <p:spPr>
          <a:xfrm>
            <a:off x="5212080" y="2377440"/>
            <a:ext cx="2651760" cy="36576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Managing dozens to hundreds of client sites with tenant SLAs</a:t>
            </a:r>
            <a:endParaRPr lang="en-US" sz="1000" dirty="0"/>
          </a:p>
        </p:txBody>
      </p:sp>
      <p:sp>
        <p:nvSpPr>
          <p:cNvPr id="16" name="Text 12"/>
          <p:cNvSpPr/>
          <p:nvPr/>
        </p:nvSpPr>
        <p:spPr>
          <a:xfrm>
            <a:off x="4526280" y="2788920"/>
            <a:ext cx="3291840" cy="365760"/>
          </a:xfrm>
          <a:prstGeom prst="rect">
            <a:avLst/>
          </a:prstGeom>
          <a:noFill/>
          <a:ln/>
        </p:spPr>
        <p:txBody>
          <a:bodyPr wrap="square" lIns="0" tIns="0" rIns="0" bIns="0" rtlCol="0" anchor="ctr"/>
          <a:lstStyle/>
          <a:p>
            <a:pPr marL="0" indent="0">
              <a:buNone/>
            </a:pPr>
            <a:r>
              <a:rPr lang="en-US" sz="1000" b="1" i="1" dirty="0">
                <a:solidFill>
                  <a:srgbClr val="36454F"/>
                </a:solidFill>
                <a:latin typeface="Calibri" pitchFamily="34" charset="0"/>
                <a:ea typeface="Calibri" pitchFamily="34" charset="-122"/>
                <a:cs typeface="Calibri" pitchFamily="34" charset="-120"/>
              </a:rPr>
              <a:t>Single dashboard · per-tenant RBAC · 100+ sites</a:t>
            </a:r>
            <a:endParaRPr lang="en-US" sz="1000" dirty="0"/>
          </a:p>
        </p:txBody>
      </p:sp>
      <p:sp>
        <p:nvSpPr>
          <p:cNvPr id="17" name="Shape 13"/>
          <p:cNvSpPr/>
          <p:nvPr/>
        </p:nvSpPr>
        <p:spPr>
          <a:xfrm>
            <a:off x="8138160" y="1828800"/>
            <a:ext cx="3657600" cy="13716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pic>
        <p:nvPicPr>
          <p:cNvPr id="18" name="Image 2" descr="preencoded.png"/>
          <p:cNvPicPr>
            <a:picLocks noChangeAspect="1"/>
          </p:cNvPicPr>
          <p:nvPr/>
        </p:nvPicPr>
        <p:blipFill>
          <a:blip r:embed="rId5"/>
          <a:stretch>
            <a:fillRect/>
          </a:stretch>
        </p:blipFill>
        <p:spPr>
          <a:xfrm>
            <a:off x="8321040" y="2057400"/>
            <a:ext cx="502920" cy="502920"/>
          </a:xfrm>
          <a:prstGeom prst="rect">
            <a:avLst/>
          </a:prstGeom>
        </p:spPr>
      </p:pic>
      <p:sp>
        <p:nvSpPr>
          <p:cNvPr id="19" name="Text 14"/>
          <p:cNvSpPr/>
          <p:nvPr/>
        </p:nvSpPr>
        <p:spPr>
          <a:xfrm>
            <a:off x="9006840" y="2011680"/>
            <a:ext cx="2651760" cy="365760"/>
          </a:xfrm>
          <a:prstGeom prst="rect">
            <a:avLst/>
          </a:prstGeom>
          <a:noFill/>
          <a:ln/>
        </p:spPr>
        <p:txBody>
          <a:bodyPr wrap="square" lIns="0" tIns="0" rIns="0" bIns="0" rtlCol="0" anchor="ctr"/>
          <a:lstStyle/>
          <a:p>
            <a:pPr marL="0" indent="0">
              <a:buNone/>
            </a:pPr>
            <a:r>
              <a:rPr lang="en-US" sz="1500" b="1" dirty="0">
                <a:solidFill>
                  <a:srgbClr val="36454F"/>
                </a:solidFill>
                <a:latin typeface="Calibri" pitchFamily="34" charset="0"/>
                <a:ea typeface="Calibri" pitchFamily="34" charset="-122"/>
                <a:cs typeface="Calibri" pitchFamily="34" charset="-120"/>
              </a:rPr>
              <a:t>Healthcare</a:t>
            </a:r>
            <a:endParaRPr lang="en-US" sz="1500" dirty="0"/>
          </a:p>
        </p:txBody>
      </p:sp>
      <p:sp>
        <p:nvSpPr>
          <p:cNvPr id="20" name="Text 15"/>
          <p:cNvSpPr/>
          <p:nvPr/>
        </p:nvSpPr>
        <p:spPr>
          <a:xfrm>
            <a:off x="9006840" y="2377440"/>
            <a:ext cx="2651760" cy="36576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Telemedicine, EHR, PACS · HIPAA audit mandatory</a:t>
            </a:r>
            <a:endParaRPr lang="en-US" sz="1000" dirty="0"/>
          </a:p>
        </p:txBody>
      </p:sp>
      <p:sp>
        <p:nvSpPr>
          <p:cNvPr id="21" name="Text 16"/>
          <p:cNvSpPr/>
          <p:nvPr/>
        </p:nvSpPr>
        <p:spPr>
          <a:xfrm>
            <a:off x="8321040" y="2788920"/>
            <a:ext cx="3291840" cy="365760"/>
          </a:xfrm>
          <a:prstGeom prst="rect">
            <a:avLst/>
          </a:prstGeom>
          <a:noFill/>
          <a:ln/>
        </p:spPr>
        <p:txBody>
          <a:bodyPr wrap="square" lIns="0" tIns="0" rIns="0" bIns="0" rtlCol="0" anchor="ctr"/>
          <a:lstStyle/>
          <a:p>
            <a:pPr marL="0" indent="0">
              <a:buNone/>
            </a:pPr>
            <a:r>
              <a:rPr lang="en-US" sz="1000" b="1" i="1" dirty="0">
                <a:solidFill>
                  <a:srgbClr val="36454F"/>
                </a:solidFill>
                <a:latin typeface="Calibri" pitchFamily="34" charset="0"/>
                <a:ea typeface="Calibri" pitchFamily="34" charset="-122"/>
                <a:cs typeface="Calibri" pitchFamily="34" charset="-120"/>
              </a:rPr>
              <a:t>Tamper-evident log · AES-256 · TLS 1.3</a:t>
            </a:r>
            <a:endParaRPr lang="en-US" sz="1000" dirty="0"/>
          </a:p>
        </p:txBody>
      </p:sp>
      <p:sp>
        <p:nvSpPr>
          <p:cNvPr id="22" name="Shape 17"/>
          <p:cNvSpPr/>
          <p:nvPr/>
        </p:nvSpPr>
        <p:spPr>
          <a:xfrm>
            <a:off x="548640" y="3337560"/>
            <a:ext cx="3657600" cy="13716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pic>
        <p:nvPicPr>
          <p:cNvPr id="23" name="Image 3" descr="preencoded.png"/>
          <p:cNvPicPr>
            <a:picLocks noChangeAspect="1"/>
          </p:cNvPicPr>
          <p:nvPr/>
        </p:nvPicPr>
        <p:blipFill>
          <a:blip r:embed="rId6"/>
          <a:stretch>
            <a:fillRect/>
          </a:stretch>
        </p:blipFill>
        <p:spPr>
          <a:xfrm>
            <a:off x="731520" y="3566160"/>
            <a:ext cx="502920" cy="502920"/>
          </a:xfrm>
          <a:prstGeom prst="rect">
            <a:avLst/>
          </a:prstGeom>
        </p:spPr>
      </p:pic>
      <p:sp>
        <p:nvSpPr>
          <p:cNvPr id="24" name="Text 18"/>
          <p:cNvSpPr/>
          <p:nvPr/>
        </p:nvSpPr>
        <p:spPr>
          <a:xfrm>
            <a:off x="1417320" y="3520440"/>
            <a:ext cx="2651760" cy="365760"/>
          </a:xfrm>
          <a:prstGeom prst="rect">
            <a:avLst/>
          </a:prstGeom>
          <a:noFill/>
          <a:ln/>
        </p:spPr>
        <p:txBody>
          <a:bodyPr wrap="square" lIns="0" tIns="0" rIns="0" bIns="0" rtlCol="0" anchor="ctr"/>
          <a:lstStyle/>
          <a:p>
            <a:pPr marL="0" indent="0">
              <a:buNone/>
            </a:pPr>
            <a:r>
              <a:rPr lang="en-US" sz="1500" b="1" dirty="0">
                <a:solidFill>
                  <a:srgbClr val="36454F"/>
                </a:solidFill>
                <a:latin typeface="Calibri" pitchFamily="34" charset="0"/>
                <a:ea typeface="Calibri" pitchFamily="34" charset="-122"/>
                <a:cs typeface="Calibri" pitchFamily="34" charset="-120"/>
              </a:rPr>
              <a:t>Education</a:t>
            </a:r>
            <a:endParaRPr lang="en-US" sz="1500" dirty="0"/>
          </a:p>
        </p:txBody>
      </p:sp>
      <p:sp>
        <p:nvSpPr>
          <p:cNvPr id="25" name="Text 19"/>
          <p:cNvSpPr/>
          <p:nvPr/>
        </p:nvSpPr>
        <p:spPr>
          <a:xfrm>
            <a:off x="1417320" y="3886200"/>
            <a:ext cx="2651760" cy="36576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Exam platforms during bursty load on unreliable campus links</a:t>
            </a:r>
            <a:endParaRPr lang="en-US" sz="1000" dirty="0"/>
          </a:p>
        </p:txBody>
      </p:sp>
      <p:sp>
        <p:nvSpPr>
          <p:cNvPr id="26" name="Text 20"/>
          <p:cNvSpPr/>
          <p:nvPr/>
        </p:nvSpPr>
        <p:spPr>
          <a:xfrm>
            <a:off x="731520" y="4297680"/>
            <a:ext cx="3291840" cy="365760"/>
          </a:xfrm>
          <a:prstGeom prst="rect">
            <a:avLst/>
          </a:prstGeom>
          <a:noFill/>
          <a:ln/>
        </p:spPr>
        <p:txBody>
          <a:bodyPr wrap="square" lIns="0" tIns="0" rIns="0" bIns="0" rtlCol="0" anchor="ctr"/>
          <a:lstStyle/>
          <a:p>
            <a:pPr marL="0" indent="0">
              <a:buNone/>
            </a:pPr>
            <a:r>
              <a:rPr lang="en-US" sz="1000" b="1" i="1" dirty="0">
                <a:solidFill>
                  <a:srgbClr val="36454F"/>
                </a:solidFill>
                <a:latin typeface="Calibri" pitchFamily="34" charset="0"/>
                <a:ea typeface="Calibri" pitchFamily="34" charset="-122"/>
                <a:cs typeface="Calibri" pitchFamily="34" charset="-120"/>
              </a:rPr>
              <a:t>Predictive failover during exam windows</a:t>
            </a:r>
            <a:endParaRPr lang="en-US" sz="1000" dirty="0"/>
          </a:p>
        </p:txBody>
      </p:sp>
      <p:sp>
        <p:nvSpPr>
          <p:cNvPr id="27" name="Shape 21"/>
          <p:cNvSpPr/>
          <p:nvPr/>
        </p:nvSpPr>
        <p:spPr>
          <a:xfrm>
            <a:off x="4343400" y="3337560"/>
            <a:ext cx="3657600" cy="13716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pic>
        <p:nvPicPr>
          <p:cNvPr id="28" name="Image 4" descr="preencoded.png"/>
          <p:cNvPicPr>
            <a:picLocks noChangeAspect="1"/>
          </p:cNvPicPr>
          <p:nvPr/>
        </p:nvPicPr>
        <p:blipFill>
          <a:blip r:embed="rId7"/>
          <a:stretch>
            <a:fillRect/>
          </a:stretch>
        </p:blipFill>
        <p:spPr>
          <a:xfrm>
            <a:off x="4526280" y="3566160"/>
            <a:ext cx="502920" cy="502920"/>
          </a:xfrm>
          <a:prstGeom prst="rect">
            <a:avLst/>
          </a:prstGeom>
        </p:spPr>
      </p:pic>
      <p:sp>
        <p:nvSpPr>
          <p:cNvPr id="29" name="Text 22"/>
          <p:cNvSpPr/>
          <p:nvPr/>
        </p:nvSpPr>
        <p:spPr>
          <a:xfrm>
            <a:off x="5212080" y="3520440"/>
            <a:ext cx="2651760" cy="365760"/>
          </a:xfrm>
          <a:prstGeom prst="rect">
            <a:avLst/>
          </a:prstGeom>
          <a:noFill/>
          <a:ln/>
        </p:spPr>
        <p:txBody>
          <a:bodyPr wrap="square" lIns="0" tIns="0" rIns="0" bIns="0" rtlCol="0" anchor="ctr"/>
          <a:lstStyle/>
          <a:p>
            <a:pPr marL="0" indent="0">
              <a:buNone/>
            </a:pPr>
            <a:r>
              <a:rPr lang="en-US" sz="1500" b="1" dirty="0">
                <a:solidFill>
                  <a:srgbClr val="36454F"/>
                </a:solidFill>
                <a:latin typeface="Calibri" pitchFamily="34" charset="0"/>
                <a:ea typeface="Calibri" pitchFamily="34" charset="-122"/>
                <a:cs typeface="Calibri" pitchFamily="34" charset="-120"/>
              </a:rPr>
              <a:t>Retail chains</a:t>
            </a:r>
            <a:endParaRPr lang="en-US" sz="1500" dirty="0"/>
          </a:p>
        </p:txBody>
      </p:sp>
      <p:sp>
        <p:nvSpPr>
          <p:cNvPr id="30" name="Text 23"/>
          <p:cNvSpPr/>
          <p:nvPr/>
        </p:nvSpPr>
        <p:spPr>
          <a:xfrm>
            <a:off x="5212080" y="3886200"/>
            <a:ext cx="2651760" cy="36576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POS + inventory + IP cameras · 5-second outage = lost sale</a:t>
            </a:r>
            <a:endParaRPr lang="en-US" sz="1000" dirty="0"/>
          </a:p>
        </p:txBody>
      </p:sp>
      <p:sp>
        <p:nvSpPr>
          <p:cNvPr id="31" name="Text 24"/>
          <p:cNvSpPr/>
          <p:nvPr/>
        </p:nvSpPr>
        <p:spPr>
          <a:xfrm>
            <a:off x="4526280" y="4297680"/>
            <a:ext cx="3291840" cy="365760"/>
          </a:xfrm>
          <a:prstGeom prst="rect">
            <a:avLst/>
          </a:prstGeom>
          <a:noFill/>
          <a:ln/>
        </p:spPr>
        <p:txBody>
          <a:bodyPr wrap="square" lIns="0" tIns="0" rIns="0" bIns="0" rtlCol="0" anchor="ctr"/>
          <a:lstStyle/>
          <a:p>
            <a:pPr marL="0" indent="0">
              <a:buNone/>
            </a:pPr>
            <a:r>
              <a:rPr lang="en-US" sz="1000" b="1" i="1" dirty="0">
                <a:solidFill>
                  <a:srgbClr val="36454F"/>
                </a:solidFill>
                <a:latin typeface="Calibri" pitchFamily="34" charset="0"/>
                <a:ea typeface="Calibri" pitchFamily="34" charset="-122"/>
                <a:cs typeface="Calibri" pitchFamily="34" charset="-120"/>
              </a:rPr>
              <a:t>Hitless handoff keeps card transactions alive</a:t>
            </a:r>
            <a:endParaRPr lang="en-US" sz="1000" dirty="0"/>
          </a:p>
        </p:txBody>
      </p:sp>
      <p:sp>
        <p:nvSpPr>
          <p:cNvPr id="32" name="Shape 25"/>
          <p:cNvSpPr/>
          <p:nvPr/>
        </p:nvSpPr>
        <p:spPr>
          <a:xfrm>
            <a:off x="8138160" y="3337560"/>
            <a:ext cx="3657600" cy="137160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pic>
        <p:nvPicPr>
          <p:cNvPr id="33" name="Image 5" descr="preencoded.png"/>
          <p:cNvPicPr>
            <a:picLocks noChangeAspect="1"/>
          </p:cNvPicPr>
          <p:nvPr/>
        </p:nvPicPr>
        <p:blipFill>
          <a:blip r:embed="rId8"/>
          <a:stretch>
            <a:fillRect/>
          </a:stretch>
        </p:blipFill>
        <p:spPr>
          <a:xfrm>
            <a:off x="8321040" y="3566160"/>
            <a:ext cx="502920" cy="502920"/>
          </a:xfrm>
          <a:prstGeom prst="rect">
            <a:avLst/>
          </a:prstGeom>
        </p:spPr>
      </p:pic>
      <p:sp>
        <p:nvSpPr>
          <p:cNvPr id="34" name="Text 26"/>
          <p:cNvSpPr/>
          <p:nvPr/>
        </p:nvSpPr>
        <p:spPr>
          <a:xfrm>
            <a:off x="9006840" y="3520440"/>
            <a:ext cx="2651760" cy="365760"/>
          </a:xfrm>
          <a:prstGeom prst="rect">
            <a:avLst/>
          </a:prstGeom>
          <a:noFill/>
          <a:ln/>
        </p:spPr>
        <p:txBody>
          <a:bodyPr wrap="square" lIns="0" tIns="0" rIns="0" bIns="0" rtlCol="0" anchor="ctr"/>
          <a:lstStyle/>
          <a:p>
            <a:pPr marL="0" indent="0">
              <a:buNone/>
            </a:pPr>
            <a:r>
              <a:rPr lang="en-US" sz="1500" b="1" dirty="0">
                <a:solidFill>
                  <a:srgbClr val="36454F"/>
                </a:solidFill>
                <a:latin typeface="Calibri" pitchFamily="34" charset="0"/>
                <a:ea typeface="Calibri" pitchFamily="34" charset="-122"/>
                <a:cs typeface="Calibri" pitchFamily="34" charset="-120"/>
              </a:rPr>
              <a:t>Finance</a:t>
            </a:r>
            <a:endParaRPr lang="en-US" sz="1500" dirty="0"/>
          </a:p>
        </p:txBody>
      </p:sp>
      <p:sp>
        <p:nvSpPr>
          <p:cNvPr id="35" name="Text 27"/>
          <p:cNvSpPr/>
          <p:nvPr/>
        </p:nvSpPr>
        <p:spPr>
          <a:xfrm>
            <a:off x="9006840" y="3886200"/>
            <a:ext cx="2651760" cy="365760"/>
          </a:xfrm>
          <a:prstGeom prst="rect">
            <a:avLst/>
          </a:prstGeom>
          <a:noFill/>
          <a:ln/>
        </p:spPr>
        <p:txBody>
          <a:bodyPr wrap="square" lIns="0" tIns="0" rIns="0" bIns="0" rtlCol="0" anchor="ctr"/>
          <a:lstStyle/>
          <a:p>
            <a:pPr marL="0" indent="0">
              <a:buNone/>
            </a:pPr>
            <a:r>
              <a:rPr lang="en-US" sz="1000" dirty="0">
                <a:solidFill>
                  <a:srgbClr val="6B737A"/>
                </a:solidFill>
                <a:latin typeface="Calibri" pitchFamily="34" charset="0"/>
                <a:ea typeface="Calibri" pitchFamily="34" charset="-122"/>
                <a:cs typeface="Calibri" pitchFamily="34" charset="-120"/>
              </a:rPr>
              <a:t>Trading, ATM, regulatory reporting · zero tolerance for loss</a:t>
            </a:r>
            <a:endParaRPr lang="en-US" sz="1000" dirty="0"/>
          </a:p>
        </p:txBody>
      </p:sp>
      <p:sp>
        <p:nvSpPr>
          <p:cNvPr id="36" name="Text 28"/>
          <p:cNvSpPr/>
          <p:nvPr/>
        </p:nvSpPr>
        <p:spPr>
          <a:xfrm>
            <a:off x="8321040" y="4297680"/>
            <a:ext cx="3291840" cy="365760"/>
          </a:xfrm>
          <a:prstGeom prst="rect">
            <a:avLst/>
          </a:prstGeom>
          <a:noFill/>
          <a:ln/>
        </p:spPr>
        <p:txBody>
          <a:bodyPr wrap="square" lIns="0" tIns="0" rIns="0" bIns="0" rtlCol="0" anchor="ctr"/>
          <a:lstStyle/>
          <a:p>
            <a:pPr marL="0" indent="0">
              <a:buNone/>
            </a:pPr>
            <a:r>
              <a:rPr lang="en-US" sz="1000" b="1" i="1" dirty="0">
                <a:solidFill>
                  <a:srgbClr val="36454F"/>
                </a:solidFill>
                <a:latin typeface="Calibri" pitchFamily="34" charset="0"/>
                <a:ea typeface="Calibri" pitchFamily="34" charset="-122"/>
                <a:cs typeface="Calibri" pitchFamily="34" charset="-120"/>
              </a:rPr>
              <a:t>Zero-packet-loss failover for financial traffic</a:t>
            </a:r>
            <a:endParaRPr lang="en-US" sz="1000" dirty="0"/>
          </a:p>
        </p:txBody>
      </p:sp>
      <p:sp>
        <p:nvSpPr>
          <p:cNvPr id="37" name="Shape 29"/>
          <p:cNvSpPr/>
          <p:nvPr/>
        </p:nvSpPr>
        <p:spPr>
          <a:xfrm>
            <a:off x="548640" y="4937760"/>
            <a:ext cx="11064240" cy="1463040"/>
          </a:xfrm>
          <a:prstGeom prst="rect">
            <a:avLst/>
          </a:prstGeom>
          <a:solidFill>
            <a:srgbClr val="F1F2F4"/>
          </a:solidFill>
          <a:ln w="12700">
            <a:solidFill>
              <a:srgbClr val="A4ACB5"/>
            </a:solidFill>
            <a:prstDash val="solid"/>
          </a:ln>
        </p:spPr>
      </p:sp>
      <p:sp>
        <p:nvSpPr>
          <p:cNvPr id="38" name="Text 30"/>
          <p:cNvSpPr/>
          <p:nvPr/>
        </p:nvSpPr>
        <p:spPr>
          <a:xfrm>
            <a:off x="777240" y="5010912"/>
            <a:ext cx="9144000" cy="292608"/>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Where you can deploy</a:t>
            </a:r>
            <a:endParaRPr lang="en-US" sz="1200" dirty="0"/>
          </a:p>
        </p:txBody>
      </p:sp>
      <p:sp>
        <p:nvSpPr>
          <p:cNvPr id="39" name="Text 31"/>
          <p:cNvSpPr/>
          <p:nvPr/>
        </p:nvSpPr>
        <p:spPr>
          <a:xfrm>
            <a:off x="777240" y="5321808"/>
            <a:ext cx="10881360" cy="105156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A1E22"/>
                </a:solidFill>
                <a:latin typeface="Calibri" pitchFamily="34" charset="0"/>
                <a:ea typeface="Calibri" pitchFamily="34" charset="-122"/>
                <a:cs typeface="Calibri" pitchFamily="34" charset="-120"/>
              </a:rPr>
              <a:t>On-prem (single Docker host: 8 cores · 32 GB · 1 TB SSD)</a:t>
            </a:r>
            <a:endParaRPr lang="en-US" sz="1000" dirty="0"/>
          </a:p>
          <a:p>
            <a:pPr marL="342900" indent="-342900">
              <a:spcAft>
                <a:spcPts val="200"/>
              </a:spcAft>
              <a:buSzPct val="100000"/>
              <a:buChar char="■"/>
            </a:pPr>
            <a:r>
              <a:rPr lang="en-US" sz="1000" dirty="0">
                <a:solidFill>
                  <a:srgbClr val="1A1E22"/>
                </a:solidFill>
                <a:latin typeface="Calibri" pitchFamily="34" charset="0"/>
                <a:ea typeface="Calibri" pitchFamily="34" charset="-122"/>
                <a:cs typeface="Calibri" pitchFamily="34" charset="-120"/>
              </a:rPr>
              <a:t>Private cloud (ESXi / KVM · containers run unchanged)</a:t>
            </a:r>
            <a:endParaRPr lang="en-US" sz="1000" dirty="0"/>
          </a:p>
          <a:p>
            <a:pPr marL="342900" indent="-342900">
              <a:spcAft>
                <a:spcPts val="200"/>
              </a:spcAft>
              <a:buSzPct val="100000"/>
              <a:buChar char="■"/>
            </a:pPr>
            <a:r>
              <a:rPr lang="en-US" sz="1000" dirty="0">
                <a:solidFill>
                  <a:srgbClr val="1A1E22"/>
                </a:solidFill>
                <a:latin typeface="Calibri" pitchFamily="34" charset="0"/>
                <a:ea typeface="Calibri" pitchFamily="34" charset="-122"/>
                <a:cs typeface="Calibri" pitchFamily="34" charset="-120"/>
              </a:rPr>
              <a:t>Public cloud (AWS / Azure / GCP · IPsec VPN for ingest)</a:t>
            </a:r>
            <a:endParaRPr lang="en-US" sz="1000" dirty="0"/>
          </a:p>
          <a:p>
            <a:pPr marL="342900" indent="-342900">
              <a:spcAft>
                <a:spcPts val="200"/>
              </a:spcAft>
              <a:buSzPct val="100000"/>
              <a:buChar char="■"/>
            </a:pPr>
            <a:r>
              <a:rPr lang="en-US" sz="1000" dirty="0">
                <a:solidFill>
                  <a:srgbClr val="1A1E22"/>
                </a:solidFill>
                <a:latin typeface="Calibri" pitchFamily="34" charset="0"/>
                <a:ea typeface="Calibri" pitchFamily="34" charset="-122"/>
                <a:cs typeface="Calibri" pitchFamily="34" charset="-120"/>
              </a:rPr>
              <a:t>Hybrid (control plane in cloud · data plane on-prem)</a:t>
            </a:r>
            <a:endParaRPr lang="en-US" sz="1000" dirty="0"/>
          </a:p>
          <a:p>
            <a:pPr marL="342900" indent="-342900">
              <a:spcAft>
                <a:spcPts val="200"/>
              </a:spcAft>
              <a:buSzPct val="100000"/>
              <a:buChar char="■"/>
            </a:pPr>
            <a:r>
              <a:rPr lang="en-US" sz="1000" dirty="0">
                <a:solidFill>
                  <a:srgbClr val="1A1E22"/>
                </a:solidFill>
                <a:latin typeface="Calibri" pitchFamily="34" charset="0"/>
                <a:ea typeface="Calibri" pitchFamily="34" charset="-122"/>
                <a:cs typeface="Calibri" pitchFamily="34" charset="-120"/>
              </a:rPr>
              <a:t>MSP shared (single control plane · tenant-isolated RBAC)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SECURITY</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Security &amp; compliance posture</a:t>
            </a:r>
            <a:endParaRPr lang="en-US" sz="3000" dirty="0"/>
          </a:p>
        </p:txBody>
      </p:sp>
      <p:sp>
        <p:nvSpPr>
          <p:cNvPr id="5" name="Text 3"/>
          <p:cNvSpPr/>
          <p:nvPr/>
        </p:nvSpPr>
        <p:spPr>
          <a:xfrm>
            <a:off x="502920" y="64592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20 / 25</a:t>
            </a:r>
            <a:endParaRPr lang="en-US" sz="900" dirty="0"/>
          </a:p>
        </p:txBody>
      </p:sp>
      <p:sp>
        <p:nvSpPr>
          <p:cNvPr id="7" name="Shape 5"/>
          <p:cNvSpPr/>
          <p:nvPr/>
        </p:nvSpPr>
        <p:spPr>
          <a:xfrm>
            <a:off x="548640" y="182880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Shape 6"/>
          <p:cNvSpPr/>
          <p:nvPr/>
        </p:nvSpPr>
        <p:spPr>
          <a:xfrm>
            <a:off x="548640" y="1828800"/>
            <a:ext cx="73152" cy="1554480"/>
          </a:xfrm>
          <a:prstGeom prst="rect">
            <a:avLst/>
          </a:prstGeom>
          <a:solidFill>
            <a:srgbClr val="36454F"/>
          </a:solidFill>
          <a:ln w="12700">
            <a:solidFill>
              <a:srgbClr val="36454F"/>
            </a:solidFill>
            <a:prstDash val="solid"/>
          </a:ln>
        </p:spPr>
      </p:sp>
      <p:pic>
        <p:nvPicPr>
          <p:cNvPr id="9" name="Image 0" descr="preencoded.png"/>
          <p:cNvPicPr>
            <a:picLocks noChangeAspect="1"/>
          </p:cNvPicPr>
          <p:nvPr/>
        </p:nvPicPr>
        <p:blipFill>
          <a:blip r:embed="rId3"/>
          <a:stretch>
            <a:fillRect/>
          </a:stretch>
        </p:blipFill>
        <p:spPr>
          <a:xfrm>
            <a:off x="777240" y="2011680"/>
            <a:ext cx="365760" cy="365760"/>
          </a:xfrm>
          <a:prstGeom prst="rect">
            <a:avLst/>
          </a:prstGeom>
        </p:spPr>
      </p:pic>
      <p:sp>
        <p:nvSpPr>
          <p:cNvPr id="10" name="Text 7"/>
          <p:cNvSpPr/>
          <p:nvPr/>
        </p:nvSpPr>
        <p:spPr>
          <a:xfrm>
            <a:off x="1234440" y="201168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Transport</a:t>
            </a:r>
            <a:endParaRPr lang="en-US" sz="1300" dirty="0"/>
          </a:p>
        </p:txBody>
      </p:sp>
      <p:sp>
        <p:nvSpPr>
          <p:cNvPr id="11" name="Text 8"/>
          <p:cNvSpPr/>
          <p:nvPr/>
        </p:nvSpPr>
        <p:spPr>
          <a:xfrm>
            <a:off x="777240" y="251460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TLS 1.3+ enforced at nginx. Older versions rejected outright.</a:t>
            </a:r>
            <a:endParaRPr lang="en-US" sz="1000" dirty="0"/>
          </a:p>
        </p:txBody>
      </p:sp>
      <p:sp>
        <p:nvSpPr>
          <p:cNvPr id="12" name="Shape 9"/>
          <p:cNvSpPr/>
          <p:nvPr/>
        </p:nvSpPr>
        <p:spPr>
          <a:xfrm>
            <a:off x="3474720" y="182880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3" name="Shape 10"/>
          <p:cNvSpPr/>
          <p:nvPr/>
        </p:nvSpPr>
        <p:spPr>
          <a:xfrm>
            <a:off x="3474720" y="1828800"/>
            <a:ext cx="73152" cy="1554480"/>
          </a:xfrm>
          <a:prstGeom prst="rect">
            <a:avLst/>
          </a:prstGeom>
          <a:solidFill>
            <a:srgbClr val="36454F"/>
          </a:solidFill>
          <a:ln w="12700">
            <a:solidFill>
              <a:srgbClr val="36454F"/>
            </a:solidFill>
            <a:prstDash val="solid"/>
          </a:ln>
        </p:spPr>
      </p:sp>
      <p:pic>
        <p:nvPicPr>
          <p:cNvPr id="14" name="Image 1" descr="preencoded.png"/>
          <p:cNvPicPr>
            <a:picLocks noChangeAspect="1"/>
          </p:cNvPicPr>
          <p:nvPr/>
        </p:nvPicPr>
        <p:blipFill>
          <a:blip r:embed="rId3"/>
          <a:stretch>
            <a:fillRect/>
          </a:stretch>
        </p:blipFill>
        <p:spPr>
          <a:xfrm>
            <a:off x="3703320" y="2011680"/>
            <a:ext cx="365760" cy="365760"/>
          </a:xfrm>
          <a:prstGeom prst="rect">
            <a:avLst/>
          </a:prstGeom>
        </p:spPr>
      </p:pic>
      <p:sp>
        <p:nvSpPr>
          <p:cNvPr id="15" name="Text 11"/>
          <p:cNvSpPr/>
          <p:nvPr/>
        </p:nvSpPr>
        <p:spPr>
          <a:xfrm>
            <a:off x="4160520" y="201168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Passwords</a:t>
            </a:r>
            <a:endParaRPr lang="en-US" sz="1300" dirty="0"/>
          </a:p>
        </p:txBody>
      </p:sp>
      <p:sp>
        <p:nvSpPr>
          <p:cNvPr id="16" name="Text 12"/>
          <p:cNvSpPr/>
          <p:nvPr/>
        </p:nvSpPr>
        <p:spPr>
          <a:xfrm>
            <a:off x="3703320" y="251460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bcrypt hashing. No plaintext, no reversible encryption.</a:t>
            </a:r>
            <a:endParaRPr lang="en-US" sz="1000" dirty="0"/>
          </a:p>
        </p:txBody>
      </p:sp>
      <p:sp>
        <p:nvSpPr>
          <p:cNvPr id="17" name="Shape 13"/>
          <p:cNvSpPr/>
          <p:nvPr/>
        </p:nvSpPr>
        <p:spPr>
          <a:xfrm>
            <a:off x="6400800" y="182880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8" name="Shape 14"/>
          <p:cNvSpPr/>
          <p:nvPr/>
        </p:nvSpPr>
        <p:spPr>
          <a:xfrm>
            <a:off x="6400800" y="1828800"/>
            <a:ext cx="73152" cy="1554480"/>
          </a:xfrm>
          <a:prstGeom prst="rect">
            <a:avLst/>
          </a:prstGeom>
          <a:solidFill>
            <a:srgbClr val="36454F"/>
          </a:solidFill>
          <a:ln w="12700">
            <a:solidFill>
              <a:srgbClr val="36454F"/>
            </a:solidFill>
            <a:prstDash val="solid"/>
          </a:ln>
        </p:spPr>
      </p:sp>
      <p:pic>
        <p:nvPicPr>
          <p:cNvPr id="19" name="Image 2" descr="preencoded.png"/>
          <p:cNvPicPr>
            <a:picLocks noChangeAspect="1"/>
          </p:cNvPicPr>
          <p:nvPr/>
        </p:nvPicPr>
        <p:blipFill>
          <a:blip r:embed="rId3"/>
          <a:stretch>
            <a:fillRect/>
          </a:stretch>
        </p:blipFill>
        <p:spPr>
          <a:xfrm>
            <a:off x="6629400" y="2011680"/>
            <a:ext cx="365760" cy="365760"/>
          </a:xfrm>
          <a:prstGeom prst="rect">
            <a:avLst/>
          </a:prstGeom>
        </p:spPr>
      </p:pic>
      <p:sp>
        <p:nvSpPr>
          <p:cNvPr id="20" name="Text 15"/>
          <p:cNvSpPr/>
          <p:nvPr/>
        </p:nvSpPr>
        <p:spPr>
          <a:xfrm>
            <a:off x="7086600" y="201168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At-rest data</a:t>
            </a:r>
            <a:endParaRPr lang="en-US" sz="1300" dirty="0"/>
          </a:p>
        </p:txBody>
      </p:sp>
      <p:sp>
        <p:nvSpPr>
          <p:cNvPr id="21" name="Text 16"/>
          <p:cNvSpPr/>
          <p:nvPr/>
        </p:nvSpPr>
        <p:spPr>
          <a:xfrm>
            <a:off x="6629400" y="251460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AES-256 for telemetry and credentials.</a:t>
            </a:r>
            <a:endParaRPr lang="en-US" sz="1000" dirty="0"/>
          </a:p>
        </p:txBody>
      </p:sp>
      <p:sp>
        <p:nvSpPr>
          <p:cNvPr id="22" name="Shape 17"/>
          <p:cNvSpPr/>
          <p:nvPr/>
        </p:nvSpPr>
        <p:spPr>
          <a:xfrm>
            <a:off x="9326880" y="182880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3" name="Shape 18"/>
          <p:cNvSpPr/>
          <p:nvPr/>
        </p:nvSpPr>
        <p:spPr>
          <a:xfrm>
            <a:off x="9326880" y="1828800"/>
            <a:ext cx="73152" cy="1554480"/>
          </a:xfrm>
          <a:prstGeom prst="rect">
            <a:avLst/>
          </a:prstGeom>
          <a:solidFill>
            <a:srgbClr val="36454F"/>
          </a:solidFill>
          <a:ln w="12700">
            <a:solidFill>
              <a:srgbClr val="36454F"/>
            </a:solidFill>
            <a:prstDash val="solid"/>
          </a:ln>
        </p:spPr>
      </p:sp>
      <p:pic>
        <p:nvPicPr>
          <p:cNvPr id="24" name="Image 3" descr="preencoded.png"/>
          <p:cNvPicPr>
            <a:picLocks noChangeAspect="1"/>
          </p:cNvPicPr>
          <p:nvPr/>
        </p:nvPicPr>
        <p:blipFill>
          <a:blip r:embed="rId4"/>
          <a:stretch>
            <a:fillRect/>
          </a:stretch>
        </p:blipFill>
        <p:spPr>
          <a:xfrm>
            <a:off x="9555480" y="2011680"/>
            <a:ext cx="365760" cy="365760"/>
          </a:xfrm>
          <a:prstGeom prst="rect">
            <a:avLst/>
          </a:prstGeom>
        </p:spPr>
      </p:pic>
      <p:sp>
        <p:nvSpPr>
          <p:cNvPr id="25" name="Text 19"/>
          <p:cNvSpPr/>
          <p:nvPr/>
        </p:nvSpPr>
        <p:spPr>
          <a:xfrm>
            <a:off x="10012680" y="201168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RBAC</a:t>
            </a:r>
            <a:endParaRPr lang="en-US" sz="1300" dirty="0"/>
          </a:p>
        </p:txBody>
      </p:sp>
      <p:sp>
        <p:nvSpPr>
          <p:cNvPr id="26" name="Text 20"/>
          <p:cNvSpPr/>
          <p:nvPr/>
        </p:nvSpPr>
        <p:spPr>
          <a:xfrm>
            <a:off x="9555480" y="251460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FastAPI dependency-injection check on every route. Five roles.</a:t>
            </a:r>
            <a:endParaRPr lang="en-US" sz="1000" dirty="0"/>
          </a:p>
        </p:txBody>
      </p:sp>
      <p:sp>
        <p:nvSpPr>
          <p:cNvPr id="27" name="Shape 21"/>
          <p:cNvSpPr/>
          <p:nvPr/>
        </p:nvSpPr>
        <p:spPr>
          <a:xfrm>
            <a:off x="548640" y="347472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8" name="Shape 22"/>
          <p:cNvSpPr/>
          <p:nvPr/>
        </p:nvSpPr>
        <p:spPr>
          <a:xfrm>
            <a:off x="548640" y="3474720"/>
            <a:ext cx="73152" cy="1554480"/>
          </a:xfrm>
          <a:prstGeom prst="rect">
            <a:avLst/>
          </a:prstGeom>
          <a:solidFill>
            <a:srgbClr val="36454F"/>
          </a:solidFill>
          <a:ln w="12700">
            <a:solidFill>
              <a:srgbClr val="36454F"/>
            </a:solidFill>
            <a:prstDash val="solid"/>
          </a:ln>
        </p:spPr>
      </p:sp>
      <p:pic>
        <p:nvPicPr>
          <p:cNvPr id="29" name="Image 4" descr="preencoded.png"/>
          <p:cNvPicPr>
            <a:picLocks noChangeAspect="1"/>
          </p:cNvPicPr>
          <p:nvPr/>
        </p:nvPicPr>
        <p:blipFill>
          <a:blip r:embed="rId4"/>
          <a:stretch>
            <a:fillRect/>
          </a:stretch>
        </p:blipFill>
        <p:spPr>
          <a:xfrm>
            <a:off x="777240" y="3657600"/>
            <a:ext cx="365760" cy="365760"/>
          </a:xfrm>
          <a:prstGeom prst="rect">
            <a:avLst/>
          </a:prstGeom>
        </p:spPr>
      </p:pic>
      <p:sp>
        <p:nvSpPr>
          <p:cNvPr id="30" name="Text 23"/>
          <p:cNvSpPr/>
          <p:nvPr/>
        </p:nvSpPr>
        <p:spPr>
          <a:xfrm>
            <a:off x="1234440" y="365760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Sessions</a:t>
            </a:r>
            <a:endParaRPr lang="en-US" sz="1300" dirty="0"/>
          </a:p>
        </p:txBody>
      </p:sp>
      <p:sp>
        <p:nvSpPr>
          <p:cNvPr id="31" name="Text 24"/>
          <p:cNvSpPr/>
          <p:nvPr/>
        </p:nvSpPr>
        <p:spPr>
          <a:xfrm>
            <a:off x="777240" y="416052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JWT · 60-minute expiry · signed with a 256-bit secret.</a:t>
            </a:r>
            <a:endParaRPr lang="en-US" sz="1000" dirty="0"/>
          </a:p>
        </p:txBody>
      </p:sp>
      <p:sp>
        <p:nvSpPr>
          <p:cNvPr id="32" name="Shape 25"/>
          <p:cNvSpPr/>
          <p:nvPr/>
        </p:nvSpPr>
        <p:spPr>
          <a:xfrm>
            <a:off x="3474720" y="347472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33" name="Shape 26"/>
          <p:cNvSpPr/>
          <p:nvPr/>
        </p:nvSpPr>
        <p:spPr>
          <a:xfrm>
            <a:off x="3474720" y="3474720"/>
            <a:ext cx="73152" cy="1554480"/>
          </a:xfrm>
          <a:prstGeom prst="rect">
            <a:avLst/>
          </a:prstGeom>
          <a:solidFill>
            <a:srgbClr val="36454F"/>
          </a:solidFill>
          <a:ln w="12700">
            <a:solidFill>
              <a:srgbClr val="36454F"/>
            </a:solidFill>
            <a:prstDash val="solid"/>
          </a:ln>
        </p:spPr>
      </p:sp>
      <p:pic>
        <p:nvPicPr>
          <p:cNvPr id="34" name="Image 5" descr="preencoded.png"/>
          <p:cNvPicPr>
            <a:picLocks noChangeAspect="1"/>
          </p:cNvPicPr>
          <p:nvPr/>
        </p:nvPicPr>
        <p:blipFill>
          <a:blip r:embed="rId4"/>
          <a:stretch>
            <a:fillRect/>
          </a:stretch>
        </p:blipFill>
        <p:spPr>
          <a:xfrm>
            <a:off x="3703320" y="3657600"/>
            <a:ext cx="365760" cy="365760"/>
          </a:xfrm>
          <a:prstGeom prst="rect">
            <a:avLst/>
          </a:prstGeom>
        </p:spPr>
      </p:pic>
      <p:sp>
        <p:nvSpPr>
          <p:cNvPr id="35" name="Text 27"/>
          <p:cNvSpPr/>
          <p:nvPr/>
        </p:nvSpPr>
        <p:spPr>
          <a:xfrm>
            <a:off x="4160520" y="365760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Account lockout</a:t>
            </a:r>
            <a:endParaRPr lang="en-US" sz="1300" dirty="0"/>
          </a:p>
        </p:txBody>
      </p:sp>
      <p:sp>
        <p:nvSpPr>
          <p:cNvPr id="36" name="Text 28"/>
          <p:cNvSpPr/>
          <p:nvPr/>
        </p:nvSpPr>
        <p:spPr>
          <a:xfrm>
            <a:off x="3703320" y="416052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Lockout after 5 consecutive failed logins.</a:t>
            </a:r>
            <a:endParaRPr lang="en-US" sz="1000" dirty="0"/>
          </a:p>
        </p:txBody>
      </p:sp>
      <p:sp>
        <p:nvSpPr>
          <p:cNvPr id="37" name="Shape 29"/>
          <p:cNvSpPr/>
          <p:nvPr/>
        </p:nvSpPr>
        <p:spPr>
          <a:xfrm>
            <a:off x="6400800" y="347472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38" name="Shape 30"/>
          <p:cNvSpPr/>
          <p:nvPr/>
        </p:nvSpPr>
        <p:spPr>
          <a:xfrm>
            <a:off x="6400800" y="3474720"/>
            <a:ext cx="73152" cy="1554480"/>
          </a:xfrm>
          <a:prstGeom prst="rect">
            <a:avLst/>
          </a:prstGeom>
          <a:solidFill>
            <a:srgbClr val="36454F"/>
          </a:solidFill>
          <a:ln w="12700">
            <a:solidFill>
              <a:srgbClr val="36454F"/>
            </a:solidFill>
            <a:prstDash val="solid"/>
          </a:ln>
        </p:spPr>
      </p:sp>
      <p:pic>
        <p:nvPicPr>
          <p:cNvPr id="39" name="Image 6" descr="preencoded.png"/>
          <p:cNvPicPr>
            <a:picLocks noChangeAspect="1"/>
          </p:cNvPicPr>
          <p:nvPr/>
        </p:nvPicPr>
        <p:blipFill>
          <a:blip r:embed="rId5"/>
          <a:stretch>
            <a:fillRect/>
          </a:stretch>
        </p:blipFill>
        <p:spPr>
          <a:xfrm>
            <a:off x="6629400" y="3657600"/>
            <a:ext cx="365760" cy="365760"/>
          </a:xfrm>
          <a:prstGeom prst="rect">
            <a:avLst/>
          </a:prstGeom>
        </p:spPr>
      </p:pic>
      <p:sp>
        <p:nvSpPr>
          <p:cNvPr id="40" name="Text 31"/>
          <p:cNvSpPr/>
          <p:nvPr/>
        </p:nvSpPr>
        <p:spPr>
          <a:xfrm>
            <a:off x="7086600" y="365760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Audit log</a:t>
            </a:r>
            <a:endParaRPr lang="en-US" sz="1300" dirty="0"/>
          </a:p>
        </p:txBody>
      </p:sp>
      <p:sp>
        <p:nvSpPr>
          <p:cNvPr id="41" name="Text 32"/>
          <p:cNvSpPr/>
          <p:nvPr/>
        </p:nvSpPr>
        <p:spPr>
          <a:xfrm>
            <a:off x="6629400" y="416052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Tamper-evident SHA-256 per row. HIPAA-grade evidence.</a:t>
            </a:r>
            <a:endParaRPr lang="en-US" sz="1000" dirty="0"/>
          </a:p>
        </p:txBody>
      </p:sp>
      <p:sp>
        <p:nvSpPr>
          <p:cNvPr id="42" name="Shape 33"/>
          <p:cNvSpPr/>
          <p:nvPr/>
        </p:nvSpPr>
        <p:spPr>
          <a:xfrm>
            <a:off x="9326880" y="3474720"/>
            <a:ext cx="2834640" cy="155448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43" name="Shape 34"/>
          <p:cNvSpPr/>
          <p:nvPr/>
        </p:nvSpPr>
        <p:spPr>
          <a:xfrm>
            <a:off x="9326880" y="3474720"/>
            <a:ext cx="73152" cy="1554480"/>
          </a:xfrm>
          <a:prstGeom prst="rect">
            <a:avLst/>
          </a:prstGeom>
          <a:solidFill>
            <a:srgbClr val="36454F"/>
          </a:solidFill>
          <a:ln w="12700">
            <a:solidFill>
              <a:srgbClr val="36454F"/>
            </a:solidFill>
            <a:prstDash val="solid"/>
          </a:ln>
        </p:spPr>
      </p:sp>
      <p:pic>
        <p:nvPicPr>
          <p:cNvPr id="44" name="Image 7" descr="preencoded.png"/>
          <p:cNvPicPr>
            <a:picLocks noChangeAspect="1"/>
          </p:cNvPicPr>
          <p:nvPr/>
        </p:nvPicPr>
        <p:blipFill>
          <a:blip r:embed="rId6"/>
          <a:stretch>
            <a:fillRect/>
          </a:stretch>
        </p:blipFill>
        <p:spPr>
          <a:xfrm>
            <a:off x="9555480" y="3657600"/>
            <a:ext cx="365760" cy="365760"/>
          </a:xfrm>
          <a:prstGeom prst="rect">
            <a:avLst/>
          </a:prstGeom>
        </p:spPr>
      </p:pic>
      <p:sp>
        <p:nvSpPr>
          <p:cNvPr id="45" name="Text 35"/>
          <p:cNvSpPr/>
          <p:nvPr/>
        </p:nvSpPr>
        <p:spPr>
          <a:xfrm>
            <a:off x="10012680" y="3657600"/>
            <a:ext cx="201168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NLP privacy</a:t>
            </a:r>
            <a:endParaRPr lang="en-US" sz="1300" dirty="0"/>
          </a:p>
        </p:txBody>
      </p:sp>
      <p:sp>
        <p:nvSpPr>
          <p:cNvPr id="46" name="Text 36"/>
          <p:cNvSpPr/>
          <p:nvPr/>
        </p:nvSpPr>
        <p:spPr>
          <a:xfrm>
            <a:off x="9555480" y="4160520"/>
            <a:ext cx="2468880" cy="822960"/>
          </a:xfrm>
          <a:prstGeom prst="rect">
            <a:avLst/>
          </a:prstGeom>
          <a:noFill/>
          <a:ln/>
        </p:spPr>
        <p:txBody>
          <a:bodyPr wrap="square" lIns="0" tIns="0" rIns="0" bIns="0" rtlCol="0" anchor="ctr"/>
          <a:lstStyle/>
          <a:p>
            <a:pPr marL="0" indent="0">
              <a:buNone/>
            </a:pPr>
            <a:r>
              <a:rPr lang="en-US" sz="1000" dirty="0">
                <a:solidFill>
                  <a:srgbClr val="1A1E22"/>
                </a:solidFill>
                <a:latin typeface="Calibri" pitchFamily="34" charset="0"/>
                <a:ea typeface="Calibri" pitchFamily="34" charset="-122"/>
                <a:cs typeface="Calibri" pitchFamily="34" charset="-120"/>
              </a:rPr>
              <a:t>IBN runs locally. No external LLM. Data never leaves the enterprise.</a:t>
            </a:r>
            <a:endParaRPr lang="en-US" sz="1000" dirty="0"/>
          </a:p>
        </p:txBody>
      </p:sp>
      <p:sp>
        <p:nvSpPr>
          <p:cNvPr id="47" name="Shape 37"/>
          <p:cNvSpPr/>
          <p:nvPr/>
        </p:nvSpPr>
        <p:spPr>
          <a:xfrm>
            <a:off x="548640" y="5303520"/>
            <a:ext cx="11064240" cy="1005840"/>
          </a:xfrm>
          <a:prstGeom prst="rect">
            <a:avLst/>
          </a:prstGeom>
          <a:solidFill>
            <a:srgbClr val="36454F"/>
          </a:solidFill>
          <a:ln w="12700">
            <a:solidFill>
              <a:srgbClr val="36454F"/>
            </a:solidFill>
            <a:prstDash val="solid"/>
          </a:ln>
        </p:spPr>
      </p:sp>
      <p:sp>
        <p:nvSpPr>
          <p:cNvPr id="48" name="Text 38"/>
          <p:cNvSpPr/>
          <p:nvPr/>
        </p:nvSpPr>
        <p:spPr>
          <a:xfrm>
            <a:off x="777240" y="5394960"/>
            <a:ext cx="3657600" cy="320040"/>
          </a:xfrm>
          <a:prstGeom prst="rect">
            <a:avLst/>
          </a:prstGeom>
          <a:noFill/>
          <a:ln/>
        </p:spPr>
        <p:txBody>
          <a:bodyPr wrap="square" lIns="0" tIns="0" rIns="0" bIns="0" rtlCol="0" anchor="ctr"/>
          <a:lstStyle/>
          <a:p>
            <a:pPr marL="0" indent="0">
              <a:buNone/>
            </a:pPr>
            <a:r>
              <a:rPr lang="en-US" sz="1200" b="1" kern="0" spc="200" dirty="0">
                <a:solidFill>
                  <a:srgbClr val="A4ACB5"/>
                </a:solidFill>
                <a:latin typeface="Calibri" pitchFamily="34" charset="0"/>
                <a:ea typeface="Calibri" pitchFamily="34" charset="-122"/>
                <a:cs typeface="Calibri" pitchFamily="34" charset="-120"/>
              </a:rPr>
              <a:t>Compliance fit</a:t>
            </a:r>
            <a:endParaRPr lang="en-US" sz="1200" dirty="0"/>
          </a:p>
        </p:txBody>
      </p:sp>
      <p:sp>
        <p:nvSpPr>
          <p:cNvPr id="49" name="Text 39"/>
          <p:cNvSpPr/>
          <p:nvPr/>
        </p:nvSpPr>
        <p:spPr>
          <a:xfrm>
            <a:off x="777240" y="5715000"/>
            <a:ext cx="1088136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HIPAA </a:t>
            </a:r>
            <a:r>
              <a:rPr lang="en-US" sz="1300" dirty="0">
                <a:solidFill>
                  <a:srgbClr val="A4ACB5"/>
                </a:solidFill>
                <a:latin typeface="Calibri" pitchFamily="34" charset="0"/>
                <a:ea typeface="Calibri" pitchFamily="34" charset="-122"/>
                <a:cs typeface="Calibri" pitchFamily="34" charset="-120"/>
              </a:rPr>
              <a:t>(audit + access) · </a:t>
            </a:r>
            <a:r>
              <a:rPr lang="en-US" sz="1300" b="1" dirty="0">
                <a:solidFill>
                  <a:srgbClr val="FFFFFF"/>
                </a:solidFill>
                <a:latin typeface="Calibri" pitchFamily="34" charset="0"/>
                <a:ea typeface="Calibri" pitchFamily="34" charset="-122"/>
                <a:cs typeface="Calibri" pitchFamily="34" charset="-120"/>
              </a:rPr>
              <a:t>SOC 2 </a:t>
            </a:r>
            <a:r>
              <a:rPr lang="en-US" sz="1300" dirty="0">
                <a:solidFill>
                  <a:srgbClr val="A4ACB5"/>
                </a:solidFill>
                <a:latin typeface="Calibri" pitchFamily="34" charset="0"/>
                <a:ea typeface="Calibri" pitchFamily="34" charset="-122"/>
                <a:cs typeface="Calibri" pitchFamily="34" charset="-120"/>
              </a:rPr>
              <a:t>(logging + access) · </a:t>
            </a:r>
            <a:r>
              <a:rPr lang="en-US" sz="1300" b="1" dirty="0">
                <a:solidFill>
                  <a:srgbClr val="FFFFFF"/>
                </a:solidFill>
                <a:latin typeface="Calibri" pitchFamily="34" charset="0"/>
                <a:ea typeface="Calibri" pitchFamily="34" charset="-122"/>
                <a:cs typeface="Calibri" pitchFamily="34" charset="-120"/>
              </a:rPr>
              <a:t>PCI-DSS-friendly </a:t>
            </a:r>
            <a:r>
              <a:rPr lang="en-US" sz="1300" dirty="0">
                <a:solidFill>
                  <a:srgbClr val="A4ACB5"/>
                </a:solidFill>
                <a:latin typeface="Calibri" pitchFamily="34" charset="0"/>
                <a:ea typeface="Calibri" pitchFamily="34" charset="-122"/>
                <a:cs typeface="Calibri" pitchFamily="34" charset="-120"/>
              </a:rPr>
              <a:t>(TLS + at-rest) · </a:t>
            </a:r>
            <a:r>
              <a:rPr lang="en-US" sz="1300" b="1" dirty="0">
                <a:solidFill>
                  <a:srgbClr val="FFFFFF"/>
                </a:solidFill>
                <a:latin typeface="Calibri" pitchFamily="34" charset="0"/>
                <a:ea typeface="Calibri" pitchFamily="34" charset="-122"/>
                <a:cs typeface="Calibri" pitchFamily="34" charset="-120"/>
              </a:rPr>
              <a:t>GDPR-friendly </a:t>
            </a:r>
            <a:r>
              <a:rPr lang="en-US" sz="1300" dirty="0">
                <a:solidFill>
                  <a:srgbClr val="A4ACB5"/>
                </a:solidFill>
                <a:latin typeface="Calibri" pitchFamily="34" charset="0"/>
                <a:ea typeface="Calibri" pitchFamily="34" charset="-122"/>
                <a:cs typeface="Calibri" pitchFamily="34" charset="-120"/>
              </a:rPr>
              <a:t>(self-hosted residency)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CHALLENGES</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Engineering challenges — and how we solved them</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22 / 25</a:t>
            </a:r>
            <a:endParaRPr lang="en-US" sz="900" dirty="0"/>
          </a:p>
        </p:txBody>
      </p:sp>
      <p:sp>
        <p:nvSpPr>
          <p:cNvPr id="7" name="Shape 5"/>
          <p:cNvSpPr/>
          <p:nvPr/>
        </p:nvSpPr>
        <p:spPr>
          <a:xfrm>
            <a:off x="548640" y="1783080"/>
            <a:ext cx="11064240" cy="548640"/>
          </a:xfrm>
          <a:prstGeom prst="rect">
            <a:avLst/>
          </a:prstGeom>
          <a:solidFill>
            <a:srgbClr val="FFFFFF"/>
          </a:solidFill>
          <a:ln w="9525">
            <a:solidFill>
              <a:srgbClr val="A4ACB5"/>
            </a:solidFill>
            <a:prstDash val="solid"/>
          </a:ln>
        </p:spPr>
      </p:sp>
      <p:sp>
        <p:nvSpPr>
          <p:cNvPr id="8" name="Shape 6"/>
          <p:cNvSpPr/>
          <p:nvPr/>
        </p:nvSpPr>
        <p:spPr>
          <a:xfrm>
            <a:off x="548640" y="1783080"/>
            <a:ext cx="73152" cy="548640"/>
          </a:xfrm>
          <a:prstGeom prst="rect">
            <a:avLst/>
          </a:prstGeom>
          <a:solidFill>
            <a:srgbClr val="36454F"/>
          </a:solidFill>
          <a:ln w="12700">
            <a:solidFill>
              <a:srgbClr val="36454F"/>
            </a:solidFill>
            <a:prstDash val="solid"/>
          </a:ln>
        </p:spPr>
      </p:sp>
      <p:sp>
        <p:nvSpPr>
          <p:cNvPr id="9" name="Text 7"/>
          <p:cNvSpPr/>
          <p:nvPr/>
        </p:nvSpPr>
        <p:spPr>
          <a:xfrm>
            <a:off x="777240" y="185623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How do we predict 30 seconds ahead?</a:t>
            </a:r>
            <a:endParaRPr lang="en-US" sz="1200" dirty="0"/>
          </a:p>
        </p:txBody>
      </p:sp>
      <p:sp>
        <p:nvSpPr>
          <p:cNvPr id="10" name="Text 8"/>
          <p:cNvSpPr/>
          <p:nvPr/>
        </p:nvSpPr>
        <p:spPr>
          <a:xfrm>
            <a:off x="5859475" y="185623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6191402" y="185623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LSTM + attention on 60-second windows, trained on 10 M+ synthetic points.</a:t>
            </a:r>
            <a:endParaRPr lang="en-US" sz="1100" dirty="0"/>
          </a:p>
        </p:txBody>
      </p:sp>
      <p:sp>
        <p:nvSpPr>
          <p:cNvPr id="12" name="Shape 10"/>
          <p:cNvSpPr/>
          <p:nvPr/>
        </p:nvSpPr>
        <p:spPr>
          <a:xfrm>
            <a:off x="548640" y="2423160"/>
            <a:ext cx="11064240" cy="548640"/>
          </a:xfrm>
          <a:prstGeom prst="rect">
            <a:avLst/>
          </a:prstGeom>
          <a:solidFill>
            <a:srgbClr val="FFFFFF"/>
          </a:solidFill>
          <a:ln w="9525">
            <a:solidFill>
              <a:srgbClr val="A4ACB5"/>
            </a:solidFill>
            <a:prstDash val="solid"/>
          </a:ln>
        </p:spPr>
      </p:sp>
      <p:sp>
        <p:nvSpPr>
          <p:cNvPr id="13" name="Shape 11"/>
          <p:cNvSpPr/>
          <p:nvPr/>
        </p:nvSpPr>
        <p:spPr>
          <a:xfrm>
            <a:off x="548640" y="2423160"/>
            <a:ext cx="73152" cy="548640"/>
          </a:xfrm>
          <a:prstGeom prst="rect">
            <a:avLst/>
          </a:prstGeom>
          <a:solidFill>
            <a:srgbClr val="36454F"/>
          </a:solidFill>
          <a:ln w="12700">
            <a:solidFill>
              <a:srgbClr val="36454F"/>
            </a:solidFill>
            <a:prstDash val="solid"/>
          </a:ln>
        </p:spPr>
      </p:sp>
      <p:sp>
        <p:nvSpPr>
          <p:cNvPr id="14" name="Text 12"/>
          <p:cNvSpPr/>
          <p:nvPr/>
        </p:nvSpPr>
        <p:spPr>
          <a:xfrm>
            <a:off x="777240" y="249631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What if the prediction is wrong?</a:t>
            </a:r>
            <a:endParaRPr lang="en-US" sz="1200" dirty="0"/>
          </a:p>
        </p:txBody>
      </p:sp>
      <p:sp>
        <p:nvSpPr>
          <p:cNvPr id="15" name="Text 13"/>
          <p:cNvSpPr/>
          <p:nvPr/>
        </p:nvSpPr>
        <p:spPr>
          <a:xfrm>
            <a:off x="5859475" y="249631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6191402" y="249631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Every decision passes through the Digital Twin sandbox before touching production.</a:t>
            </a:r>
            <a:endParaRPr lang="en-US" sz="1100" dirty="0"/>
          </a:p>
        </p:txBody>
      </p:sp>
      <p:sp>
        <p:nvSpPr>
          <p:cNvPr id="17" name="Shape 15"/>
          <p:cNvSpPr/>
          <p:nvPr/>
        </p:nvSpPr>
        <p:spPr>
          <a:xfrm>
            <a:off x="548640" y="3063240"/>
            <a:ext cx="11064240" cy="548640"/>
          </a:xfrm>
          <a:prstGeom prst="rect">
            <a:avLst/>
          </a:prstGeom>
          <a:solidFill>
            <a:srgbClr val="FFFFFF"/>
          </a:solidFill>
          <a:ln w="9525">
            <a:solidFill>
              <a:srgbClr val="A4ACB5"/>
            </a:solidFill>
            <a:prstDash val="solid"/>
          </a:ln>
        </p:spPr>
      </p:sp>
      <p:sp>
        <p:nvSpPr>
          <p:cNvPr id="18" name="Shape 16"/>
          <p:cNvSpPr/>
          <p:nvPr/>
        </p:nvSpPr>
        <p:spPr>
          <a:xfrm>
            <a:off x="548640" y="3063240"/>
            <a:ext cx="73152" cy="548640"/>
          </a:xfrm>
          <a:prstGeom prst="rect">
            <a:avLst/>
          </a:prstGeom>
          <a:solidFill>
            <a:srgbClr val="36454F"/>
          </a:solidFill>
          <a:ln w="12700">
            <a:solidFill>
              <a:srgbClr val="36454F"/>
            </a:solidFill>
            <a:prstDash val="solid"/>
          </a:ln>
        </p:spPr>
      </p:sp>
      <p:sp>
        <p:nvSpPr>
          <p:cNvPr id="19" name="Text 17"/>
          <p:cNvSpPr/>
          <p:nvPr/>
        </p:nvSpPr>
        <p:spPr>
          <a:xfrm>
            <a:off x="777240" y="313639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How do we avoid vendor lock-in?</a:t>
            </a:r>
            <a:endParaRPr lang="en-US" sz="1200" dirty="0"/>
          </a:p>
        </p:txBody>
      </p:sp>
      <p:sp>
        <p:nvSpPr>
          <p:cNvPr id="20" name="Text 18"/>
          <p:cNvSpPr/>
          <p:nvPr/>
        </p:nvSpPr>
        <p:spPr>
          <a:xfrm>
            <a:off x="5859475" y="313639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6191402" y="313639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Talk to SDN controllers (ODL/ONOS) via northbound REST — swap freely.</a:t>
            </a:r>
            <a:endParaRPr lang="en-US" sz="1100" dirty="0"/>
          </a:p>
        </p:txBody>
      </p:sp>
      <p:sp>
        <p:nvSpPr>
          <p:cNvPr id="22" name="Shape 20"/>
          <p:cNvSpPr/>
          <p:nvPr/>
        </p:nvSpPr>
        <p:spPr>
          <a:xfrm>
            <a:off x="548640" y="3703320"/>
            <a:ext cx="11064240" cy="548640"/>
          </a:xfrm>
          <a:prstGeom prst="rect">
            <a:avLst/>
          </a:prstGeom>
          <a:solidFill>
            <a:srgbClr val="FFFFFF"/>
          </a:solidFill>
          <a:ln w="9525">
            <a:solidFill>
              <a:srgbClr val="A4ACB5"/>
            </a:solidFill>
            <a:prstDash val="solid"/>
          </a:ln>
        </p:spPr>
      </p:sp>
      <p:sp>
        <p:nvSpPr>
          <p:cNvPr id="23" name="Shape 21"/>
          <p:cNvSpPr/>
          <p:nvPr/>
        </p:nvSpPr>
        <p:spPr>
          <a:xfrm>
            <a:off x="548640" y="3703320"/>
            <a:ext cx="73152" cy="548640"/>
          </a:xfrm>
          <a:prstGeom prst="rect">
            <a:avLst/>
          </a:prstGeom>
          <a:solidFill>
            <a:srgbClr val="36454F"/>
          </a:solidFill>
          <a:ln w="12700">
            <a:solidFill>
              <a:srgbClr val="36454F"/>
            </a:solidFill>
            <a:prstDash val="solid"/>
          </a:ln>
        </p:spPr>
      </p:sp>
      <p:sp>
        <p:nvSpPr>
          <p:cNvPr id="24" name="Text 22"/>
          <p:cNvSpPr/>
          <p:nvPr/>
        </p:nvSpPr>
        <p:spPr>
          <a:xfrm>
            <a:off x="777240" y="377647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How do we handle 100+ sites without slowdown?</a:t>
            </a:r>
            <a:endParaRPr lang="en-US" sz="1200" dirty="0"/>
          </a:p>
        </p:txBody>
      </p:sp>
      <p:sp>
        <p:nvSpPr>
          <p:cNvPr id="25" name="Text 23"/>
          <p:cNvSpPr/>
          <p:nvPr/>
        </p:nvSpPr>
        <p:spPr>
          <a:xfrm>
            <a:off x="5859475" y="377647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6191402" y="377647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Async FastAPI + Redis pub/sub + TimescaleDB hypertables.</a:t>
            </a:r>
            <a:endParaRPr lang="en-US" sz="1100" dirty="0"/>
          </a:p>
        </p:txBody>
      </p:sp>
      <p:sp>
        <p:nvSpPr>
          <p:cNvPr id="27" name="Shape 25"/>
          <p:cNvSpPr/>
          <p:nvPr/>
        </p:nvSpPr>
        <p:spPr>
          <a:xfrm>
            <a:off x="548640" y="4343400"/>
            <a:ext cx="11064240" cy="548640"/>
          </a:xfrm>
          <a:prstGeom prst="rect">
            <a:avLst/>
          </a:prstGeom>
          <a:solidFill>
            <a:srgbClr val="FFFFFF"/>
          </a:solidFill>
          <a:ln w="9525">
            <a:solidFill>
              <a:srgbClr val="A4ACB5"/>
            </a:solidFill>
            <a:prstDash val="solid"/>
          </a:ln>
        </p:spPr>
      </p:sp>
      <p:sp>
        <p:nvSpPr>
          <p:cNvPr id="28" name="Shape 26"/>
          <p:cNvSpPr/>
          <p:nvPr/>
        </p:nvSpPr>
        <p:spPr>
          <a:xfrm>
            <a:off x="548640" y="4343400"/>
            <a:ext cx="73152" cy="548640"/>
          </a:xfrm>
          <a:prstGeom prst="rect">
            <a:avLst/>
          </a:prstGeom>
          <a:solidFill>
            <a:srgbClr val="36454F"/>
          </a:solidFill>
          <a:ln w="12700">
            <a:solidFill>
              <a:srgbClr val="36454F"/>
            </a:solidFill>
            <a:prstDash val="solid"/>
          </a:ln>
        </p:spPr>
      </p:sp>
      <p:sp>
        <p:nvSpPr>
          <p:cNvPr id="29" name="Text 27"/>
          <p:cNvSpPr/>
          <p:nvPr/>
        </p:nvSpPr>
        <p:spPr>
          <a:xfrm>
            <a:off x="777240" y="441655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How can non-technical staff manage the platform?</a:t>
            </a:r>
            <a:endParaRPr lang="en-US" sz="1200" dirty="0"/>
          </a:p>
        </p:txBody>
      </p:sp>
      <p:sp>
        <p:nvSpPr>
          <p:cNvPr id="30" name="Text 28"/>
          <p:cNvSpPr/>
          <p:nvPr/>
        </p:nvSpPr>
        <p:spPr>
          <a:xfrm>
            <a:off x="5859475" y="441655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6191402" y="441655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Intent-Based Networking — plain English, no CLI, local NLP.</a:t>
            </a:r>
            <a:endParaRPr lang="en-US" sz="1100" dirty="0"/>
          </a:p>
        </p:txBody>
      </p:sp>
      <p:sp>
        <p:nvSpPr>
          <p:cNvPr id="32" name="Shape 30"/>
          <p:cNvSpPr/>
          <p:nvPr/>
        </p:nvSpPr>
        <p:spPr>
          <a:xfrm>
            <a:off x="548640" y="4983480"/>
            <a:ext cx="11064240" cy="548640"/>
          </a:xfrm>
          <a:prstGeom prst="rect">
            <a:avLst/>
          </a:prstGeom>
          <a:solidFill>
            <a:srgbClr val="FFFFFF"/>
          </a:solidFill>
          <a:ln w="9525">
            <a:solidFill>
              <a:srgbClr val="A4ACB5"/>
            </a:solidFill>
            <a:prstDash val="solid"/>
          </a:ln>
        </p:spPr>
      </p:sp>
      <p:sp>
        <p:nvSpPr>
          <p:cNvPr id="33" name="Shape 31"/>
          <p:cNvSpPr/>
          <p:nvPr/>
        </p:nvSpPr>
        <p:spPr>
          <a:xfrm>
            <a:off x="548640" y="4983480"/>
            <a:ext cx="73152" cy="548640"/>
          </a:xfrm>
          <a:prstGeom prst="rect">
            <a:avLst/>
          </a:prstGeom>
          <a:solidFill>
            <a:srgbClr val="36454F"/>
          </a:solidFill>
          <a:ln w="12700">
            <a:solidFill>
              <a:srgbClr val="36454F"/>
            </a:solidFill>
            <a:prstDash val="solid"/>
          </a:ln>
        </p:spPr>
      </p:sp>
      <p:sp>
        <p:nvSpPr>
          <p:cNvPr id="34" name="Text 32"/>
          <p:cNvSpPr/>
          <p:nvPr/>
        </p:nvSpPr>
        <p:spPr>
          <a:xfrm>
            <a:off x="777240" y="505663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How do we prove compliance to auditors?</a:t>
            </a:r>
            <a:endParaRPr lang="en-US" sz="1200" dirty="0"/>
          </a:p>
        </p:txBody>
      </p:sp>
      <p:sp>
        <p:nvSpPr>
          <p:cNvPr id="35" name="Text 33"/>
          <p:cNvSpPr/>
          <p:nvPr/>
        </p:nvSpPr>
        <p:spPr>
          <a:xfrm>
            <a:off x="5859475" y="505663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36" name="Text 34"/>
          <p:cNvSpPr/>
          <p:nvPr/>
        </p:nvSpPr>
        <p:spPr>
          <a:xfrm>
            <a:off x="6191402" y="505663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SHA-256 tamper-evident audit log, TLS 1.3, AES-256, RBAC.</a:t>
            </a:r>
            <a:endParaRPr lang="en-US" sz="1100" dirty="0"/>
          </a:p>
        </p:txBody>
      </p:sp>
      <p:sp>
        <p:nvSpPr>
          <p:cNvPr id="37" name="Shape 35"/>
          <p:cNvSpPr/>
          <p:nvPr/>
        </p:nvSpPr>
        <p:spPr>
          <a:xfrm>
            <a:off x="548640" y="5623560"/>
            <a:ext cx="11064240" cy="548640"/>
          </a:xfrm>
          <a:prstGeom prst="rect">
            <a:avLst/>
          </a:prstGeom>
          <a:solidFill>
            <a:srgbClr val="FFFFFF"/>
          </a:solidFill>
          <a:ln w="9525">
            <a:solidFill>
              <a:srgbClr val="A4ACB5"/>
            </a:solidFill>
            <a:prstDash val="solid"/>
          </a:ln>
        </p:spPr>
      </p:sp>
      <p:sp>
        <p:nvSpPr>
          <p:cNvPr id="38" name="Shape 36"/>
          <p:cNvSpPr/>
          <p:nvPr/>
        </p:nvSpPr>
        <p:spPr>
          <a:xfrm>
            <a:off x="548640" y="5623560"/>
            <a:ext cx="73152" cy="548640"/>
          </a:xfrm>
          <a:prstGeom prst="rect">
            <a:avLst/>
          </a:prstGeom>
          <a:solidFill>
            <a:srgbClr val="36454F"/>
          </a:solidFill>
          <a:ln w="12700">
            <a:solidFill>
              <a:srgbClr val="36454F"/>
            </a:solidFill>
            <a:prstDash val="solid"/>
          </a:ln>
        </p:spPr>
      </p:sp>
      <p:sp>
        <p:nvSpPr>
          <p:cNvPr id="39" name="Text 37"/>
          <p:cNvSpPr/>
          <p:nvPr/>
        </p:nvSpPr>
        <p:spPr>
          <a:xfrm>
            <a:off x="777240" y="5696712"/>
            <a:ext cx="4978908" cy="411480"/>
          </a:xfrm>
          <a:prstGeom prst="rect">
            <a:avLst/>
          </a:prstGeom>
          <a:noFill/>
          <a:ln/>
        </p:spPr>
        <p:txBody>
          <a:bodyPr wrap="square" lIns="0" tIns="0" rIns="0" bIns="0" rtlCol="0" anchor="ctr"/>
          <a:lstStyle/>
          <a:p>
            <a:pPr marL="0" indent="0">
              <a:buNone/>
            </a:pPr>
            <a:r>
              <a:rPr lang="en-US" sz="1200" b="1" dirty="0">
                <a:solidFill>
                  <a:srgbClr val="36454F"/>
                </a:solidFill>
                <a:latin typeface="Calibri" pitchFamily="34" charset="0"/>
                <a:ea typeface="Calibri" pitchFamily="34" charset="-122"/>
                <a:cs typeface="Calibri" pitchFamily="34" charset="-120"/>
              </a:rPr>
              <a:t>Windows + Mininet? (Mininet doesn't run on Windows.)</a:t>
            </a:r>
            <a:endParaRPr lang="en-US" sz="1200" dirty="0"/>
          </a:p>
        </p:txBody>
      </p:sp>
      <p:sp>
        <p:nvSpPr>
          <p:cNvPr id="40" name="Text 38"/>
          <p:cNvSpPr/>
          <p:nvPr/>
        </p:nvSpPr>
        <p:spPr>
          <a:xfrm>
            <a:off x="5859475" y="5696712"/>
            <a:ext cx="274320" cy="411480"/>
          </a:xfrm>
          <a:prstGeom prst="rect">
            <a:avLst/>
          </a:prstGeom>
          <a:noFill/>
          <a:ln/>
        </p:spPr>
        <p:txBody>
          <a:bodyPr wrap="square" lIns="0" tIns="0" rIns="0" bIns="0" rtlCol="0" anchor="ctr"/>
          <a:lstStyle/>
          <a:p>
            <a:pPr marL="0" indent="0" algn="ctr">
              <a:buNone/>
            </a:pPr>
            <a:r>
              <a:rPr lang="en-US" sz="1600" dirty="0">
                <a:solidFill>
                  <a:srgbClr val="708090"/>
                </a:solidFill>
                <a:latin typeface="Calibri" pitchFamily="34" charset="0"/>
                <a:ea typeface="Calibri" pitchFamily="34" charset="-122"/>
                <a:cs typeface="Calibri" pitchFamily="34" charset="-120"/>
              </a:rPr>
              <a:t>→</a:t>
            </a:r>
            <a:endParaRPr lang="en-US" sz="1600" dirty="0"/>
          </a:p>
        </p:txBody>
      </p:sp>
      <p:sp>
        <p:nvSpPr>
          <p:cNvPr id="41" name="Text 39"/>
          <p:cNvSpPr/>
          <p:nvPr/>
        </p:nvSpPr>
        <p:spPr>
          <a:xfrm>
            <a:off x="6191402" y="5696712"/>
            <a:ext cx="5200193" cy="4114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Invoke Mininet through WSL2: subprocess.run(["wsl", ...]).</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FUTURE WORK</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Roadmap — what comes next</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23 / 25</a:t>
            </a:r>
            <a:endParaRPr lang="en-US" sz="900" dirty="0"/>
          </a:p>
        </p:txBody>
      </p:sp>
      <p:sp>
        <p:nvSpPr>
          <p:cNvPr id="7" name="Shape 5"/>
          <p:cNvSpPr/>
          <p:nvPr/>
        </p:nvSpPr>
        <p:spPr>
          <a:xfrm>
            <a:off x="548640" y="1828800"/>
            <a:ext cx="3657600" cy="12801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8" name="Text 6"/>
          <p:cNvSpPr/>
          <p:nvPr/>
        </p:nvSpPr>
        <p:spPr>
          <a:xfrm>
            <a:off x="3566160" y="1965960"/>
            <a:ext cx="502920" cy="320040"/>
          </a:xfrm>
          <a:prstGeom prst="rect">
            <a:avLst/>
          </a:prstGeom>
          <a:noFill/>
          <a:ln/>
        </p:spPr>
        <p:txBody>
          <a:bodyPr wrap="square" lIns="0" tIns="0" rIns="0" bIns="0" rtlCol="0" anchor="ctr"/>
          <a:lstStyle/>
          <a:p>
            <a:pPr marL="0" indent="0" algn="r">
              <a:buNone/>
            </a:pPr>
            <a:r>
              <a:rPr lang="en-US" sz="1400" b="1" dirty="0">
                <a:solidFill>
                  <a:srgbClr val="A4ACB5"/>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777240" y="2011680"/>
            <a:ext cx="2743200" cy="41148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Federated LSTM training</a:t>
            </a:r>
            <a:endParaRPr lang="en-US" sz="1400" dirty="0"/>
          </a:p>
        </p:txBody>
      </p:sp>
      <p:sp>
        <p:nvSpPr>
          <p:cNvPr id="10" name="Text 8"/>
          <p:cNvSpPr/>
          <p:nvPr/>
        </p:nvSpPr>
        <p:spPr>
          <a:xfrm>
            <a:off x="777240" y="2423160"/>
            <a:ext cx="3291840" cy="6400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Models learn across customer networks without sharing raw telemetry.</a:t>
            </a:r>
            <a:endParaRPr lang="en-US" sz="1100" dirty="0"/>
          </a:p>
        </p:txBody>
      </p:sp>
      <p:sp>
        <p:nvSpPr>
          <p:cNvPr id="11" name="Shape 9"/>
          <p:cNvSpPr/>
          <p:nvPr/>
        </p:nvSpPr>
        <p:spPr>
          <a:xfrm>
            <a:off x="4343400" y="1828800"/>
            <a:ext cx="3657600" cy="12801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2" name="Text 10"/>
          <p:cNvSpPr/>
          <p:nvPr/>
        </p:nvSpPr>
        <p:spPr>
          <a:xfrm>
            <a:off x="7360920" y="1965960"/>
            <a:ext cx="502920" cy="320040"/>
          </a:xfrm>
          <a:prstGeom prst="rect">
            <a:avLst/>
          </a:prstGeom>
          <a:noFill/>
          <a:ln/>
        </p:spPr>
        <p:txBody>
          <a:bodyPr wrap="square" lIns="0" tIns="0" rIns="0" bIns="0" rtlCol="0" anchor="ctr"/>
          <a:lstStyle/>
          <a:p>
            <a:pPr marL="0" indent="0" algn="r">
              <a:buNone/>
            </a:pPr>
            <a:r>
              <a:rPr lang="en-US" sz="1400" b="1" dirty="0">
                <a:solidFill>
                  <a:srgbClr val="A4ACB5"/>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4572000" y="2011680"/>
            <a:ext cx="2743200" cy="41148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5G network slicing</a:t>
            </a:r>
            <a:endParaRPr lang="en-US" sz="1400" dirty="0"/>
          </a:p>
        </p:txBody>
      </p:sp>
      <p:sp>
        <p:nvSpPr>
          <p:cNvPr id="14" name="Text 12"/>
          <p:cNvSpPr/>
          <p:nvPr/>
        </p:nvSpPr>
        <p:spPr>
          <a:xfrm>
            <a:off x="4572000" y="2423160"/>
            <a:ext cx="3291840" cy="6400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Per-slice health scoring for dedicated industrial and enterprise slices.</a:t>
            </a:r>
            <a:endParaRPr lang="en-US" sz="1100" dirty="0"/>
          </a:p>
        </p:txBody>
      </p:sp>
      <p:sp>
        <p:nvSpPr>
          <p:cNvPr id="15" name="Shape 13"/>
          <p:cNvSpPr/>
          <p:nvPr/>
        </p:nvSpPr>
        <p:spPr>
          <a:xfrm>
            <a:off x="8138160" y="1828800"/>
            <a:ext cx="3657600" cy="12801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16" name="Text 14"/>
          <p:cNvSpPr/>
          <p:nvPr/>
        </p:nvSpPr>
        <p:spPr>
          <a:xfrm>
            <a:off x="11155680" y="1965960"/>
            <a:ext cx="502920" cy="320040"/>
          </a:xfrm>
          <a:prstGeom prst="rect">
            <a:avLst/>
          </a:prstGeom>
          <a:noFill/>
          <a:ln/>
        </p:spPr>
        <p:txBody>
          <a:bodyPr wrap="square" lIns="0" tIns="0" rIns="0" bIns="0" rtlCol="0" anchor="ctr"/>
          <a:lstStyle/>
          <a:p>
            <a:pPr marL="0" indent="0" algn="r">
              <a:buNone/>
            </a:pPr>
            <a:r>
              <a:rPr lang="en-US" sz="1400" b="1" dirty="0">
                <a:solidFill>
                  <a:srgbClr val="A4ACB5"/>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8366760" y="2011680"/>
            <a:ext cx="2743200" cy="41148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RL-based steering policy</a:t>
            </a:r>
            <a:endParaRPr lang="en-US" sz="1400" dirty="0"/>
          </a:p>
        </p:txBody>
      </p:sp>
      <p:sp>
        <p:nvSpPr>
          <p:cNvPr id="18" name="Text 16"/>
          <p:cNvSpPr/>
          <p:nvPr/>
        </p:nvSpPr>
        <p:spPr>
          <a:xfrm>
            <a:off x="8366760" y="2423160"/>
            <a:ext cx="3291840" cy="6400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Replace static thresholds with a reinforcement-learning policy that improves over time.</a:t>
            </a:r>
            <a:endParaRPr lang="en-US" sz="1100" dirty="0"/>
          </a:p>
        </p:txBody>
      </p:sp>
      <p:sp>
        <p:nvSpPr>
          <p:cNvPr id="19" name="Shape 17"/>
          <p:cNvSpPr/>
          <p:nvPr/>
        </p:nvSpPr>
        <p:spPr>
          <a:xfrm>
            <a:off x="548640" y="3246120"/>
            <a:ext cx="3657600" cy="12801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0" name="Text 18"/>
          <p:cNvSpPr/>
          <p:nvPr/>
        </p:nvSpPr>
        <p:spPr>
          <a:xfrm>
            <a:off x="3566160" y="3383280"/>
            <a:ext cx="502920" cy="320040"/>
          </a:xfrm>
          <a:prstGeom prst="rect">
            <a:avLst/>
          </a:prstGeom>
          <a:noFill/>
          <a:ln/>
        </p:spPr>
        <p:txBody>
          <a:bodyPr wrap="square" lIns="0" tIns="0" rIns="0" bIns="0" rtlCol="0" anchor="ctr"/>
          <a:lstStyle/>
          <a:p>
            <a:pPr marL="0" indent="0" algn="r">
              <a:buNone/>
            </a:pPr>
            <a:r>
              <a:rPr lang="en-US" sz="1400" b="1" dirty="0">
                <a:solidFill>
                  <a:srgbClr val="A4ACB5"/>
                </a:solidFill>
                <a:latin typeface="Calibri" pitchFamily="34" charset="0"/>
                <a:ea typeface="Calibri" pitchFamily="34" charset="-122"/>
                <a:cs typeface="Calibri" pitchFamily="34" charset="-120"/>
              </a:rPr>
              <a:t>04</a:t>
            </a:r>
            <a:endParaRPr lang="en-US" sz="1400" dirty="0"/>
          </a:p>
        </p:txBody>
      </p:sp>
      <p:sp>
        <p:nvSpPr>
          <p:cNvPr id="21" name="Text 19"/>
          <p:cNvSpPr/>
          <p:nvPr/>
        </p:nvSpPr>
        <p:spPr>
          <a:xfrm>
            <a:off x="777240" y="3429000"/>
            <a:ext cx="2743200" cy="41148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ServiceNow + PagerDuty</a:t>
            </a:r>
            <a:endParaRPr lang="en-US" sz="1400" dirty="0"/>
          </a:p>
        </p:txBody>
      </p:sp>
      <p:sp>
        <p:nvSpPr>
          <p:cNvPr id="22" name="Text 20"/>
          <p:cNvSpPr/>
          <p:nvPr/>
        </p:nvSpPr>
        <p:spPr>
          <a:xfrm>
            <a:off x="777240" y="3840480"/>
            <a:ext cx="3291840" cy="6400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Auto-create tickets and route incidents from PathWise alerts.</a:t>
            </a:r>
            <a:endParaRPr lang="en-US" sz="1100" dirty="0"/>
          </a:p>
        </p:txBody>
      </p:sp>
      <p:sp>
        <p:nvSpPr>
          <p:cNvPr id="23" name="Shape 21"/>
          <p:cNvSpPr/>
          <p:nvPr/>
        </p:nvSpPr>
        <p:spPr>
          <a:xfrm>
            <a:off x="4343400" y="3246120"/>
            <a:ext cx="3657600" cy="12801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4" name="Text 22"/>
          <p:cNvSpPr/>
          <p:nvPr/>
        </p:nvSpPr>
        <p:spPr>
          <a:xfrm>
            <a:off x="7360920" y="3383280"/>
            <a:ext cx="502920" cy="320040"/>
          </a:xfrm>
          <a:prstGeom prst="rect">
            <a:avLst/>
          </a:prstGeom>
          <a:noFill/>
          <a:ln/>
        </p:spPr>
        <p:txBody>
          <a:bodyPr wrap="square" lIns="0" tIns="0" rIns="0" bIns="0" rtlCol="0" anchor="ctr"/>
          <a:lstStyle/>
          <a:p>
            <a:pPr marL="0" indent="0" algn="r">
              <a:buNone/>
            </a:pPr>
            <a:r>
              <a:rPr lang="en-US" sz="1400" b="1" dirty="0">
                <a:solidFill>
                  <a:srgbClr val="A4ACB5"/>
                </a:solidFill>
                <a:latin typeface="Calibri" pitchFamily="34" charset="0"/>
                <a:ea typeface="Calibri" pitchFamily="34" charset="-122"/>
                <a:cs typeface="Calibri" pitchFamily="34" charset="-120"/>
              </a:rPr>
              <a:t>05</a:t>
            </a:r>
            <a:endParaRPr lang="en-US" sz="1400" dirty="0"/>
          </a:p>
        </p:txBody>
      </p:sp>
      <p:sp>
        <p:nvSpPr>
          <p:cNvPr id="25" name="Text 23"/>
          <p:cNvSpPr/>
          <p:nvPr/>
        </p:nvSpPr>
        <p:spPr>
          <a:xfrm>
            <a:off x="4572000" y="3429000"/>
            <a:ext cx="2743200" cy="41148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Kubernetes operator</a:t>
            </a:r>
            <a:endParaRPr lang="en-US" sz="1400" dirty="0"/>
          </a:p>
        </p:txBody>
      </p:sp>
      <p:sp>
        <p:nvSpPr>
          <p:cNvPr id="26" name="Text 24"/>
          <p:cNvSpPr/>
          <p:nvPr/>
        </p:nvSpPr>
        <p:spPr>
          <a:xfrm>
            <a:off x="4572000" y="3840480"/>
            <a:ext cx="3291840" cy="6400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Native K8s deployment for customers already running cloud-native stacks.</a:t>
            </a:r>
            <a:endParaRPr lang="en-US" sz="1100" dirty="0"/>
          </a:p>
        </p:txBody>
      </p:sp>
      <p:sp>
        <p:nvSpPr>
          <p:cNvPr id="27" name="Shape 25"/>
          <p:cNvSpPr/>
          <p:nvPr/>
        </p:nvSpPr>
        <p:spPr>
          <a:xfrm>
            <a:off x="8138160" y="3246120"/>
            <a:ext cx="3657600" cy="1280160"/>
          </a:xfrm>
          <a:prstGeom prst="rect">
            <a:avLst/>
          </a:prstGeom>
          <a:solidFill>
            <a:srgbClr val="FFFFFF"/>
          </a:solidFill>
          <a:ln w="9525">
            <a:solidFill>
              <a:srgbClr val="A4ACB5"/>
            </a:solidFill>
            <a:prstDash val="solid"/>
          </a:ln>
          <a:effectLst>
            <a:outerShdw blurRad="101600" dist="25400" dir="5400000" algn="bl" rotWithShape="0">
              <a:srgbClr val="000000">
                <a:alpha val="8000"/>
              </a:srgbClr>
            </a:outerShdw>
          </a:effectLst>
        </p:spPr>
      </p:sp>
      <p:sp>
        <p:nvSpPr>
          <p:cNvPr id="28" name="Text 26"/>
          <p:cNvSpPr/>
          <p:nvPr/>
        </p:nvSpPr>
        <p:spPr>
          <a:xfrm>
            <a:off x="11155680" y="3383280"/>
            <a:ext cx="502920" cy="320040"/>
          </a:xfrm>
          <a:prstGeom prst="rect">
            <a:avLst/>
          </a:prstGeom>
          <a:noFill/>
          <a:ln/>
        </p:spPr>
        <p:txBody>
          <a:bodyPr wrap="square" lIns="0" tIns="0" rIns="0" bIns="0" rtlCol="0" anchor="ctr"/>
          <a:lstStyle/>
          <a:p>
            <a:pPr marL="0" indent="0" algn="r">
              <a:buNone/>
            </a:pPr>
            <a:r>
              <a:rPr lang="en-US" sz="1400" b="1" dirty="0">
                <a:solidFill>
                  <a:srgbClr val="A4ACB5"/>
                </a:solidFill>
                <a:latin typeface="Calibri" pitchFamily="34" charset="0"/>
                <a:ea typeface="Calibri" pitchFamily="34" charset="-122"/>
                <a:cs typeface="Calibri" pitchFamily="34" charset="-120"/>
              </a:rPr>
              <a:t>06</a:t>
            </a:r>
            <a:endParaRPr lang="en-US" sz="1400" dirty="0"/>
          </a:p>
        </p:txBody>
      </p:sp>
      <p:sp>
        <p:nvSpPr>
          <p:cNvPr id="29" name="Text 27"/>
          <p:cNvSpPr/>
          <p:nvPr/>
        </p:nvSpPr>
        <p:spPr>
          <a:xfrm>
            <a:off x="8366760" y="3429000"/>
            <a:ext cx="2743200" cy="41148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Edge deployment (ARM)</a:t>
            </a:r>
            <a:endParaRPr lang="en-US" sz="1400" dirty="0"/>
          </a:p>
        </p:txBody>
      </p:sp>
      <p:sp>
        <p:nvSpPr>
          <p:cNvPr id="30" name="Text 28"/>
          <p:cNvSpPr/>
          <p:nvPr/>
        </p:nvSpPr>
        <p:spPr>
          <a:xfrm>
            <a:off x="8366760" y="3840480"/>
            <a:ext cx="3291840" cy="640080"/>
          </a:xfrm>
          <a:prstGeom prst="rect">
            <a:avLst/>
          </a:prstGeom>
          <a:noFill/>
          <a:ln/>
        </p:spPr>
        <p:txBody>
          <a:bodyPr wrap="square" lIns="0" tIns="0" rIns="0" bIns="0" rtlCol="0" anchor="ctr"/>
          <a:lstStyle/>
          <a:p>
            <a:pPr marL="0" indent="0">
              <a:buNone/>
            </a:pPr>
            <a:r>
              <a:rPr lang="en-US" sz="1100" dirty="0">
                <a:solidFill>
                  <a:srgbClr val="1A1E22"/>
                </a:solidFill>
                <a:latin typeface="Calibri" pitchFamily="34" charset="0"/>
                <a:ea typeface="Calibri" pitchFamily="34" charset="-122"/>
                <a:cs typeface="Calibri" pitchFamily="34" charset="-120"/>
              </a:rPr>
              <a:t>Run PathWise on a Raspberry Pi at a branch site or industrial gateway.</a:t>
            </a:r>
            <a:endParaRPr lang="en-US" sz="1100" dirty="0"/>
          </a:p>
        </p:txBody>
      </p:sp>
      <p:sp>
        <p:nvSpPr>
          <p:cNvPr id="31" name="Shape 29"/>
          <p:cNvSpPr/>
          <p:nvPr/>
        </p:nvSpPr>
        <p:spPr>
          <a:xfrm>
            <a:off x="548640" y="4937760"/>
            <a:ext cx="11064240" cy="1371600"/>
          </a:xfrm>
          <a:prstGeom prst="rect">
            <a:avLst/>
          </a:prstGeom>
          <a:solidFill>
            <a:srgbClr val="F1F2F4"/>
          </a:solidFill>
          <a:ln w="12700">
            <a:solidFill>
              <a:srgbClr val="A4ACB5"/>
            </a:solidFill>
            <a:prstDash val="solid"/>
          </a:ln>
        </p:spPr>
      </p:sp>
      <p:sp>
        <p:nvSpPr>
          <p:cNvPr id="32" name="Shape 30"/>
          <p:cNvSpPr/>
          <p:nvPr/>
        </p:nvSpPr>
        <p:spPr>
          <a:xfrm>
            <a:off x="548640" y="4937760"/>
            <a:ext cx="109728" cy="1371600"/>
          </a:xfrm>
          <a:prstGeom prst="rect">
            <a:avLst/>
          </a:prstGeom>
          <a:solidFill>
            <a:srgbClr val="36454F"/>
          </a:solidFill>
          <a:ln w="12700">
            <a:solidFill>
              <a:srgbClr val="36454F"/>
            </a:solidFill>
            <a:prstDash val="solid"/>
          </a:ln>
        </p:spPr>
      </p:sp>
      <p:sp>
        <p:nvSpPr>
          <p:cNvPr id="33" name="Text 31"/>
          <p:cNvSpPr/>
          <p:nvPr/>
        </p:nvSpPr>
        <p:spPr>
          <a:xfrm>
            <a:off x="822960" y="5029200"/>
            <a:ext cx="5486400" cy="36576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Where we are today</a:t>
            </a:r>
            <a:endParaRPr lang="en-US" sz="1300" dirty="0"/>
          </a:p>
        </p:txBody>
      </p:sp>
      <p:sp>
        <p:nvSpPr>
          <p:cNvPr id="34" name="Text 32"/>
          <p:cNvSpPr/>
          <p:nvPr/>
        </p:nvSpPr>
        <p:spPr>
          <a:xfrm>
            <a:off x="822960" y="5349240"/>
            <a:ext cx="10789920" cy="914400"/>
          </a:xfrm>
          <a:prstGeom prst="rect">
            <a:avLst/>
          </a:prstGeom>
          <a:noFill/>
          <a:ln/>
        </p:spPr>
        <p:txBody>
          <a:bodyPr wrap="square" lIns="0" tIns="0" rIns="0" bIns="0" rtlCol="0" anchor="ctr"/>
          <a:lstStyle/>
          <a:p>
            <a:pPr marL="0" indent="0">
              <a:spcAft>
                <a:spcPts val="300"/>
              </a:spcAft>
              <a:buNone/>
            </a:pPr>
            <a:r>
              <a:rPr lang="en-US" sz="1100" b="1" dirty="0">
                <a:solidFill>
                  <a:srgbClr val="6B737A"/>
                </a:solidFill>
                <a:latin typeface="Calibri" pitchFamily="34" charset="0"/>
                <a:ea typeface="Calibri" pitchFamily="34" charset="-122"/>
                <a:cs typeface="Calibri" pitchFamily="34" charset="-120"/>
              </a:rPr>
              <a:t>Delivered: </a:t>
            </a:r>
            <a:r>
              <a:rPr lang="en-US" sz="1100" dirty="0">
                <a:solidFill>
                  <a:srgbClr val="1A1E22"/>
                </a:solidFill>
                <a:latin typeface="Calibri" pitchFamily="34" charset="0"/>
                <a:ea typeface="Calibri" pitchFamily="34" charset="-122"/>
                <a:cs typeface="Calibri" pitchFamily="34" charset="-120"/>
              </a:rPr>
              <a:t>PVD v1.2 · Project Plan · SRS v1.0 · SDD · STD</a:t>
            </a:r>
            <a:endParaRPr lang="en-US" sz="1100" dirty="0"/>
          </a:p>
          <a:p>
            <a:pPr marL="0" indent="0">
              <a:spcAft>
                <a:spcPts val="300"/>
              </a:spcAft>
              <a:buNone/>
            </a:pPr>
            <a:r>
              <a:rPr lang="en-US" sz="1100" b="1" dirty="0">
                <a:solidFill>
                  <a:srgbClr val="6B737A"/>
                </a:solidFill>
                <a:latin typeface="Calibri" pitchFamily="34" charset="0"/>
                <a:ea typeface="Calibri" pitchFamily="34" charset="-122"/>
                <a:cs typeface="Calibri" pitchFamily="34" charset="-120"/>
              </a:rPr>
              <a:t>Implemented: </a:t>
            </a:r>
            <a:r>
              <a:rPr lang="en-US" sz="1100" dirty="0">
                <a:solidFill>
                  <a:srgbClr val="1A1E22"/>
                </a:solidFill>
                <a:latin typeface="Calibri" pitchFamily="34" charset="0"/>
                <a:ea typeface="Calibri" pitchFamily="34" charset="-122"/>
                <a:cs typeface="Calibri" pitchFamily="34" charset="-120"/>
              </a:rPr>
              <a:t>All 5 core components + backend API + dashboard</a:t>
            </a:r>
            <a:endParaRPr lang="en-US" sz="1100" dirty="0"/>
          </a:p>
          <a:p>
            <a:pPr marL="0" indent="0">
              <a:spcAft>
                <a:spcPts val="300"/>
              </a:spcAft>
              <a:buNone/>
            </a:pPr>
            <a:r>
              <a:rPr lang="en-US" sz="1100" b="1" dirty="0">
                <a:solidFill>
                  <a:srgbClr val="6B737A"/>
                </a:solidFill>
                <a:latin typeface="Calibri" pitchFamily="34" charset="0"/>
                <a:ea typeface="Calibri" pitchFamily="34" charset="-122"/>
                <a:cs typeface="Calibri" pitchFamily="34" charset="-120"/>
              </a:rPr>
              <a:t>In progress: </a:t>
            </a:r>
            <a:r>
              <a:rPr lang="en-US" sz="1100" b="1" dirty="0">
                <a:solidFill>
                  <a:srgbClr val="36454F"/>
                </a:solidFill>
                <a:latin typeface="Calibri" pitchFamily="34" charset="0"/>
                <a:ea typeface="Calibri" pitchFamily="34" charset="-122"/>
                <a:cs typeface="Calibri" pitchFamily="34" charset="-120"/>
              </a:rPr>
              <a:t>Final integration + demo polishing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36454F"/>
          </a:solidFill>
          <a:ln w="12700">
            <a:solidFill>
              <a:srgbClr val="36454F"/>
            </a:solidFill>
            <a:prstDash val="solid"/>
          </a:ln>
        </p:spPr>
      </p:sp>
      <p:sp>
        <p:nvSpPr>
          <p:cNvPr id="3" name="Text 1"/>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708090"/>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36454F"/>
                </a:solidFill>
                <a:latin typeface="Calibri" pitchFamily="34" charset="0"/>
                <a:ea typeface="Calibri" pitchFamily="34" charset="-122"/>
                <a:cs typeface="Calibri" pitchFamily="34" charset="-120"/>
              </a:rPr>
              <a:t>Fast facts — the cheat sheet</a:t>
            </a:r>
            <a:endParaRPr lang="en-US" sz="3000" dirty="0"/>
          </a:p>
        </p:txBody>
      </p:sp>
      <p:sp>
        <p:nvSpPr>
          <p:cNvPr id="5" name="Text 3"/>
          <p:cNvSpPr/>
          <p:nvPr/>
        </p:nvSpPr>
        <p:spPr>
          <a:xfrm>
            <a:off x="502920" y="6446520"/>
            <a:ext cx="7315200" cy="274320"/>
          </a:xfrm>
          <a:prstGeom prst="rect">
            <a:avLst/>
          </a:prstGeom>
          <a:noFill/>
          <a:ln/>
        </p:spPr>
        <p:txBody>
          <a:bodyPr wrap="square" lIns="0" tIns="0" rIns="0" bIns="0" rtlCol="0" anchor="ctr"/>
          <a:lstStyle/>
          <a:p>
            <a:pPr marL="0" indent="0">
              <a:buNone/>
            </a:pPr>
            <a:r>
              <a:rPr lang="en-US" sz="900" dirty="0">
                <a:solidFill>
                  <a:srgbClr val="6B737A"/>
                </a:solidFill>
                <a:latin typeface="Calibri" pitchFamily="34" charset="0"/>
                <a:ea typeface="Calibri" pitchFamily="34" charset="-122"/>
                <a:cs typeface="Calibri" pitchFamily="34" charset="-120"/>
              </a:rPr>
              <a:t>PathWise AI  ·  Team Pathfinders  ·  COSC 6370-001</a:t>
            </a:r>
            <a:endParaRPr lang="en-US" sz="900" dirty="0"/>
          </a:p>
        </p:txBody>
      </p:sp>
      <p:sp>
        <p:nvSpPr>
          <p:cNvPr id="6"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6B737A"/>
                </a:solidFill>
                <a:latin typeface="Calibri" pitchFamily="34" charset="0"/>
                <a:ea typeface="Calibri" pitchFamily="34" charset="-122"/>
                <a:cs typeface="Calibri" pitchFamily="34" charset="-120"/>
              </a:rPr>
              <a:t>24 / 25</a:t>
            </a:r>
            <a:endParaRPr lang="en-US" sz="900" dirty="0"/>
          </a:p>
        </p:txBody>
      </p:sp>
      <p:sp>
        <p:nvSpPr>
          <p:cNvPr id="7" name="Shape 5"/>
          <p:cNvSpPr/>
          <p:nvPr/>
        </p:nvSpPr>
        <p:spPr>
          <a:xfrm>
            <a:off x="548640" y="1828800"/>
            <a:ext cx="2697480" cy="1097280"/>
          </a:xfrm>
          <a:prstGeom prst="rect">
            <a:avLst/>
          </a:prstGeom>
          <a:solidFill>
            <a:srgbClr val="36454F"/>
          </a:solidFill>
          <a:ln w="12700">
            <a:solidFill>
              <a:srgbClr val="A4ACB5"/>
            </a:solidFill>
            <a:prstDash val="solid"/>
          </a:ln>
        </p:spPr>
      </p:sp>
      <p:sp>
        <p:nvSpPr>
          <p:cNvPr id="8" name="Text 6"/>
          <p:cNvSpPr/>
          <p:nvPr/>
        </p:nvSpPr>
        <p:spPr>
          <a:xfrm>
            <a:off x="685800" y="1993392"/>
            <a:ext cx="24231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30–60 s</a:t>
            </a:r>
            <a:endParaRPr lang="en-US" sz="2600" dirty="0"/>
          </a:p>
        </p:txBody>
      </p:sp>
      <p:sp>
        <p:nvSpPr>
          <p:cNvPr id="9" name="Text 7"/>
          <p:cNvSpPr/>
          <p:nvPr/>
        </p:nvSpPr>
        <p:spPr>
          <a:xfrm>
            <a:off x="685800" y="2560320"/>
            <a:ext cx="2423160" cy="320040"/>
          </a:xfrm>
          <a:prstGeom prst="rect">
            <a:avLst/>
          </a:prstGeom>
          <a:noFill/>
          <a:ln/>
        </p:spPr>
        <p:txBody>
          <a:bodyPr wrap="square" lIns="0" tIns="0" rIns="0" bIns="0" rtlCol="0" anchor="ctr"/>
          <a:lstStyle/>
          <a:p>
            <a:pPr marL="0" indent="0" algn="ctr">
              <a:buNone/>
            </a:pPr>
            <a:r>
              <a:rPr lang="en-US" sz="1000" dirty="0">
                <a:solidFill>
                  <a:srgbClr val="A4ACB5"/>
                </a:solidFill>
                <a:latin typeface="Calibri" pitchFamily="34" charset="0"/>
                <a:ea typeface="Calibri" pitchFamily="34" charset="-122"/>
                <a:cs typeface="Calibri" pitchFamily="34" charset="-120"/>
              </a:rPr>
              <a:t>LSTM forecast lead time</a:t>
            </a:r>
            <a:endParaRPr lang="en-US" sz="1000" dirty="0"/>
          </a:p>
        </p:txBody>
      </p:sp>
      <p:sp>
        <p:nvSpPr>
          <p:cNvPr id="10" name="Shape 8"/>
          <p:cNvSpPr/>
          <p:nvPr/>
        </p:nvSpPr>
        <p:spPr>
          <a:xfrm>
            <a:off x="3337560" y="1828800"/>
            <a:ext cx="2697480" cy="1097280"/>
          </a:xfrm>
          <a:prstGeom prst="rect">
            <a:avLst/>
          </a:prstGeom>
          <a:solidFill>
            <a:srgbClr val="FFFFFF"/>
          </a:solidFill>
          <a:ln w="9525">
            <a:solidFill>
              <a:srgbClr val="A4ACB5"/>
            </a:solidFill>
            <a:prstDash val="solid"/>
          </a:ln>
        </p:spPr>
      </p:sp>
      <p:sp>
        <p:nvSpPr>
          <p:cNvPr id="11" name="Text 9"/>
          <p:cNvSpPr/>
          <p:nvPr/>
        </p:nvSpPr>
        <p:spPr>
          <a:xfrm>
            <a:off x="3474720" y="1993392"/>
            <a:ext cx="2423160" cy="502920"/>
          </a:xfrm>
          <a:prstGeom prst="rect">
            <a:avLst/>
          </a:prstGeom>
          <a:noFill/>
          <a:ln/>
        </p:spPr>
        <p:txBody>
          <a:bodyPr wrap="square" lIns="0" tIns="0" rIns="0" bIns="0" rtlCol="0" anchor="ctr"/>
          <a:lstStyle/>
          <a:p>
            <a:pPr marL="0" indent="0" algn="ctr">
              <a:buNone/>
            </a:pPr>
            <a:r>
              <a:rPr lang="en-US" sz="2600" b="1" dirty="0">
                <a:solidFill>
                  <a:srgbClr val="36454F"/>
                </a:solidFill>
                <a:latin typeface="Calibri" pitchFamily="34" charset="0"/>
                <a:ea typeface="Calibri" pitchFamily="34" charset="-122"/>
                <a:cs typeface="Calibri" pitchFamily="34" charset="-120"/>
              </a:rPr>
              <a:t>&lt; 50 ms</a:t>
            </a:r>
            <a:endParaRPr lang="en-US" sz="2600" dirty="0"/>
          </a:p>
        </p:txBody>
      </p:sp>
      <p:sp>
        <p:nvSpPr>
          <p:cNvPr id="12" name="Text 10"/>
          <p:cNvSpPr/>
          <p:nvPr/>
        </p:nvSpPr>
        <p:spPr>
          <a:xfrm>
            <a:off x="3474720" y="2560320"/>
            <a:ext cx="2423160" cy="320040"/>
          </a:xfrm>
          <a:prstGeom prst="rect">
            <a:avLst/>
          </a:prstGeom>
          <a:noFill/>
          <a:ln/>
        </p:spPr>
        <p:txBody>
          <a:bodyPr wrap="square" lIns="0" tIns="0" rIns="0" bIns="0" rtlCol="0" anchor="ctr"/>
          <a:lstStyle/>
          <a:p>
            <a:pPr marL="0" indent="0" algn="ctr">
              <a:buNone/>
            </a:pPr>
            <a:r>
              <a:rPr lang="en-US" sz="1000" dirty="0">
                <a:solidFill>
                  <a:srgbClr val="6B737A"/>
                </a:solidFill>
                <a:latin typeface="Calibri" pitchFamily="34" charset="0"/>
                <a:ea typeface="Calibri" pitchFamily="34" charset="-122"/>
                <a:cs typeface="Calibri" pitchFamily="34" charset="-120"/>
              </a:rPr>
              <a:t>Hitless handoff SLA</a:t>
            </a:r>
            <a:endParaRPr lang="en-US" sz="1000" dirty="0"/>
          </a:p>
        </p:txBody>
      </p:sp>
      <p:sp>
        <p:nvSpPr>
          <p:cNvPr id="13" name="Shape 11"/>
          <p:cNvSpPr/>
          <p:nvPr/>
        </p:nvSpPr>
        <p:spPr>
          <a:xfrm>
            <a:off x="6126480" y="1828800"/>
            <a:ext cx="2697480" cy="1097280"/>
          </a:xfrm>
          <a:prstGeom prst="rect">
            <a:avLst/>
          </a:prstGeom>
          <a:solidFill>
            <a:srgbClr val="36454F"/>
          </a:solidFill>
          <a:ln w="12700">
            <a:solidFill>
              <a:srgbClr val="A4ACB5"/>
            </a:solidFill>
            <a:prstDash val="solid"/>
          </a:ln>
        </p:spPr>
      </p:sp>
      <p:sp>
        <p:nvSpPr>
          <p:cNvPr id="14" name="Text 12"/>
          <p:cNvSpPr/>
          <p:nvPr/>
        </p:nvSpPr>
        <p:spPr>
          <a:xfrm>
            <a:off x="6263640" y="1993392"/>
            <a:ext cx="24231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&lt; 5 s</a:t>
            </a:r>
            <a:endParaRPr lang="en-US" sz="2600" dirty="0"/>
          </a:p>
        </p:txBody>
      </p:sp>
      <p:sp>
        <p:nvSpPr>
          <p:cNvPr id="15" name="Text 13"/>
          <p:cNvSpPr/>
          <p:nvPr/>
        </p:nvSpPr>
        <p:spPr>
          <a:xfrm>
            <a:off x="6263640" y="2560320"/>
            <a:ext cx="2423160" cy="320040"/>
          </a:xfrm>
          <a:prstGeom prst="rect">
            <a:avLst/>
          </a:prstGeom>
          <a:noFill/>
          <a:ln/>
        </p:spPr>
        <p:txBody>
          <a:bodyPr wrap="square" lIns="0" tIns="0" rIns="0" bIns="0" rtlCol="0" anchor="ctr"/>
          <a:lstStyle/>
          <a:p>
            <a:pPr marL="0" indent="0" algn="ctr">
              <a:buNone/>
            </a:pPr>
            <a:r>
              <a:rPr lang="en-US" sz="1000" dirty="0">
                <a:solidFill>
                  <a:srgbClr val="A4ACB5"/>
                </a:solidFill>
                <a:latin typeface="Calibri" pitchFamily="34" charset="0"/>
                <a:ea typeface="Calibri" pitchFamily="34" charset="-122"/>
                <a:cs typeface="Calibri" pitchFamily="34" charset="-120"/>
              </a:rPr>
              <a:t>Digital Twin validation</a:t>
            </a:r>
            <a:endParaRPr lang="en-US" sz="1000" dirty="0"/>
          </a:p>
        </p:txBody>
      </p:sp>
      <p:sp>
        <p:nvSpPr>
          <p:cNvPr id="16" name="Shape 14"/>
          <p:cNvSpPr/>
          <p:nvPr/>
        </p:nvSpPr>
        <p:spPr>
          <a:xfrm>
            <a:off x="8915400" y="1828800"/>
            <a:ext cx="2697480" cy="1097280"/>
          </a:xfrm>
          <a:prstGeom prst="rect">
            <a:avLst/>
          </a:prstGeom>
          <a:solidFill>
            <a:srgbClr val="FFFFFF"/>
          </a:solidFill>
          <a:ln w="9525">
            <a:solidFill>
              <a:srgbClr val="A4ACB5"/>
            </a:solidFill>
            <a:prstDash val="solid"/>
          </a:ln>
        </p:spPr>
      </p:sp>
      <p:sp>
        <p:nvSpPr>
          <p:cNvPr id="17" name="Text 15"/>
          <p:cNvSpPr/>
          <p:nvPr/>
        </p:nvSpPr>
        <p:spPr>
          <a:xfrm>
            <a:off x="9052560" y="1993392"/>
            <a:ext cx="2423160" cy="502920"/>
          </a:xfrm>
          <a:prstGeom prst="rect">
            <a:avLst/>
          </a:prstGeom>
          <a:noFill/>
          <a:ln/>
        </p:spPr>
        <p:txBody>
          <a:bodyPr wrap="square" lIns="0" tIns="0" rIns="0" bIns="0" rtlCol="0" anchor="ctr"/>
          <a:lstStyle/>
          <a:p>
            <a:pPr marL="0" indent="0" algn="ctr">
              <a:buNone/>
            </a:pPr>
            <a:r>
              <a:rPr lang="en-US" sz="2600" b="1" dirty="0">
                <a:solidFill>
                  <a:srgbClr val="36454F"/>
                </a:solidFill>
                <a:latin typeface="Calibri" pitchFamily="34" charset="0"/>
                <a:ea typeface="Calibri" pitchFamily="34" charset="-122"/>
                <a:cs typeface="Calibri" pitchFamily="34" charset="-120"/>
              </a:rPr>
              <a:t>0</a:t>
            </a:r>
            <a:endParaRPr lang="en-US" sz="2600" dirty="0"/>
          </a:p>
        </p:txBody>
      </p:sp>
      <p:sp>
        <p:nvSpPr>
          <p:cNvPr id="18" name="Text 16"/>
          <p:cNvSpPr/>
          <p:nvPr/>
        </p:nvSpPr>
        <p:spPr>
          <a:xfrm>
            <a:off x="9052560" y="2560320"/>
            <a:ext cx="2423160" cy="320040"/>
          </a:xfrm>
          <a:prstGeom prst="rect">
            <a:avLst/>
          </a:prstGeom>
          <a:noFill/>
          <a:ln/>
        </p:spPr>
        <p:txBody>
          <a:bodyPr wrap="square" lIns="0" tIns="0" rIns="0" bIns="0" rtlCol="0" anchor="ctr"/>
          <a:lstStyle/>
          <a:p>
            <a:pPr marL="0" indent="0" algn="ctr">
              <a:buNone/>
            </a:pPr>
            <a:r>
              <a:rPr lang="en-US" sz="1000" dirty="0">
                <a:solidFill>
                  <a:srgbClr val="6B737A"/>
                </a:solidFill>
                <a:latin typeface="Calibri" pitchFamily="34" charset="0"/>
                <a:ea typeface="Calibri" pitchFamily="34" charset="-122"/>
                <a:cs typeface="Calibri" pitchFamily="34" charset="-120"/>
              </a:rPr>
              <a:t>CLI lines required (IBN handles it)</a:t>
            </a:r>
            <a:endParaRPr lang="en-US" sz="1000" dirty="0"/>
          </a:p>
        </p:txBody>
      </p:sp>
      <p:sp>
        <p:nvSpPr>
          <p:cNvPr id="19" name="Shape 17"/>
          <p:cNvSpPr/>
          <p:nvPr/>
        </p:nvSpPr>
        <p:spPr>
          <a:xfrm>
            <a:off x="548640" y="3017520"/>
            <a:ext cx="2697480" cy="1097280"/>
          </a:xfrm>
          <a:prstGeom prst="rect">
            <a:avLst/>
          </a:prstGeom>
          <a:solidFill>
            <a:srgbClr val="FFFFFF"/>
          </a:solidFill>
          <a:ln w="9525">
            <a:solidFill>
              <a:srgbClr val="A4ACB5"/>
            </a:solidFill>
            <a:prstDash val="solid"/>
          </a:ln>
        </p:spPr>
      </p:sp>
      <p:sp>
        <p:nvSpPr>
          <p:cNvPr id="20" name="Text 18"/>
          <p:cNvSpPr/>
          <p:nvPr/>
        </p:nvSpPr>
        <p:spPr>
          <a:xfrm>
            <a:off x="685800" y="3182112"/>
            <a:ext cx="2423160" cy="502920"/>
          </a:xfrm>
          <a:prstGeom prst="rect">
            <a:avLst/>
          </a:prstGeom>
          <a:noFill/>
          <a:ln/>
        </p:spPr>
        <p:txBody>
          <a:bodyPr wrap="square" lIns="0" tIns="0" rIns="0" bIns="0" rtlCol="0" anchor="ctr"/>
          <a:lstStyle/>
          <a:p>
            <a:pPr marL="0" indent="0" algn="ctr">
              <a:buNone/>
            </a:pPr>
            <a:r>
              <a:rPr lang="en-US" sz="2600" b="1" dirty="0">
                <a:solidFill>
                  <a:srgbClr val="36454F"/>
                </a:solidFill>
                <a:latin typeface="Calibri" pitchFamily="34" charset="0"/>
                <a:ea typeface="Calibri" pitchFamily="34" charset="-122"/>
                <a:cs typeface="Calibri" pitchFamily="34" charset="-120"/>
              </a:rPr>
              <a:t>≥ 99.9%</a:t>
            </a:r>
            <a:endParaRPr lang="en-US" sz="2600" dirty="0"/>
          </a:p>
        </p:txBody>
      </p:sp>
      <p:sp>
        <p:nvSpPr>
          <p:cNvPr id="21" name="Text 19"/>
          <p:cNvSpPr/>
          <p:nvPr/>
        </p:nvSpPr>
        <p:spPr>
          <a:xfrm>
            <a:off x="685800" y="3749040"/>
            <a:ext cx="2423160" cy="320040"/>
          </a:xfrm>
          <a:prstGeom prst="rect">
            <a:avLst/>
          </a:prstGeom>
          <a:noFill/>
          <a:ln/>
        </p:spPr>
        <p:txBody>
          <a:bodyPr wrap="square" lIns="0" tIns="0" rIns="0" bIns="0" rtlCol="0" anchor="ctr"/>
          <a:lstStyle/>
          <a:p>
            <a:pPr marL="0" indent="0" algn="ctr">
              <a:buNone/>
            </a:pPr>
            <a:r>
              <a:rPr lang="en-US" sz="1000" dirty="0">
                <a:solidFill>
                  <a:srgbClr val="6B737A"/>
                </a:solidFill>
                <a:latin typeface="Calibri" pitchFamily="34" charset="0"/>
                <a:ea typeface="Calibri" pitchFamily="34" charset="-122"/>
                <a:cs typeface="Calibri" pitchFamily="34" charset="-120"/>
              </a:rPr>
              <a:t>Target availability</a:t>
            </a:r>
            <a:endParaRPr lang="en-US" sz="1000" dirty="0"/>
          </a:p>
        </p:txBody>
      </p:sp>
      <p:sp>
        <p:nvSpPr>
          <p:cNvPr id="22" name="Shape 20"/>
          <p:cNvSpPr/>
          <p:nvPr/>
        </p:nvSpPr>
        <p:spPr>
          <a:xfrm>
            <a:off x="3337560" y="3017520"/>
            <a:ext cx="2697480" cy="1097280"/>
          </a:xfrm>
          <a:prstGeom prst="rect">
            <a:avLst/>
          </a:prstGeom>
          <a:solidFill>
            <a:srgbClr val="36454F"/>
          </a:solidFill>
          <a:ln w="12700">
            <a:solidFill>
              <a:srgbClr val="A4ACB5"/>
            </a:solidFill>
            <a:prstDash val="solid"/>
          </a:ln>
        </p:spPr>
      </p:sp>
      <p:sp>
        <p:nvSpPr>
          <p:cNvPr id="23" name="Text 21"/>
          <p:cNvSpPr/>
          <p:nvPr/>
        </p:nvSpPr>
        <p:spPr>
          <a:xfrm>
            <a:off x="3474720" y="3182112"/>
            <a:ext cx="24231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 90%</a:t>
            </a:r>
            <a:endParaRPr lang="en-US" sz="2600" dirty="0"/>
          </a:p>
        </p:txBody>
      </p:sp>
      <p:sp>
        <p:nvSpPr>
          <p:cNvPr id="24" name="Text 22"/>
          <p:cNvSpPr/>
          <p:nvPr/>
        </p:nvSpPr>
        <p:spPr>
          <a:xfrm>
            <a:off x="3474720" y="3749040"/>
            <a:ext cx="2423160" cy="320040"/>
          </a:xfrm>
          <a:prstGeom prst="rect">
            <a:avLst/>
          </a:prstGeom>
          <a:noFill/>
          <a:ln/>
        </p:spPr>
        <p:txBody>
          <a:bodyPr wrap="square" lIns="0" tIns="0" rIns="0" bIns="0" rtlCol="0" anchor="ctr"/>
          <a:lstStyle/>
          <a:p>
            <a:pPr marL="0" indent="0" algn="ctr">
              <a:buNone/>
            </a:pPr>
            <a:r>
              <a:rPr lang="en-US" sz="1000" dirty="0">
                <a:solidFill>
                  <a:srgbClr val="A4ACB5"/>
                </a:solidFill>
                <a:latin typeface="Calibri" pitchFamily="34" charset="0"/>
                <a:ea typeface="Calibri" pitchFamily="34" charset="-122"/>
                <a:cs typeface="Calibri" pitchFamily="34" charset="-120"/>
              </a:rPr>
              <a:t>LSTM accuracy (test set)</a:t>
            </a:r>
            <a:endParaRPr lang="en-US" sz="1000" dirty="0"/>
          </a:p>
        </p:txBody>
      </p:sp>
      <p:sp>
        <p:nvSpPr>
          <p:cNvPr id="25" name="Shape 23"/>
          <p:cNvSpPr/>
          <p:nvPr/>
        </p:nvSpPr>
        <p:spPr>
          <a:xfrm>
            <a:off x="6126480" y="3017520"/>
            <a:ext cx="2697480" cy="1097280"/>
          </a:xfrm>
          <a:prstGeom prst="rect">
            <a:avLst/>
          </a:prstGeom>
          <a:solidFill>
            <a:srgbClr val="FFFFFF"/>
          </a:solidFill>
          <a:ln w="9525">
            <a:solidFill>
              <a:srgbClr val="A4ACB5"/>
            </a:solidFill>
            <a:prstDash val="solid"/>
          </a:ln>
        </p:spPr>
      </p:sp>
      <p:sp>
        <p:nvSpPr>
          <p:cNvPr id="26" name="Text 24"/>
          <p:cNvSpPr/>
          <p:nvPr/>
        </p:nvSpPr>
        <p:spPr>
          <a:xfrm>
            <a:off x="6263640" y="3182112"/>
            <a:ext cx="2423160" cy="502920"/>
          </a:xfrm>
          <a:prstGeom prst="rect">
            <a:avLst/>
          </a:prstGeom>
          <a:noFill/>
          <a:ln/>
        </p:spPr>
        <p:txBody>
          <a:bodyPr wrap="square" lIns="0" tIns="0" rIns="0" bIns="0" rtlCol="0" anchor="ctr"/>
          <a:lstStyle/>
          <a:p>
            <a:pPr marL="0" indent="0" algn="ctr">
              <a:buNone/>
            </a:pPr>
            <a:r>
              <a:rPr lang="en-US" sz="2600" b="1" dirty="0">
                <a:solidFill>
                  <a:srgbClr val="36454F"/>
                </a:solidFill>
                <a:latin typeface="Calibri" pitchFamily="34" charset="0"/>
                <a:ea typeface="Calibri" pitchFamily="34" charset="-122"/>
                <a:cs typeface="Calibri" pitchFamily="34" charset="-120"/>
              </a:rPr>
              <a:t>100+</a:t>
            </a:r>
            <a:endParaRPr lang="en-US" sz="2600" dirty="0"/>
          </a:p>
        </p:txBody>
      </p:sp>
      <p:sp>
        <p:nvSpPr>
          <p:cNvPr id="27" name="Text 25"/>
          <p:cNvSpPr/>
          <p:nvPr/>
        </p:nvSpPr>
        <p:spPr>
          <a:xfrm>
            <a:off x="6263640" y="3749040"/>
            <a:ext cx="2423160" cy="320040"/>
          </a:xfrm>
          <a:prstGeom prst="rect">
            <a:avLst/>
          </a:prstGeom>
          <a:noFill/>
          <a:ln/>
        </p:spPr>
        <p:txBody>
          <a:bodyPr wrap="square" lIns="0" tIns="0" rIns="0" bIns="0" rtlCol="0" anchor="ctr"/>
          <a:lstStyle/>
          <a:p>
            <a:pPr marL="0" indent="0" algn="ctr">
              <a:buNone/>
            </a:pPr>
            <a:r>
              <a:rPr lang="en-US" sz="1000" dirty="0">
                <a:solidFill>
                  <a:srgbClr val="6B737A"/>
                </a:solidFill>
                <a:latin typeface="Calibri" pitchFamily="34" charset="0"/>
                <a:ea typeface="Calibri" pitchFamily="34" charset="-122"/>
                <a:cs typeface="Calibri" pitchFamily="34" charset="-120"/>
              </a:rPr>
              <a:t>Concurrent sites</a:t>
            </a:r>
            <a:endParaRPr lang="en-US" sz="1000" dirty="0"/>
          </a:p>
        </p:txBody>
      </p:sp>
      <p:sp>
        <p:nvSpPr>
          <p:cNvPr id="28" name="Shape 26"/>
          <p:cNvSpPr/>
          <p:nvPr/>
        </p:nvSpPr>
        <p:spPr>
          <a:xfrm>
            <a:off x="8915400" y="3017520"/>
            <a:ext cx="2697480" cy="1097280"/>
          </a:xfrm>
          <a:prstGeom prst="rect">
            <a:avLst/>
          </a:prstGeom>
          <a:solidFill>
            <a:srgbClr val="36454F"/>
          </a:solidFill>
          <a:ln w="12700">
            <a:solidFill>
              <a:srgbClr val="A4ACB5"/>
            </a:solidFill>
            <a:prstDash val="solid"/>
          </a:ln>
        </p:spPr>
      </p:sp>
      <p:sp>
        <p:nvSpPr>
          <p:cNvPr id="29" name="Text 27"/>
          <p:cNvSpPr/>
          <p:nvPr/>
        </p:nvSpPr>
        <p:spPr>
          <a:xfrm>
            <a:off x="9052560" y="3182112"/>
            <a:ext cx="24231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TLS 1.3</a:t>
            </a:r>
            <a:endParaRPr lang="en-US" sz="2600" dirty="0"/>
          </a:p>
        </p:txBody>
      </p:sp>
      <p:sp>
        <p:nvSpPr>
          <p:cNvPr id="30" name="Text 28"/>
          <p:cNvSpPr/>
          <p:nvPr/>
        </p:nvSpPr>
        <p:spPr>
          <a:xfrm>
            <a:off x="9052560" y="3749040"/>
            <a:ext cx="2423160" cy="320040"/>
          </a:xfrm>
          <a:prstGeom prst="rect">
            <a:avLst/>
          </a:prstGeom>
          <a:noFill/>
          <a:ln/>
        </p:spPr>
        <p:txBody>
          <a:bodyPr wrap="square" lIns="0" tIns="0" rIns="0" bIns="0" rtlCol="0" anchor="ctr"/>
          <a:lstStyle/>
          <a:p>
            <a:pPr marL="0" indent="0" algn="ctr">
              <a:buNone/>
            </a:pPr>
            <a:r>
              <a:rPr lang="en-US" sz="1000" dirty="0">
                <a:solidFill>
                  <a:srgbClr val="A4ACB5"/>
                </a:solidFill>
                <a:latin typeface="Calibri" pitchFamily="34" charset="0"/>
                <a:ea typeface="Calibri" pitchFamily="34" charset="-122"/>
                <a:cs typeface="Calibri" pitchFamily="34" charset="-120"/>
              </a:rPr>
              <a:t>Enforced at the edge</a:t>
            </a:r>
            <a:endParaRPr lang="en-US" sz="1000" dirty="0"/>
          </a:p>
        </p:txBody>
      </p:sp>
      <p:sp>
        <p:nvSpPr>
          <p:cNvPr id="31" name="Shape 29"/>
          <p:cNvSpPr/>
          <p:nvPr/>
        </p:nvSpPr>
        <p:spPr>
          <a:xfrm>
            <a:off x="548640" y="4206240"/>
            <a:ext cx="2697480" cy="1097280"/>
          </a:xfrm>
          <a:prstGeom prst="rect">
            <a:avLst/>
          </a:prstGeom>
          <a:solidFill>
            <a:srgbClr val="36454F"/>
          </a:solidFill>
          <a:ln w="12700">
            <a:solidFill>
              <a:srgbClr val="A4ACB5"/>
            </a:solidFill>
            <a:prstDash val="solid"/>
          </a:ln>
        </p:spPr>
      </p:sp>
      <p:sp>
        <p:nvSpPr>
          <p:cNvPr id="32" name="Text 30"/>
          <p:cNvSpPr/>
          <p:nvPr/>
        </p:nvSpPr>
        <p:spPr>
          <a:xfrm>
            <a:off x="685800" y="4370832"/>
            <a:ext cx="24231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AES-256</a:t>
            </a:r>
            <a:endParaRPr lang="en-US" sz="2600" dirty="0"/>
          </a:p>
        </p:txBody>
      </p:sp>
      <p:sp>
        <p:nvSpPr>
          <p:cNvPr id="33" name="Text 31"/>
          <p:cNvSpPr/>
          <p:nvPr/>
        </p:nvSpPr>
        <p:spPr>
          <a:xfrm>
            <a:off x="685800" y="4937760"/>
            <a:ext cx="2423160" cy="320040"/>
          </a:xfrm>
          <a:prstGeom prst="rect">
            <a:avLst/>
          </a:prstGeom>
          <a:noFill/>
          <a:ln/>
        </p:spPr>
        <p:txBody>
          <a:bodyPr wrap="square" lIns="0" tIns="0" rIns="0" bIns="0" rtlCol="0" anchor="ctr"/>
          <a:lstStyle/>
          <a:p>
            <a:pPr marL="0" indent="0" algn="ctr">
              <a:buNone/>
            </a:pPr>
            <a:r>
              <a:rPr lang="en-US" sz="1000" dirty="0">
                <a:solidFill>
                  <a:srgbClr val="A4ACB5"/>
                </a:solidFill>
                <a:latin typeface="Calibri" pitchFamily="34" charset="0"/>
                <a:ea typeface="Calibri" pitchFamily="34" charset="-122"/>
                <a:cs typeface="Calibri" pitchFamily="34" charset="-120"/>
              </a:rPr>
              <a:t>At-rest encryption</a:t>
            </a:r>
            <a:endParaRPr lang="en-US" sz="1000" dirty="0"/>
          </a:p>
        </p:txBody>
      </p:sp>
      <p:sp>
        <p:nvSpPr>
          <p:cNvPr id="34" name="Shape 32"/>
          <p:cNvSpPr/>
          <p:nvPr/>
        </p:nvSpPr>
        <p:spPr>
          <a:xfrm>
            <a:off x="3337560" y="4206240"/>
            <a:ext cx="2697480" cy="1097280"/>
          </a:xfrm>
          <a:prstGeom prst="rect">
            <a:avLst/>
          </a:prstGeom>
          <a:solidFill>
            <a:srgbClr val="FFFFFF"/>
          </a:solidFill>
          <a:ln w="9525">
            <a:solidFill>
              <a:srgbClr val="A4ACB5"/>
            </a:solidFill>
            <a:prstDash val="solid"/>
          </a:ln>
        </p:spPr>
      </p:sp>
      <p:sp>
        <p:nvSpPr>
          <p:cNvPr id="35" name="Text 33"/>
          <p:cNvSpPr/>
          <p:nvPr/>
        </p:nvSpPr>
        <p:spPr>
          <a:xfrm>
            <a:off x="3474720" y="4370832"/>
            <a:ext cx="2423160" cy="502920"/>
          </a:xfrm>
          <a:prstGeom prst="rect">
            <a:avLst/>
          </a:prstGeom>
          <a:noFill/>
          <a:ln/>
        </p:spPr>
        <p:txBody>
          <a:bodyPr wrap="square" lIns="0" tIns="0" rIns="0" bIns="0" rtlCol="0" anchor="ctr"/>
          <a:lstStyle/>
          <a:p>
            <a:pPr marL="0" indent="0" algn="ctr">
              <a:buNone/>
            </a:pPr>
            <a:r>
              <a:rPr lang="en-US" sz="2600" b="1" dirty="0">
                <a:solidFill>
                  <a:srgbClr val="36454F"/>
                </a:solidFill>
                <a:latin typeface="Calibri" pitchFamily="34" charset="0"/>
                <a:ea typeface="Calibri" pitchFamily="34" charset="-122"/>
                <a:cs typeface="Calibri" pitchFamily="34" charset="-120"/>
              </a:rPr>
              <a:t>bcrypt</a:t>
            </a:r>
            <a:endParaRPr lang="en-US" sz="2600" dirty="0"/>
          </a:p>
        </p:txBody>
      </p:sp>
      <p:sp>
        <p:nvSpPr>
          <p:cNvPr id="36" name="Text 34"/>
          <p:cNvSpPr/>
          <p:nvPr/>
        </p:nvSpPr>
        <p:spPr>
          <a:xfrm>
            <a:off x="3474720" y="4937760"/>
            <a:ext cx="2423160" cy="320040"/>
          </a:xfrm>
          <a:prstGeom prst="rect">
            <a:avLst/>
          </a:prstGeom>
          <a:noFill/>
          <a:ln/>
        </p:spPr>
        <p:txBody>
          <a:bodyPr wrap="square" lIns="0" tIns="0" rIns="0" bIns="0" rtlCol="0" anchor="ctr"/>
          <a:lstStyle/>
          <a:p>
            <a:pPr marL="0" indent="0" algn="ctr">
              <a:buNone/>
            </a:pPr>
            <a:r>
              <a:rPr lang="en-US" sz="1000" dirty="0">
                <a:solidFill>
                  <a:srgbClr val="6B737A"/>
                </a:solidFill>
                <a:latin typeface="Calibri" pitchFamily="34" charset="0"/>
                <a:ea typeface="Calibri" pitchFamily="34" charset="-122"/>
                <a:cs typeface="Calibri" pitchFamily="34" charset="-120"/>
              </a:rPr>
              <a:t>Password hashing</a:t>
            </a:r>
            <a:endParaRPr lang="en-US" sz="1000" dirty="0"/>
          </a:p>
        </p:txBody>
      </p:sp>
      <p:sp>
        <p:nvSpPr>
          <p:cNvPr id="37" name="Shape 35"/>
          <p:cNvSpPr/>
          <p:nvPr/>
        </p:nvSpPr>
        <p:spPr>
          <a:xfrm>
            <a:off x="6126480" y="4206240"/>
            <a:ext cx="2697480" cy="1097280"/>
          </a:xfrm>
          <a:prstGeom prst="rect">
            <a:avLst/>
          </a:prstGeom>
          <a:solidFill>
            <a:srgbClr val="36454F"/>
          </a:solidFill>
          <a:ln w="12700">
            <a:solidFill>
              <a:srgbClr val="A4ACB5"/>
            </a:solidFill>
            <a:prstDash val="solid"/>
          </a:ln>
        </p:spPr>
      </p:sp>
      <p:sp>
        <p:nvSpPr>
          <p:cNvPr id="38" name="Text 36"/>
          <p:cNvSpPr/>
          <p:nvPr/>
        </p:nvSpPr>
        <p:spPr>
          <a:xfrm>
            <a:off x="6263640" y="4370832"/>
            <a:ext cx="24231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HIPAA</a:t>
            </a:r>
            <a:endParaRPr lang="en-US" sz="2600" dirty="0"/>
          </a:p>
        </p:txBody>
      </p:sp>
      <p:sp>
        <p:nvSpPr>
          <p:cNvPr id="39" name="Text 37"/>
          <p:cNvSpPr/>
          <p:nvPr/>
        </p:nvSpPr>
        <p:spPr>
          <a:xfrm>
            <a:off x="6263640" y="4937760"/>
            <a:ext cx="2423160" cy="320040"/>
          </a:xfrm>
          <a:prstGeom prst="rect">
            <a:avLst/>
          </a:prstGeom>
          <a:noFill/>
          <a:ln/>
        </p:spPr>
        <p:txBody>
          <a:bodyPr wrap="square" lIns="0" tIns="0" rIns="0" bIns="0" rtlCol="0" anchor="ctr"/>
          <a:lstStyle/>
          <a:p>
            <a:pPr marL="0" indent="0" algn="ctr">
              <a:buNone/>
            </a:pPr>
            <a:r>
              <a:rPr lang="en-US" sz="1000" dirty="0">
                <a:solidFill>
                  <a:srgbClr val="A4ACB5"/>
                </a:solidFill>
                <a:latin typeface="Calibri" pitchFamily="34" charset="0"/>
                <a:ea typeface="Calibri" pitchFamily="34" charset="-122"/>
                <a:cs typeface="Calibri" pitchFamily="34" charset="-120"/>
              </a:rPr>
              <a:t>Audit log grade</a:t>
            </a:r>
            <a:endParaRPr lang="en-US" sz="1000" dirty="0"/>
          </a:p>
        </p:txBody>
      </p:sp>
      <p:sp>
        <p:nvSpPr>
          <p:cNvPr id="40" name="Shape 38"/>
          <p:cNvSpPr/>
          <p:nvPr/>
        </p:nvSpPr>
        <p:spPr>
          <a:xfrm>
            <a:off x="8915400" y="4206240"/>
            <a:ext cx="2697480" cy="1097280"/>
          </a:xfrm>
          <a:prstGeom prst="rect">
            <a:avLst/>
          </a:prstGeom>
          <a:solidFill>
            <a:srgbClr val="FFFFFF"/>
          </a:solidFill>
          <a:ln w="9525">
            <a:solidFill>
              <a:srgbClr val="A4ACB5"/>
            </a:solidFill>
            <a:prstDash val="solid"/>
          </a:ln>
        </p:spPr>
      </p:sp>
      <p:sp>
        <p:nvSpPr>
          <p:cNvPr id="41" name="Text 39"/>
          <p:cNvSpPr/>
          <p:nvPr/>
        </p:nvSpPr>
        <p:spPr>
          <a:xfrm>
            <a:off x="9052560" y="4370832"/>
            <a:ext cx="2423160" cy="502920"/>
          </a:xfrm>
          <a:prstGeom prst="rect">
            <a:avLst/>
          </a:prstGeom>
          <a:noFill/>
          <a:ln/>
        </p:spPr>
        <p:txBody>
          <a:bodyPr wrap="square" lIns="0" tIns="0" rIns="0" bIns="0" rtlCol="0" anchor="ctr"/>
          <a:lstStyle/>
          <a:p>
            <a:pPr marL="0" indent="0" algn="ctr">
              <a:buNone/>
            </a:pPr>
            <a:r>
              <a:rPr lang="en-US" sz="2600" b="1" dirty="0">
                <a:solidFill>
                  <a:srgbClr val="36454F"/>
                </a:solidFill>
                <a:latin typeface="Calibri" pitchFamily="34" charset="0"/>
                <a:ea typeface="Calibri" pitchFamily="34" charset="-122"/>
                <a:cs typeface="Calibri" pitchFamily="34" charset="-120"/>
              </a:rPr>
              <a:t>Docker</a:t>
            </a:r>
            <a:endParaRPr lang="en-US" sz="2600" dirty="0"/>
          </a:p>
        </p:txBody>
      </p:sp>
      <p:sp>
        <p:nvSpPr>
          <p:cNvPr id="42" name="Text 40"/>
          <p:cNvSpPr/>
          <p:nvPr/>
        </p:nvSpPr>
        <p:spPr>
          <a:xfrm>
            <a:off x="9052560" y="4937760"/>
            <a:ext cx="2423160" cy="320040"/>
          </a:xfrm>
          <a:prstGeom prst="rect">
            <a:avLst/>
          </a:prstGeom>
          <a:noFill/>
          <a:ln/>
        </p:spPr>
        <p:txBody>
          <a:bodyPr wrap="square" lIns="0" tIns="0" rIns="0" bIns="0" rtlCol="0" anchor="ctr"/>
          <a:lstStyle/>
          <a:p>
            <a:pPr marL="0" indent="0" algn="ctr">
              <a:buNone/>
            </a:pPr>
            <a:r>
              <a:rPr lang="en-US" sz="1000" dirty="0">
                <a:solidFill>
                  <a:srgbClr val="6B737A"/>
                </a:solidFill>
                <a:latin typeface="Calibri" pitchFamily="34" charset="0"/>
                <a:ea typeface="Calibri" pitchFamily="34" charset="-122"/>
                <a:cs typeface="Calibri" pitchFamily="34" charset="-120"/>
              </a:rPr>
              <a:t>One-command bring-up</a:t>
            </a:r>
            <a:endParaRPr lang="en-US" sz="1000" dirty="0"/>
          </a:p>
        </p:txBody>
      </p:sp>
      <p:sp>
        <p:nvSpPr>
          <p:cNvPr id="43" name="Shape 41"/>
          <p:cNvSpPr/>
          <p:nvPr/>
        </p:nvSpPr>
        <p:spPr>
          <a:xfrm>
            <a:off x="548640" y="5577840"/>
            <a:ext cx="11064240" cy="822960"/>
          </a:xfrm>
          <a:prstGeom prst="rect">
            <a:avLst/>
          </a:prstGeom>
          <a:solidFill>
            <a:srgbClr val="F1F2F4"/>
          </a:solidFill>
          <a:ln w="12700">
            <a:solidFill>
              <a:srgbClr val="A4ACB5"/>
            </a:solidFill>
            <a:prstDash val="solid"/>
          </a:ln>
        </p:spPr>
      </p:sp>
      <p:sp>
        <p:nvSpPr>
          <p:cNvPr id="44" name="Text 42"/>
          <p:cNvSpPr/>
          <p:nvPr/>
        </p:nvSpPr>
        <p:spPr>
          <a:xfrm>
            <a:off x="548640" y="5623560"/>
            <a:ext cx="11064240" cy="731520"/>
          </a:xfrm>
          <a:prstGeom prst="rect">
            <a:avLst/>
          </a:prstGeom>
          <a:noFill/>
          <a:ln/>
        </p:spPr>
        <p:txBody>
          <a:bodyPr wrap="square" lIns="0" tIns="0" rIns="0" bIns="0" rtlCol="0" anchor="ctr"/>
          <a:lstStyle/>
          <a:p>
            <a:pPr marL="0" indent="0" algn="ctr">
              <a:buNone/>
            </a:pPr>
            <a:r>
              <a:rPr lang="en-US" sz="1800" b="1" i="1" dirty="0">
                <a:solidFill>
                  <a:srgbClr val="36454F"/>
                </a:solidFill>
                <a:latin typeface="Calibri" pitchFamily="34" charset="0"/>
                <a:ea typeface="Calibri" pitchFamily="34" charset="-122"/>
                <a:cs typeface="Calibri" pitchFamily="34" charset="-120"/>
              </a:rPr>
              <a:t>Every other SD-WAN platform reacts to failure.  PathWise prevents it.</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36454F"/>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029200" cy="5029200"/>
          </a:xfrm>
          <a:prstGeom prst="ellipse">
            <a:avLst/>
          </a:prstGeom>
          <a:solidFill>
            <a:srgbClr val="708090">
              <a:alpha val="25000"/>
            </a:srgbClr>
          </a:solidFill>
          <a:ln w="12700">
            <a:solidFill>
              <a:srgbClr val="708090"/>
            </a:solidFill>
            <a:prstDash val="solid"/>
          </a:ln>
        </p:spPr>
      </p:sp>
      <p:sp>
        <p:nvSpPr>
          <p:cNvPr id="3" name="Shape 1"/>
          <p:cNvSpPr/>
          <p:nvPr/>
        </p:nvSpPr>
        <p:spPr>
          <a:xfrm>
            <a:off x="502920" y="502920"/>
            <a:ext cx="164592" cy="164592"/>
          </a:xfrm>
          <a:prstGeom prst="ellipse">
            <a:avLst/>
          </a:prstGeom>
          <a:solidFill>
            <a:srgbClr val="A4ACB5"/>
          </a:solidFill>
          <a:ln w="12700">
            <a:solidFill>
              <a:srgbClr val="A4ACB5"/>
            </a:solidFill>
            <a:prstDash val="solid"/>
          </a:ln>
        </p:spPr>
      </p:sp>
      <p:sp>
        <p:nvSpPr>
          <p:cNvPr id="4" name="Text 2"/>
          <p:cNvSpPr/>
          <p:nvPr/>
        </p:nvSpPr>
        <p:spPr>
          <a:xfrm>
            <a:off x="777240" y="429768"/>
            <a:ext cx="7315200" cy="274320"/>
          </a:xfrm>
          <a:prstGeom prst="rect">
            <a:avLst/>
          </a:prstGeom>
          <a:noFill/>
          <a:ln/>
        </p:spPr>
        <p:txBody>
          <a:bodyPr wrap="square" lIns="0" tIns="0" rIns="0" bIns="0" rtlCol="0" anchor="ctr"/>
          <a:lstStyle/>
          <a:p>
            <a:pPr marL="0" indent="0">
              <a:buNone/>
            </a:pPr>
            <a:r>
              <a:rPr lang="en-US" sz="1000" b="1" kern="0" spc="400" dirty="0">
                <a:solidFill>
                  <a:srgbClr val="A4ACB5"/>
                </a:solidFill>
                <a:latin typeface="Calibri" pitchFamily="34" charset="0"/>
                <a:ea typeface="Calibri" pitchFamily="34" charset="-122"/>
                <a:cs typeface="Calibri" pitchFamily="34" charset="-120"/>
              </a:rPr>
              <a:t>THANK YOU</a:t>
            </a:r>
            <a:endParaRPr lang="en-US" sz="1000" dirty="0"/>
          </a:p>
        </p:txBody>
      </p:sp>
      <p:sp>
        <p:nvSpPr>
          <p:cNvPr id="5" name="Text 3"/>
          <p:cNvSpPr/>
          <p:nvPr/>
        </p:nvSpPr>
        <p:spPr>
          <a:xfrm>
            <a:off x="731520" y="2286000"/>
            <a:ext cx="10698480" cy="1463040"/>
          </a:xfrm>
          <a:prstGeom prst="rect">
            <a:avLst/>
          </a:prstGeom>
          <a:noFill/>
          <a:ln/>
        </p:spPr>
        <p:txBody>
          <a:bodyPr wrap="square" lIns="0" tIns="0" rIns="0" bIns="0" rtlCol="0" anchor="ctr"/>
          <a:lstStyle/>
          <a:p>
            <a:pPr marL="0" indent="0">
              <a:buNone/>
            </a:pPr>
            <a:r>
              <a:rPr lang="en-US" sz="9000" b="1" dirty="0">
                <a:solidFill>
                  <a:srgbClr val="FFFFFF"/>
                </a:solidFill>
                <a:latin typeface="Calibri" pitchFamily="34" charset="0"/>
                <a:ea typeface="Calibri" pitchFamily="34" charset="-122"/>
                <a:cs typeface="Calibri" pitchFamily="34" charset="-120"/>
              </a:rPr>
              <a:t>Questions?</a:t>
            </a:r>
            <a:endParaRPr lang="en-US" sz="9000" dirty="0"/>
          </a:p>
        </p:txBody>
      </p:sp>
      <p:sp>
        <p:nvSpPr>
          <p:cNvPr id="6" name="Shape 4"/>
          <p:cNvSpPr/>
          <p:nvPr/>
        </p:nvSpPr>
        <p:spPr>
          <a:xfrm>
            <a:off x="731520" y="4023360"/>
            <a:ext cx="1828800" cy="54864"/>
          </a:xfrm>
          <a:prstGeom prst="rect">
            <a:avLst/>
          </a:prstGeom>
          <a:solidFill>
            <a:srgbClr val="A4ACB5"/>
          </a:solidFill>
          <a:ln w="12700">
            <a:solidFill>
              <a:srgbClr val="A4ACB5"/>
            </a:solidFill>
            <a:prstDash val="solid"/>
          </a:ln>
        </p:spPr>
      </p:sp>
      <p:sp>
        <p:nvSpPr>
          <p:cNvPr id="7" name="Text 5"/>
          <p:cNvSpPr/>
          <p:nvPr/>
        </p:nvSpPr>
        <p:spPr>
          <a:xfrm>
            <a:off x="731520" y="4297680"/>
            <a:ext cx="731520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Team Pathfinders</a:t>
            </a:r>
            <a:endParaRPr lang="en-US" sz="2000" dirty="0"/>
          </a:p>
        </p:txBody>
      </p:sp>
      <p:sp>
        <p:nvSpPr>
          <p:cNvPr id="8" name="Text 6"/>
          <p:cNvSpPr/>
          <p:nvPr/>
        </p:nvSpPr>
        <p:spPr>
          <a:xfrm>
            <a:off x="731520" y="4663440"/>
            <a:ext cx="10698480" cy="320040"/>
          </a:xfrm>
          <a:prstGeom prst="rect">
            <a:avLst/>
          </a:prstGeom>
          <a:noFill/>
          <a:ln/>
        </p:spPr>
        <p:txBody>
          <a:bodyPr wrap="square" lIns="0" tIns="0" rIns="0" bIns="0" rtlCol="0" anchor="ctr"/>
          <a:lstStyle/>
          <a:p>
            <a:pPr marL="0" indent="0">
              <a:buNone/>
            </a:pPr>
            <a:r>
              <a:rPr lang="en-US" sz="1400" dirty="0">
                <a:solidFill>
                  <a:srgbClr val="A4ACB5"/>
                </a:solidFill>
                <a:latin typeface="Calibri" pitchFamily="34" charset="0"/>
                <a:ea typeface="Calibri" pitchFamily="34" charset="-122"/>
                <a:cs typeface="Calibri" pitchFamily="34" charset="-120"/>
              </a:rPr>
              <a:t>Vineeth Reddy Kodakandla  ·  Meghana Nalluri  ·  Bharadwaj Jakkula  ·  Sricharitha Katta</a:t>
            </a:r>
            <a:endParaRPr lang="en-US" sz="1400" dirty="0"/>
          </a:p>
        </p:txBody>
      </p:sp>
      <p:sp>
        <p:nvSpPr>
          <p:cNvPr id="9" name="Text 7"/>
          <p:cNvSpPr/>
          <p:nvPr/>
        </p:nvSpPr>
        <p:spPr>
          <a:xfrm>
            <a:off x="731520" y="5029200"/>
            <a:ext cx="10698480" cy="320040"/>
          </a:xfrm>
          <a:prstGeom prst="rect">
            <a:avLst/>
          </a:prstGeom>
          <a:noFill/>
          <a:ln/>
        </p:spPr>
        <p:txBody>
          <a:bodyPr wrap="square" lIns="0" tIns="0" rIns="0" bIns="0" rtlCol="0" anchor="ctr"/>
          <a:lstStyle/>
          <a:p>
            <a:pPr marL="0" indent="0">
              <a:buNone/>
            </a:pPr>
            <a:r>
              <a:rPr lang="en-US" sz="1200" kern="0" spc="200" dirty="0">
                <a:solidFill>
                  <a:srgbClr val="708090"/>
                </a:solidFill>
                <a:latin typeface="Calibri" pitchFamily="34" charset="0"/>
                <a:ea typeface="Calibri" pitchFamily="34" charset="-122"/>
                <a:cs typeface="Calibri" pitchFamily="34" charset="-120"/>
              </a:rPr>
              <a:t>COSC 6370-001  ·  Advanced Software Engineering  ·  Spring 2026</a:t>
            </a:r>
            <a:endParaRPr lang="en-US" sz="1200" dirty="0"/>
          </a:p>
        </p:txBody>
      </p:sp>
      <p:sp>
        <p:nvSpPr>
          <p:cNvPr id="10" name="Shape 8"/>
          <p:cNvSpPr/>
          <p:nvPr/>
        </p:nvSpPr>
        <p:spPr>
          <a:xfrm>
            <a:off x="731520" y="5715000"/>
            <a:ext cx="10698480" cy="640080"/>
          </a:xfrm>
          <a:prstGeom prst="rect">
            <a:avLst/>
          </a:prstGeom>
          <a:solidFill>
            <a:srgbClr val="36454F"/>
          </a:solidFill>
          <a:ln w="12700">
            <a:solidFill>
              <a:srgbClr val="A4ACB5"/>
            </a:solidFill>
            <a:prstDash val="solid"/>
          </a:ln>
        </p:spPr>
      </p:sp>
      <p:sp>
        <p:nvSpPr>
          <p:cNvPr id="11" name="Text 9"/>
          <p:cNvSpPr/>
          <p:nvPr/>
        </p:nvSpPr>
        <p:spPr>
          <a:xfrm>
            <a:off x="731520" y="5760720"/>
            <a:ext cx="10698480" cy="548640"/>
          </a:xfrm>
          <a:prstGeom prst="rect">
            <a:avLst/>
          </a:prstGeom>
          <a:noFill/>
          <a:ln/>
        </p:spPr>
        <p:txBody>
          <a:bodyPr wrap="square" lIns="0" tIns="0" rIns="0" bIns="0" rtlCol="0" anchor="ctr"/>
          <a:lstStyle/>
          <a:p>
            <a:pPr marL="0" indent="0" algn="ctr">
              <a:buNone/>
            </a:pPr>
            <a:r>
              <a:rPr lang="en-US" sz="1300" i="1" dirty="0">
                <a:solidFill>
                  <a:srgbClr val="A4ACB5"/>
                </a:solidFill>
                <a:latin typeface="Calibri" pitchFamily="34" charset="0"/>
                <a:ea typeface="Calibri" pitchFamily="34" charset="-122"/>
                <a:cs typeface="Calibri" pitchFamily="34" charset="-120"/>
              </a:rPr>
              <a:t>"Zero packet loss during failover — because the failover happens while both links are still healthy."</a:t>
            </a:r>
            <a:endParaRPr lang="en-US" sz="1300" dirty="0"/>
          </a:p>
        </p:txBody>
      </p:sp>
      <p:sp>
        <p:nvSpPr>
          <p:cNvPr id="12" name="Text 10"/>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708090"/>
                </a:solidFill>
                <a:latin typeface="Calibri" pitchFamily="34" charset="0"/>
                <a:ea typeface="Calibri" pitchFamily="34" charset="-122"/>
                <a:cs typeface="Calibri" pitchFamily="34" charset="-120"/>
              </a:rPr>
              <a:t>25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7448</Words>
  <Application>Microsoft Office PowerPoint</Application>
  <PresentationFormat>Widescreen</PresentationFormat>
  <Paragraphs>651</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course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PathWise AI — Team Pathfinders</dc:title>
  <dc:subject>PptxGenJS Presentation</dc:subject>
  <dc:creator>Team Pathfinders, COSC 6370-001</dc:creator>
  <cp:lastModifiedBy>SRICHARITHA KATTA</cp:lastModifiedBy>
  <cp:revision>3</cp:revision>
  <dcterms:created xsi:type="dcterms:W3CDTF">2026-04-21T05:47:29Z</dcterms:created>
  <dcterms:modified xsi:type="dcterms:W3CDTF">2026-04-21T18:50:49Z</dcterms:modified>
</cp:coreProperties>
</file>