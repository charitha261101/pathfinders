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Welcome the audience. Introduce the project: PathWise AI is an AI-powered SD-WAN management platform that predicts network failures before they occur using LSTM deep learning. Introduce team members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(Meghana): Explain the 'switching gap' — the window between when a link starts degrading and when the system actually switches traffic. Traditional systems wait for failure. By then it's too late. Mention real-world impacts: healthcare, finance, retail. Quote the downtime cost stat.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(Meghana): State the core mission: transform SD-WAN from reactive to predictive. Five goals map directly to the five product features. Emphasize vendor-agnostic approach — no hardware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(Bharadwaj): Walk through each competitor. Emphasize the 'No' column — no competitor offers true AI prediction. The amber callout summarizes the gap. PathWise AI is the first row to answer 'Yes' to both AI and SME friendliness.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(Vineeth): Describe the end-to-end pipeline. Emphasize 'overlay' — PathWise AI sits on top of existing infrastructure, no hardware replacement. Walk the five stages left-to-right. Close with the four differentiators.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(Vineeth): Describe the four layers from bottom to top. Data flows upward: network devices → ingestion → AI engine → control layer → UI. Cross-cutting services (auth, audit) apply across all layers. The adapter pattern allows support for multiple SDN controllers.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(Bharadwaj): Explain why LSTM is ideal for time-series prediction. The attention mechanism means recent data matters more than older data. 90% accuracy target was validated on simulated Mininet datasets. 30-second forecast window is enough to reroute traffic before users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(Vineeth): The key innovation is PRE-EMPTIVE rerouting. Before the link fails, traffic is already on a new path. Redis pub/sub ensures sub-millisecond event delivery. Adapter pattern means we support both OpenDaylight and ONOS without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(Sricharitha): The Digital Twin is PathWise AI's safety net. No other SME SD-WAN product does this. Mininet uses Linux network namespaces to simulate the full network. Batfish is an open-source config analysis tool. The 5-second target means the safety check doesn't delay the handoff meaningfully.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(Sricharitha): The IBN feature removes the single biggest SME adoption barrier: needing a CCNP-certified engineer. Template-based NLP keeps translations deterministic and safe — we deliberately chose controlled vocabulary over open-ended LLMs to prevent misconfigurations.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(Meghana): The scoreboard is the trust layer — network admins see WHY the AI made a decision, not just what it did. Color coding (green/amber/red) lets operators assess network health at a glance. The predictive alert banner shown here represents the 5G link brownout scenario from our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(Sricharitha): All open-source — no licensing costs. PyTorch chosen for dynamic computation graphs needed during model iteration. FastAPI is async by default, essential for the 50ms failover target. The full stack runs in Docker containers for portability.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(Bharadwaj): Walk through each screen briefly. Emphasize the dark sidebar + light content area design for extended monitoring. Color coding is consistent throughout: green &gt;80, amber 50–79, red &lt;50. The Audit Log supports HIPAA compliance for healthcare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(Vineeth): Timeline shows six milestones aligned to the academic semester. WBS table shows how 600 hours distributed across all four team members. AI/ML development received the highest allocation (100+ hours) reflecting core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(Bharadwaj): Five-tier testing strategy from unit to system. LSTM model accuracy is quantitatively validated — not just qualitatively assessed. Performance tests enforce the quality targets from SRS. STD document covers all test cases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(Meghana): These six metrics are the measurable success criteria from the SRS. Each maps to a specific requirement. Emphasis: these are quantitative targets, not subjective assessments. The 50ms failover target is only achievable with Redis pub/sub (not database polling).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(Bharadwaj): This is the core differentiation slide. Walk through each row. Key points: (1) Prediction vs reaction — fundamental paradigm shift. (2) Digital Twin is unique — no competitor validates AI changes in a sandbox. (3) IBN removes the expert barrier. (4) Open-source stack democratizes enterprise networking for SMEs.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(Sricharitha): PathWise AI is built for extensibility. Phase 2 extends AI capabilities and adds MSP-focused features. Phase 3 tackles enterprise scale with federated learning. Phase 4 envisions fully autonomous network operations. The open-source microservices architecture makes these extensions tractable.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Each team member presents one takeaway. Close by reiterating the core paradigm shift: from reactive to predictive. Invite questions. Offer to demo the IBN interface or walk through a specific feature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28090"/>
          </a:solidFill>
          <a:ln/>
        </p:spPr>
      </p:sp>
      <p:sp>
        <p:nvSpPr>
          <p:cNvPr id="3" name="Shape 1"/>
          <p:cNvSpPr/>
          <p:nvPr/>
        </p:nvSpPr>
        <p:spPr>
          <a:xfrm>
            <a:off x="228600" y="228600"/>
            <a:ext cx="228600" cy="228600"/>
          </a:xfrm>
          <a:prstGeom prst="ellipse">
            <a:avLst/>
          </a:prstGeom>
          <a:solidFill>
            <a:srgbClr val="FFFFFF">
              <a:alpha val="30000"/>
            </a:srgbClr>
          </a:solidFill>
          <a:ln w="12700">
            <a:solidFill>
              <a:srgbClr val="FFFFFF">
                <a:alpha val="30000"/>
              </a:srgbClr>
            </a:solidFill>
            <a:prstDash val="solid"/>
          </a:ln>
        </p:spPr>
      </p:sp>
      <p:sp>
        <p:nvSpPr>
          <p:cNvPr id="4" name="Shape 2"/>
          <p:cNvSpPr/>
          <p:nvPr/>
        </p:nvSpPr>
        <p:spPr>
          <a:xfrm>
            <a:off x="731520" y="228600"/>
            <a:ext cx="228600" cy="228600"/>
          </a:xfrm>
          <a:prstGeom prst="ellipse">
            <a:avLst/>
          </a:prstGeom>
          <a:solidFill>
            <a:srgbClr val="FFFFFF">
              <a:alpha val="30000"/>
            </a:srgbClr>
          </a:solidFill>
          <a:ln w="12700">
            <a:solidFill>
              <a:srgbClr val="FFFFFF">
                <a:alpha val="30000"/>
              </a:srgbClr>
            </a:solidFill>
            <a:prstDash val="solid"/>
          </a:ln>
        </p:spPr>
      </p:sp>
      <p:sp>
        <p:nvSpPr>
          <p:cNvPr id="5" name="Shape 3"/>
          <p:cNvSpPr/>
          <p:nvPr/>
        </p:nvSpPr>
        <p:spPr>
          <a:xfrm>
            <a:off x="1234440" y="228600"/>
            <a:ext cx="228600" cy="228600"/>
          </a:xfrm>
          <a:prstGeom prst="ellipse">
            <a:avLst/>
          </a:prstGeom>
          <a:solidFill>
            <a:srgbClr val="FFFFFF">
              <a:alpha val="30000"/>
            </a:srgbClr>
          </a:solidFill>
          <a:ln w="12700">
            <a:solidFill>
              <a:srgbClr val="FFFFFF">
                <a:alpha val="30000"/>
              </a:srgbClr>
            </a:solidFill>
            <a:prstDash val="solid"/>
          </a:ln>
        </p:spPr>
      </p:sp>
      <p:sp>
        <p:nvSpPr>
          <p:cNvPr id="6" name="Shape 4"/>
          <p:cNvSpPr/>
          <p:nvPr/>
        </p:nvSpPr>
        <p:spPr>
          <a:xfrm>
            <a:off x="1737360" y="228600"/>
            <a:ext cx="228600" cy="228600"/>
          </a:xfrm>
          <a:prstGeom prst="ellipse">
            <a:avLst/>
          </a:prstGeom>
          <a:solidFill>
            <a:srgbClr val="FFFFFF">
              <a:alpha val="30000"/>
            </a:srgbClr>
          </a:solidFill>
          <a:ln w="12700">
            <a:solidFill>
              <a:srgbClr val="FFFFFF">
                <a:alpha val="30000"/>
              </a:srgbClr>
            </a:solidFill>
            <a:prstDash val="solid"/>
          </a:ln>
        </p:spPr>
      </p:sp>
      <p:sp>
        <p:nvSpPr>
          <p:cNvPr id="7" name="Shape 5"/>
          <p:cNvSpPr/>
          <p:nvPr/>
        </p:nvSpPr>
        <p:spPr>
          <a:xfrm>
            <a:off x="2240280" y="228600"/>
            <a:ext cx="228600" cy="228600"/>
          </a:xfrm>
          <a:prstGeom prst="ellipse">
            <a:avLst/>
          </a:prstGeom>
          <a:solidFill>
            <a:srgbClr val="FFFFFF">
              <a:alpha val="30000"/>
            </a:srgbClr>
          </a:solidFill>
          <a:ln w="12700">
            <a:solidFill>
              <a:srgbClr val="FFFFFF">
                <a:alpha val="30000"/>
              </a:srgbClr>
            </a:solidFill>
            <a:prstDash val="solid"/>
          </a:ln>
        </p:spPr>
      </p:sp>
      <p:pic>
        <p:nvPicPr>
          <p:cNvPr id="8" name="Image 0" descr="preencoded.png">    </p:cNvPr>
          <p:cNvPicPr>
            <a:picLocks noChangeAspect="1"/>
          </p:cNvPicPr>
          <p:nvPr/>
        </p:nvPicPr>
        <p:blipFill>
          <a:blip r:embed="rId1"/>
          <a:stretch>
            <a:fillRect/>
          </a:stretch>
        </p:blipFill>
        <p:spPr>
          <a:xfrm>
            <a:off x="1280160" y="914400"/>
            <a:ext cx="914400" cy="914400"/>
          </a:xfrm>
          <a:prstGeom prst="rect">
            <a:avLst/>
          </a:prstGeom>
        </p:spPr>
      </p:pic>
      <p:sp>
        <p:nvSpPr>
          <p:cNvPr id="9" name="Text 6"/>
          <p:cNvSpPr/>
          <p:nvPr/>
        </p:nvSpPr>
        <p:spPr>
          <a:xfrm>
            <a:off x="137160" y="1920240"/>
            <a:ext cx="3200400" cy="640080"/>
          </a:xfrm>
          <a:prstGeom prst="rect">
            <a:avLst/>
          </a:prstGeom>
          <a:noFill/>
          <a:ln/>
        </p:spPr>
        <p:txBody>
          <a:bodyPr wrap="square" lIns="0" tIns="0" rIns="0" bIns="0" rtlCol="0" anchor="ctr"/>
          <a:lstStyle/>
          <a:p>
            <a:pPr algn="ctr" indent="0" marL="0">
              <a:buNone/>
            </a:pPr>
            <a:r>
              <a:rPr lang="en-US" sz="2600" b="1" dirty="0">
                <a:solidFill>
                  <a:srgbClr val="FFFFFF"/>
                </a:solidFill>
              </a:rPr>
              <a:t>PathWise AI</a:t>
            </a:r>
            <a:endParaRPr lang="en-US" sz="2600" dirty="0"/>
          </a:p>
        </p:txBody>
      </p:sp>
      <p:sp>
        <p:nvSpPr>
          <p:cNvPr id="10" name="Text 7"/>
          <p:cNvSpPr/>
          <p:nvPr/>
        </p:nvSpPr>
        <p:spPr>
          <a:xfrm>
            <a:off x="137160" y="2606040"/>
            <a:ext cx="3200400" cy="685800"/>
          </a:xfrm>
          <a:prstGeom prst="rect">
            <a:avLst/>
          </a:prstGeom>
          <a:noFill/>
          <a:ln/>
        </p:spPr>
        <p:txBody>
          <a:bodyPr wrap="square" lIns="0" tIns="0" rIns="0" bIns="0" rtlCol="0" anchor="ctr"/>
          <a:lstStyle/>
          <a:p>
            <a:pPr algn="ctr" indent="0" marL="0">
              <a:buNone/>
            </a:pPr>
            <a:r>
              <a:rPr lang="en-US" sz="1300" dirty="0">
                <a:solidFill>
                  <a:srgbClr val="FFFFFF"/>
                </a:solidFill>
              </a:rPr>
              <a:t>Intelligent SD-WAN</a:t>
            </a:r>
            <a:endParaRPr lang="en-US" sz="1300" dirty="0"/>
          </a:p>
          <a:p>
            <a:pPr algn="ctr" indent="0" marL="0">
              <a:buNone/>
            </a:pPr>
            <a:r>
              <a:rPr lang="en-US" sz="1300" dirty="0">
                <a:solidFill>
                  <a:srgbClr val="FFFFFF"/>
                </a:solidFill>
              </a:rPr>
              <a:t>Management Platform</a:t>
            </a:r>
            <a:endParaRPr lang="en-US" sz="1300" dirty="0"/>
          </a:p>
        </p:txBody>
      </p:sp>
      <p:sp>
        <p:nvSpPr>
          <p:cNvPr id="11" name="Shape 8"/>
          <p:cNvSpPr/>
          <p:nvPr/>
        </p:nvSpPr>
        <p:spPr>
          <a:xfrm>
            <a:off x="1371600" y="4389120"/>
            <a:ext cx="109728" cy="109728"/>
          </a:xfrm>
          <a:prstGeom prst="ellipse">
            <a:avLst/>
          </a:prstGeom>
          <a:solidFill>
            <a:srgbClr val="FFFFFF">
              <a:alpha val="60000"/>
            </a:srgbClr>
          </a:solidFill>
          <a:ln w="12700">
            <a:solidFill>
              <a:srgbClr val="FFFFFF">
                <a:alpha val="60000"/>
              </a:srgbClr>
            </a:solidFill>
            <a:prstDash val="solid"/>
          </a:ln>
        </p:spPr>
      </p:sp>
      <p:sp>
        <p:nvSpPr>
          <p:cNvPr id="12" name="Shape 9"/>
          <p:cNvSpPr/>
          <p:nvPr/>
        </p:nvSpPr>
        <p:spPr>
          <a:xfrm>
            <a:off x="1554480" y="4389120"/>
            <a:ext cx="109728" cy="109728"/>
          </a:xfrm>
          <a:prstGeom prst="ellipse">
            <a:avLst/>
          </a:prstGeom>
          <a:solidFill>
            <a:srgbClr val="FFFFFF">
              <a:alpha val="60000"/>
            </a:srgbClr>
          </a:solidFill>
          <a:ln w="12700">
            <a:solidFill>
              <a:srgbClr val="FFFFFF">
                <a:alpha val="60000"/>
              </a:srgbClr>
            </a:solidFill>
            <a:prstDash val="solid"/>
          </a:ln>
        </p:spPr>
      </p:sp>
      <p:sp>
        <p:nvSpPr>
          <p:cNvPr id="13" name="Shape 10"/>
          <p:cNvSpPr/>
          <p:nvPr/>
        </p:nvSpPr>
        <p:spPr>
          <a:xfrm>
            <a:off x="1737360" y="4389120"/>
            <a:ext cx="109728" cy="109728"/>
          </a:xfrm>
          <a:prstGeom prst="ellipse">
            <a:avLst/>
          </a:prstGeom>
          <a:solidFill>
            <a:srgbClr val="FFFFFF">
              <a:alpha val="60000"/>
            </a:srgbClr>
          </a:solidFill>
          <a:ln w="12700">
            <a:solidFill>
              <a:srgbClr val="FFFFFF">
                <a:alpha val="60000"/>
              </a:srgbClr>
            </a:solidFill>
            <a:prstDash val="solid"/>
          </a:ln>
        </p:spPr>
      </p:sp>
      <p:sp>
        <p:nvSpPr>
          <p:cNvPr id="14" name="Text 11"/>
          <p:cNvSpPr/>
          <p:nvPr/>
        </p:nvSpPr>
        <p:spPr>
          <a:xfrm>
            <a:off x="3749040" y="548640"/>
            <a:ext cx="5120640" cy="365760"/>
          </a:xfrm>
          <a:prstGeom prst="rect">
            <a:avLst/>
          </a:prstGeom>
          <a:noFill/>
          <a:ln/>
        </p:spPr>
        <p:txBody>
          <a:bodyPr wrap="square" lIns="0" tIns="0" rIns="0" bIns="0" rtlCol="0" anchor="ctr"/>
          <a:lstStyle/>
          <a:p>
            <a:pPr indent="0" marL="0">
              <a:buNone/>
            </a:pPr>
            <a:r>
              <a:rPr lang="en-US" sz="1200" i="1" dirty="0">
                <a:solidFill>
                  <a:srgbClr val="00A896"/>
                </a:solidFill>
              </a:rPr>
              <a:t>Final Project Presentation</a:t>
            </a:r>
            <a:endParaRPr lang="en-US" sz="1200" dirty="0"/>
          </a:p>
        </p:txBody>
      </p:sp>
      <p:sp>
        <p:nvSpPr>
          <p:cNvPr id="15" name="Text 12"/>
          <p:cNvSpPr/>
          <p:nvPr/>
        </p:nvSpPr>
        <p:spPr>
          <a:xfrm>
            <a:off x="3749040" y="1005840"/>
            <a:ext cx="5120640" cy="1097280"/>
          </a:xfrm>
          <a:prstGeom prst="rect">
            <a:avLst/>
          </a:prstGeom>
          <a:noFill/>
          <a:ln/>
        </p:spPr>
        <p:txBody>
          <a:bodyPr wrap="square" lIns="0" tIns="0" rIns="0" bIns="0" rtlCol="0" anchor="ctr"/>
          <a:lstStyle/>
          <a:p>
            <a:pPr indent="0" marL="0">
              <a:buNone/>
            </a:pPr>
            <a:r>
              <a:rPr lang="en-US" sz="2400" b="1" dirty="0">
                <a:solidFill>
                  <a:srgbClr val="FFFFFF"/>
                </a:solidFill>
              </a:rPr>
              <a:t>Predicting Network Failures Before They Happen</a:t>
            </a:r>
            <a:endParaRPr lang="en-US" sz="2400" dirty="0"/>
          </a:p>
        </p:txBody>
      </p:sp>
      <p:sp>
        <p:nvSpPr>
          <p:cNvPr id="16" name="Text 13"/>
          <p:cNvSpPr/>
          <p:nvPr/>
        </p:nvSpPr>
        <p:spPr>
          <a:xfrm>
            <a:off x="3749040" y="2194560"/>
            <a:ext cx="5120640" cy="822960"/>
          </a:xfrm>
          <a:prstGeom prst="rect">
            <a:avLst/>
          </a:prstGeom>
          <a:noFill/>
          <a:ln/>
        </p:spPr>
        <p:txBody>
          <a:bodyPr wrap="square" lIns="0" tIns="0" rIns="0" bIns="0" rtlCol="0" anchor="ctr"/>
          <a:lstStyle/>
          <a:p>
            <a:pPr indent="0" marL="0">
              <a:buNone/>
            </a:pPr>
            <a:r>
              <a:rPr lang="en-US" sz="1300" dirty="0">
                <a:solidFill>
                  <a:srgbClr val="E2E8F0"/>
                </a:solidFill>
              </a:rPr>
              <a:t>An AI-Powered SD-WAN Platform Using LSTM Deep Learning,</a:t>
            </a:r>
            <a:endParaRPr lang="en-US" sz="1300" dirty="0"/>
          </a:p>
          <a:p>
            <a:pPr indent="0" marL="0">
              <a:buNone/>
            </a:pPr>
            <a:r>
              <a:rPr lang="en-US" sz="1300" dirty="0">
                <a:solidFill>
                  <a:srgbClr val="E2E8F0"/>
                </a:solidFill>
              </a:rPr>
              <a:t>Digital Twin Validation &amp; Intent-Based Networking</a:t>
            </a:r>
            <a:endParaRPr lang="en-US" sz="1300" dirty="0"/>
          </a:p>
        </p:txBody>
      </p:sp>
      <p:sp>
        <p:nvSpPr>
          <p:cNvPr id="17" name="Shape 14"/>
          <p:cNvSpPr/>
          <p:nvPr/>
        </p:nvSpPr>
        <p:spPr>
          <a:xfrm>
            <a:off x="3749040" y="3154680"/>
            <a:ext cx="5120640" cy="1463040"/>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18" name="Text 15"/>
          <p:cNvSpPr/>
          <p:nvPr/>
        </p:nvSpPr>
        <p:spPr>
          <a:xfrm>
            <a:off x="3840480" y="3246120"/>
            <a:ext cx="4937760" cy="320040"/>
          </a:xfrm>
          <a:prstGeom prst="rect">
            <a:avLst/>
          </a:prstGeom>
          <a:noFill/>
          <a:ln/>
        </p:spPr>
        <p:txBody>
          <a:bodyPr wrap="square" lIns="0" tIns="0" rIns="0" bIns="0" rtlCol="0" anchor="ctr"/>
          <a:lstStyle/>
          <a:p>
            <a:pPr indent="0" marL="0">
              <a:buNone/>
            </a:pPr>
            <a:r>
              <a:rPr lang="en-US" sz="1100" b="1" dirty="0">
                <a:solidFill>
                  <a:srgbClr val="00A896"/>
                </a:solidFill>
              </a:rPr>
              <a:t>Team Pathfinders</a:t>
            </a:r>
            <a:endParaRPr lang="en-US" sz="1100" dirty="0"/>
          </a:p>
        </p:txBody>
      </p:sp>
      <p:sp>
        <p:nvSpPr>
          <p:cNvPr id="19" name="Text 16"/>
          <p:cNvSpPr/>
          <p:nvPr/>
        </p:nvSpPr>
        <p:spPr>
          <a:xfrm>
            <a:off x="3840480" y="3584448"/>
            <a:ext cx="4937760" cy="777240"/>
          </a:xfrm>
          <a:prstGeom prst="rect">
            <a:avLst/>
          </a:prstGeom>
          <a:noFill/>
          <a:ln/>
        </p:spPr>
        <p:txBody>
          <a:bodyPr wrap="square" lIns="0" tIns="0" rIns="0" bIns="0" rtlCol="0" anchor="ctr"/>
          <a:lstStyle/>
          <a:p>
            <a:pPr indent="0" marL="0">
              <a:buNone/>
            </a:pPr>
            <a:r>
              <a:rPr lang="en-US" sz="1200" dirty="0">
                <a:solidFill>
                  <a:srgbClr val="FFFFFF"/>
                </a:solidFill>
              </a:rPr>
              <a:t>Meghana Nalluri  |  Bharadwaj Jakkula
</a:t>
            </a:r>
            <a:endParaRPr lang="en-US" sz="1200" dirty="0"/>
          </a:p>
          <a:p>
            <a:pPr indent="0" marL="0">
              <a:buNone/>
            </a:pPr>
            <a:r>
              <a:rPr lang="en-US" sz="1200" dirty="0">
                <a:solidFill>
                  <a:srgbClr val="FFFFFF"/>
                </a:solidFill>
              </a:rPr>
              <a:t>Sricharitha Katta  |  Vineeth Reddy Kodakandla</a:t>
            </a:r>
            <a:endParaRPr lang="en-US" sz="1200" dirty="0"/>
          </a:p>
        </p:txBody>
      </p:sp>
      <p:sp>
        <p:nvSpPr>
          <p:cNvPr id="20" name="Text 17"/>
          <p:cNvSpPr/>
          <p:nvPr/>
        </p:nvSpPr>
        <p:spPr>
          <a:xfrm>
            <a:off x="3749040" y="4709160"/>
            <a:ext cx="5120640" cy="274320"/>
          </a:xfrm>
          <a:prstGeom prst="rect">
            <a:avLst/>
          </a:prstGeom>
          <a:noFill/>
          <a:ln/>
        </p:spPr>
        <p:txBody>
          <a:bodyPr wrap="square" lIns="0" tIns="0" rIns="0" bIns="0" rtlCol="0" anchor="ctr"/>
          <a:lstStyle/>
          <a:p>
            <a:pPr indent="0" marL="0">
              <a:buNone/>
            </a:pPr>
            <a:r>
              <a:rPr lang="en-US" sz="1000" dirty="0">
                <a:solidFill>
                  <a:srgbClr val="94A3B8"/>
                </a:solidFill>
              </a:rPr>
              <a:t>COSC 6370-001 · Advanced Software Engineering · Spring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200" b="1" dirty="0">
                <a:solidFill>
                  <a:srgbClr val="FFFFFF"/>
                </a:solidFill>
              </a:rPr>
              <a:t>The Problem: The Switching Gap</a:t>
            </a:r>
            <a:endParaRPr lang="en-US" sz="2200" dirty="0"/>
          </a:p>
        </p:txBody>
      </p:sp>
      <p:sp>
        <p:nvSpPr>
          <p:cNvPr id="4" name="Shape 2"/>
          <p:cNvSpPr/>
          <p:nvPr/>
        </p:nvSpPr>
        <p:spPr>
          <a:xfrm>
            <a:off x="274320" y="822960"/>
            <a:ext cx="8595360" cy="914400"/>
          </a:xfrm>
          <a:prstGeom prst="rect">
            <a:avLst/>
          </a:prstGeom>
          <a:solidFill>
            <a:srgbClr val="EF4444">
              <a:alpha val="88000"/>
            </a:srgbClr>
          </a:solidFill>
          <a:ln/>
          <a:effectLst>
            <a:outerShdw sx="100000" sy="100000" kx="0" ky="0" algn="bl" rotWithShape="0" blurRad="101600" dist="38100" dir="81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11480" y="886968"/>
            <a:ext cx="502920" cy="502920"/>
          </a:xfrm>
          <a:prstGeom prst="rect">
            <a:avLst/>
          </a:prstGeom>
        </p:spPr>
      </p:pic>
      <p:sp>
        <p:nvSpPr>
          <p:cNvPr id="6" name="Text 3"/>
          <p:cNvSpPr/>
          <p:nvPr/>
        </p:nvSpPr>
        <p:spPr>
          <a:xfrm>
            <a:off x="1051560" y="822960"/>
            <a:ext cx="7589520" cy="914400"/>
          </a:xfrm>
          <a:prstGeom prst="rect">
            <a:avLst/>
          </a:prstGeom>
          <a:noFill/>
          <a:ln/>
        </p:spPr>
        <p:txBody>
          <a:bodyPr wrap="square" lIns="0" tIns="0" rIns="0" bIns="0" rtlCol="0" anchor="ctr"/>
          <a:lstStyle/>
          <a:p>
            <a:pPr indent="0" marL="0">
              <a:buNone/>
            </a:pPr>
            <a:r>
              <a:rPr lang="en-US" sz="1400" dirty="0">
                <a:solidFill>
                  <a:srgbClr val="0D1B2A"/>
                </a:solidFill>
              </a:rPr>
              <a:t>Traditional SD-WAN systems only react AFTER network failure — causing the </a:t>
            </a:r>
            <a:pPr indent="0" marL="0">
              <a:buNone/>
            </a:pPr>
            <a:r>
              <a:rPr lang="en-US" sz="1400" b="1" dirty="0">
                <a:solidFill>
                  <a:srgbClr val="0D1B2A"/>
                </a:solidFill>
              </a:rPr>
              <a:t>"Switching Gap"</a:t>
            </a:r>
            <a:pPr indent="0" marL="0">
              <a:buNone/>
            </a:pPr>
            <a:r>
              <a:rPr lang="en-US" sz="1400" dirty="0">
                <a:solidFill>
                  <a:srgbClr val="0D1B2A"/>
                </a:solidFill>
              </a:rPr>
              <a:t> where packets are lost, calls drop, and business operations halt.</a:t>
            </a:r>
            <a:endParaRPr lang="en-US" sz="1400" dirty="0"/>
          </a:p>
        </p:txBody>
      </p:sp>
      <p:sp>
        <p:nvSpPr>
          <p:cNvPr id="7" name="Shape 4"/>
          <p:cNvSpPr/>
          <p:nvPr/>
        </p:nvSpPr>
        <p:spPr>
          <a:xfrm>
            <a:off x="274320" y="1920240"/>
            <a:ext cx="2743200" cy="1874520"/>
          </a:xfrm>
          <a:prstGeom prst="rect">
            <a:avLst/>
          </a:prstGeom>
          <a:solidFill>
            <a:srgbClr val="FFFFFF"/>
          </a:solidFill>
          <a:ln/>
          <a:effectLst>
            <a:outerShdw sx="100000" sy="100000" kx="0" ky="0" algn="bl" rotWithShape="0" blurRad="101600" dist="38100" dir="8100000">
              <a:srgbClr val="000000">
                <a:alpha val="18000"/>
              </a:srgbClr>
            </a:outerShdw>
          </a:effectLst>
        </p:spPr>
      </p:sp>
      <p:pic>
        <p:nvPicPr>
          <p:cNvPr id="8" name="Image 1" descr="preencoded.png">    </p:cNvPr>
          <p:cNvPicPr>
            <a:picLocks noChangeAspect="1"/>
          </p:cNvPicPr>
          <p:nvPr/>
        </p:nvPicPr>
        <p:blipFill>
          <a:blip r:embed="rId2"/>
          <a:stretch>
            <a:fillRect/>
          </a:stretch>
        </p:blipFill>
        <p:spPr>
          <a:xfrm>
            <a:off x="1371600" y="2011680"/>
            <a:ext cx="502920" cy="502920"/>
          </a:xfrm>
          <a:prstGeom prst="rect">
            <a:avLst/>
          </a:prstGeom>
        </p:spPr>
      </p:pic>
      <p:sp>
        <p:nvSpPr>
          <p:cNvPr id="9" name="Text 5"/>
          <p:cNvSpPr/>
          <p:nvPr/>
        </p:nvSpPr>
        <p:spPr>
          <a:xfrm>
            <a:off x="365760" y="2578608"/>
            <a:ext cx="2560320" cy="320040"/>
          </a:xfrm>
          <a:prstGeom prst="rect">
            <a:avLst/>
          </a:prstGeom>
          <a:noFill/>
          <a:ln/>
        </p:spPr>
        <p:txBody>
          <a:bodyPr wrap="square" lIns="0" tIns="0" rIns="0" bIns="0" rtlCol="0" anchor="ctr"/>
          <a:lstStyle/>
          <a:p>
            <a:pPr algn="ctr" indent="0" marL="0">
              <a:buNone/>
            </a:pPr>
            <a:r>
              <a:rPr lang="en-US" sz="1300" b="1" dirty="0">
                <a:solidFill>
                  <a:srgbClr val="0D1B2A"/>
                </a:solidFill>
              </a:rPr>
              <a:t>Dropped Calls</a:t>
            </a:r>
            <a:endParaRPr lang="en-US" sz="1300" dirty="0"/>
          </a:p>
        </p:txBody>
      </p:sp>
      <p:sp>
        <p:nvSpPr>
          <p:cNvPr id="10" name="Text 6"/>
          <p:cNvSpPr/>
          <p:nvPr/>
        </p:nvSpPr>
        <p:spPr>
          <a:xfrm>
            <a:off x="365760" y="2926080"/>
            <a:ext cx="2560320" cy="777240"/>
          </a:xfrm>
          <a:prstGeom prst="rect">
            <a:avLst/>
          </a:prstGeom>
          <a:noFill/>
          <a:ln/>
        </p:spPr>
        <p:txBody>
          <a:bodyPr wrap="square" lIns="0" tIns="0" rIns="0" bIns="0" rtlCol="0" anchor="ctr"/>
          <a:lstStyle/>
          <a:p>
            <a:pPr algn="ctr" indent="0" marL="0">
              <a:buNone/>
            </a:pPr>
            <a:r>
              <a:rPr lang="en-US" sz="1100" dirty="0">
                <a:solidFill>
                  <a:srgbClr val="334155"/>
                </a:solidFill>
              </a:rPr>
              <a:t>VoIP &amp; video conferencing fail mid-session during critical business meetings</a:t>
            </a:r>
            <a:endParaRPr lang="en-US" sz="1100" dirty="0"/>
          </a:p>
        </p:txBody>
      </p:sp>
      <p:sp>
        <p:nvSpPr>
          <p:cNvPr id="11" name="Shape 7"/>
          <p:cNvSpPr/>
          <p:nvPr/>
        </p:nvSpPr>
        <p:spPr>
          <a:xfrm>
            <a:off x="3246120" y="1920240"/>
            <a:ext cx="2743200" cy="1874520"/>
          </a:xfrm>
          <a:prstGeom prst="rect">
            <a:avLst/>
          </a:prstGeom>
          <a:solidFill>
            <a:srgbClr val="FFFFFF"/>
          </a:solidFill>
          <a:ln/>
          <a:effectLst>
            <a:outerShdw sx="100000" sy="100000" kx="0" ky="0" algn="bl" rotWithShape="0" blurRad="101600" dist="38100" dir="8100000">
              <a:srgbClr val="000000">
                <a:alpha val="18000"/>
              </a:srgbClr>
            </a:outerShdw>
          </a:effectLst>
        </p:spPr>
      </p:sp>
      <p:pic>
        <p:nvPicPr>
          <p:cNvPr id="12" name="Image 2" descr="preencoded.png">    </p:cNvPr>
          <p:cNvPicPr>
            <a:picLocks noChangeAspect="1"/>
          </p:cNvPicPr>
          <p:nvPr/>
        </p:nvPicPr>
        <p:blipFill>
          <a:blip r:embed="rId3"/>
          <a:stretch>
            <a:fillRect/>
          </a:stretch>
        </p:blipFill>
        <p:spPr>
          <a:xfrm>
            <a:off x="4343400" y="2011680"/>
            <a:ext cx="502920" cy="502920"/>
          </a:xfrm>
          <a:prstGeom prst="rect">
            <a:avLst/>
          </a:prstGeom>
        </p:spPr>
      </p:pic>
      <p:sp>
        <p:nvSpPr>
          <p:cNvPr id="13" name="Text 8"/>
          <p:cNvSpPr/>
          <p:nvPr/>
        </p:nvSpPr>
        <p:spPr>
          <a:xfrm>
            <a:off x="3337560" y="2578608"/>
            <a:ext cx="2560320" cy="320040"/>
          </a:xfrm>
          <a:prstGeom prst="rect">
            <a:avLst/>
          </a:prstGeom>
          <a:noFill/>
          <a:ln/>
        </p:spPr>
        <p:txBody>
          <a:bodyPr wrap="square" lIns="0" tIns="0" rIns="0" bIns="0" rtlCol="0" anchor="ctr"/>
          <a:lstStyle/>
          <a:p>
            <a:pPr algn="ctr" indent="0" marL="0">
              <a:buNone/>
            </a:pPr>
            <a:r>
              <a:rPr lang="en-US" sz="1300" b="1" dirty="0">
                <a:solidFill>
                  <a:srgbClr val="0D1B2A"/>
                </a:solidFill>
              </a:rPr>
              <a:t>Failed Transactions</a:t>
            </a:r>
            <a:endParaRPr lang="en-US" sz="1300" dirty="0"/>
          </a:p>
        </p:txBody>
      </p:sp>
      <p:sp>
        <p:nvSpPr>
          <p:cNvPr id="14" name="Text 9"/>
          <p:cNvSpPr/>
          <p:nvPr/>
        </p:nvSpPr>
        <p:spPr>
          <a:xfrm>
            <a:off x="3337560" y="2926080"/>
            <a:ext cx="2560320" cy="777240"/>
          </a:xfrm>
          <a:prstGeom prst="rect">
            <a:avLst/>
          </a:prstGeom>
          <a:noFill/>
          <a:ln/>
        </p:spPr>
        <p:txBody>
          <a:bodyPr wrap="square" lIns="0" tIns="0" rIns="0" bIns="0" rtlCol="0" anchor="ctr"/>
          <a:lstStyle/>
          <a:p>
            <a:pPr algn="ctr" indent="0" marL="0">
              <a:buNone/>
            </a:pPr>
            <a:r>
              <a:rPr lang="en-US" sz="1100" dirty="0">
                <a:solidFill>
                  <a:srgbClr val="334155"/>
                </a:solidFill>
              </a:rPr>
              <a:t>Financial transactions abort, retail POS systems freeze, cloud apps disconnect</a:t>
            </a:r>
            <a:endParaRPr lang="en-US" sz="1100" dirty="0"/>
          </a:p>
        </p:txBody>
      </p:sp>
      <p:sp>
        <p:nvSpPr>
          <p:cNvPr id="15" name="Shape 10"/>
          <p:cNvSpPr/>
          <p:nvPr/>
        </p:nvSpPr>
        <p:spPr>
          <a:xfrm>
            <a:off x="6217920" y="1920240"/>
            <a:ext cx="2743200" cy="1874520"/>
          </a:xfrm>
          <a:prstGeom prst="rect">
            <a:avLst/>
          </a:prstGeom>
          <a:solidFill>
            <a:srgbClr val="FFFFFF"/>
          </a:solidFill>
          <a:ln/>
          <a:effectLst>
            <a:outerShdw sx="100000" sy="100000" kx="0" ky="0" algn="bl" rotWithShape="0" blurRad="101600" dist="38100" dir="8100000">
              <a:srgbClr val="000000">
                <a:alpha val="18000"/>
              </a:srgbClr>
            </a:outerShdw>
          </a:effectLst>
        </p:spPr>
      </p:sp>
      <p:pic>
        <p:nvPicPr>
          <p:cNvPr id="16" name="Image 3" descr="preencoded.png">    </p:cNvPr>
          <p:cNvPicPr>
            <a:picLocks noChangeAspect="1"/>
          </p:cNvPicPr>
          <p:nvPr/>
        </p:nvPicPr>
        <p:blipFill>
          <a:blip r:embed="rId4"/>
          <a:stretch>
            <a:fillRect/>
          </a:stretch>
        </p:blipFill>
        <p:spPr>
          <a:xfrm>
            <a:off x="7315200" y="2011680"/>
            <a:ext cx="502920" cy="502920"/>
          </a:xfrm>
          <a:prstGeom prst="rect">
            <a:avLst/>
          </a:prstGeom>
        </p:spPr>
      </p:pic>
      <p:sp>
        <p:nvSpPr>
          <p:cNvPr id="17" name="Text 11"/>
          <p:cNvSpPr/>
          <p:nvPr/>
        </p:nvSpPr>
        <p:spPr>
          <a:xfrm>
            <a:off x="6309360" y="2578608"/>
            <a:ext cx="2560320" cy="320040"/>
          </a:xfrm>
          <a:prstGeom prst="rect">
            <a:avLst/>
          </a:prstGeom>
          <a:noFill/>
          <a:ln/>
        </p:spPr>
        <p:txBody>
          <a:bodyPr wrap="square" lIns="0" tIns="0" rIns="0" bIns="0" rtlCol="0" anchor="ctr"/>
          <a:lstStyle/>
          <a:p>
            <a:pPr algn="ctr" indent="0" marL="0">
              <a:buNone/>
            </a:pPr>
            <a:r>
              <a:rPr lang="en-US" sz="1300" b="1" dirty="0">
                <a:solidFill>
                  <a:srgbClr val="0D1B2A"/>
                </a:solidFill>
              </a:rPr>
              <a:t>Healthcare Risk</a:t>
            </a:r>
            <a:endParaRPr lang="en-US" sz="1300" dirty="0"/>
          </a:p>
        </p:txBody>
      </p:sp>
      <p:sp>
        <p:nvSpPr>
          <p:cNvPr id="18" name="Text 12"/>
          <p:cNvSpPr/>
          <p:nvPr/>
        </p:nvSpPr>
        <p:spPr>
          <a:xfrm>
            <a:off x="6309360" y="2926080"/>
            <a:ext cx="2560320" cy="777240"/>
          </a:xfrm>
          <a:prstGeom prst="rect">
            <a:avLst/>
          </a:prstGeom>
          <a:noFill/>
          <a:ln/>
        </p:spPr>
        <p:txBody>
          <a:bodyPr wrap="square" lIns="0" tIns="0" rIns="0" bIns="0" rtlCol="0" anchor="ctr"/>
          <a:lstStyle/>
          <a:p>
            <a:pPr algn="ctr" indent="0" marL="0">
              <a:buNone/>
            </a:pPr>
            <a:r>
              <a:rPr lang="en-US" sz="1100" dirty="0">
                <a:solidFill>
                  <a:srgbClr val="334155"/>
                </a:solidFill>
              </a:rPr>
              <a:t>Surgical video feeds freeze and patient monitoring systems lose connectivity</a:t>
            </a:r>
            <a:endParaRPr lang="en-US" sz="1100" dirty="0"/>
          </a:p>
        </p:txBody>
      </p:sp>
      <p:sp>
        <p:nvSpPr>
          <p:cNvPr id="19" name="Shape 13"/>
          <p:cNvSpPr/>
          <p:nvPr/>
        </p:nvSpPr>
        <p:spPr>
          <a:xfrm>
            <a:off x="0" y="3977640"/>
            <a:ext cx="9144000" cy="914400"/>
          </a:xfrm>
          <a:prstGeom prst="rect">
            <a:avLst/>
          </a:prstGeom>
          <a:solidFill>
            <a:srgbClr val="0D1B2A"/>
          </a:solidFill>
          <a:ln/>
        </p:spPr>
      </p:sp>
      <p:sp>
        <p:nvSpPr>
          <p:cNvPr id="20" name="Text 14"/>
          <p:cNvSpPr/>
          <p:nvPr/>
        </p:nvSpPr>
        <p:spPr>
          <a:xfrm>
            <a:off x="274320" y="4005072"/>
            <a:ext cx="2011680" cy="411480"/>
          </a:xfrm>
          <a:prstGeom prst="rect">
            <a:avLst/>
          </a:prstGeom>
          <a:noFill/>
          <a:ln/>
        </p:spPr>
        <p:txBody>
          <a:bodyPr wrap="square" lIns="0" tIns="0" rIns="0" bIns="0" rtlCol="0" anchor="ctr"/>
          <a:lstStyle/>
          <a:p>
            <a:pPr algn="ctr" indent="0" marL="0">
              <a:buNone/>
            </a:pPr>
            <a:r>
              <a:rPr lang="en-US" sz="2000" b="1" dirty="0">
                <a:solidFill>
                  <a:srgbClr val="02C39A"/>
                </a:solidFill>
              </a:rPr>
              <a:t>30–60s</a:t>
            </a:r>
            <a:endParaRPr lang="en-US" sz="2000" dirty="0"/>
          </a:p>
        </p:txBody>
      </p:sp>
      <p:sp>
        <p:nvSpPr>
          <p:cNvPr id="21" name="Text 15"/>
          <p:cNvSpPr/>
          <p:nvPr/>
        </p:nvSpPr>
        <p:spPr>
          <a:xfrm>
            <a:off x="274320" y="4416552"/>
            <a:ext cx="2011680" cy="320040"/>
          </a:xfrm>
          <a:prstGeom prst="rect">
            <a:avLst/>
          </a:prstGeom>
          <a:noFill/>
          <a:ln/>
        </p:spPr>
        <p:txBody>
          <a:bodyPr wrap="square" lIns="0" tIns="0" rIns="0" bIns="0" rtlCol="0" anchor="ctr"/>
          <a:lstStyle/>
          <a:p>
            <a:pPr algn="ctr" indent="0" marL="0">
              <a:buNone/>
            </a:pPr>
            <a:r>
              <a:rPr lang="en-US" sz="1000" dirty="0">
                <a:solidFill>
                  <a:srgbClr val="E2E8F0"/>
                </a:solidFill>
              </a:rPr>
              <a:t>Detection Gap</a:t>
            </a:r>
            <a:endParaRPr lang="en-US" sz="1000" dirty="0"/>
          </a:p>
        </p:txBody>
      </p:sp>
      <p:sp>
        <p:nvSpPr>
          <p:cNvPr id="22" name="Text 16"/>
          <p:cNvSpPr/>
          <p:nvPr/>
        </p:nvSpPr>
        <p:spPr>
          <a:xfrm>
            <a:off x="2468880" y="4005072"/>
            <a:ext cx="2011680" cy="411480"/>
          </a:xfrm>
          <a:prstGeom prst="rect">
            <a:avLst/>
          </a:prstGeom>
          <a:noFill/>
          <a:ln/>
        </p:spPr>
        <p:txBody>
          <a:bodyPr wrap="square" lIns="0" tIns="0" rIns="0" bIns="0" rtlCol="0" anchor="ctr"/>
          <a:lstStyle/>
          <a:p>
            <a:pPr algn="ctr" indent="0" marL="0">
              <a:buNone/>
            </a:pPr>
            <a:r>
              <a:rPr lang="en-US" sz="2000" b="1" dirty="0">
                <a:solidFill>
                  <a:srgbClr val="02C39A"/>
                </a:solidFill>
              </a:rPr>
              <a:t>$5,600/min</a:t>
            </a:r>
            <a:endParaRPr lang="en-US" sz="2000" dirty="0"/>
          </a:p>
        </p:txBody>
      </p:sp>
      <p:sp>
        <p:nvSpPr>
          <p:cNvPr id="23" name="Text 17"/>
          <p:cNvSpPr/>
          <p:nvPr/>
        </p:nvSpPr>
        <p:spPr>
          <a:xfrm>
            <a:off x="2468880" y="4416552"/>
            <a:ext cx="2011680" cy="320040"/>
          </a:xfrm>
          <a:prstGeom prst="rect">
            <a:avLst/>
          </a:prstGeom>
          <a:noFill/>
          <a:ln/>
        </p:spPr>
        <p:txBody>
          <a:bodyPr wrap="square" lIns="0" tIns="0" rIns="0" bIns="0" rtlCol="0" anchor="ctr"/>
          <a:lstStyle/>
          <a:p>
            <a:pPr algn="ctr" indent="0" marL="0">
              <a:buNone/>
            </a:pPr>
            <a:r>
              <a:rPr lang="en-US" sz="1000" dirty="0">
                <a:solidFill>
                  <a:srgbClr val="E2E8F0"/>
                </a:solidFill>
              </a:rPr>
              <a:t>Avg Downtime Cost</a:t>
            </a:r>
            <a:endParaRPr lang="en-US" sz="1000" dirty="0"/>
          </a:p>
        </p:txBody>
      </p:sp>
      <p:sp>
        <p:nvSpPr>
          <p:cNvPr id="24" name="Text 18"/>
          <p:cNvSpPr/>
          <p:nvPr/>
        </p:nvSpPr>
        <p:spPr>
          <a:xfrm>
            <a:off x="4663440" y="4005072"/>
            <a:ext cx="2011680" cy="411480"/>
          </a:xfrm>
          <a:prstGeom prst="rect">
            <a:avLst/>
          </a:prstGeom>
          <a:noFill/>
          <a:ln/>
        </p:spPr>
        <p:txBody>
          <a:bodyPr wrap="square" lIns="0" tIns="0" rIns="0" bIns="0" rtlCol="0" anchor="ctr"/>
          <a:lstStyle/>
          <a:p>
            <a:pPr algn="ctr" indent="0" marL="0">
              <a:buNone/>
            </a:pPr>
            <a:r>
              <a:rPr lang="en-US" sz="2000" b="1" dirty="0">
                <a:solidFill>
                  <a:srgbClr val="02C39A"/>
                </a:solidFill>
              </a:rPr>
              <a:t>500+</a:t>
            </a:r>
            <a:endParaRPr lang="en-US" sz="2000" dirty="0"/>
          </a:p>
        </p:txBody>
      </p:sp>
      <p:sp>
        <p:nvSpPr>
          <p:cNvPr id="25" name="Text 19"/>
          <p:cNvSpPr/>
          <p:nvPr/>
        </p:nvSpPr>
        <p:spPr>
          <a:xfrm>
            <a:off x="4663440" y="4416552"/>
            <a:ext cx="2011680" cy="320040"/>
          </a:xfrm>
          <a:prstGeom prst="rect">
            <a:avLst/>
          </a:prstGeom>
          <a:noFill/>
          <a:ln/>
        </p:spPr>
        <p:txBody>
          <a:bodyPr wrap="square" lIns="0" tIns="0" rIns="0" bIns="0" rtlCol="0" anchor="ctr"/>
          <a:lstStyle/>
          <a:p>
            <a:pPr algn="ctr" indent="0" marL="0">
              <a:buNone/>
            </a:pPr>
            <a:r>
              <a:rPr lang="en-US" sz="1000" dirty="0">
                <a:solidFill>
                  <a:srgbClr val="E2E8F0"/>
                </a:solidFill>
              </a:rPr>
              <a:t>SMEs Underserved</a:t>
            </a:r>
            <a:endParaRPr lang="en-US" sz="1000" dirty="0"/>
          </a:p>
        </p:txBody>
      </p:sp>
      <p:sp>
        <p:nvSpPr>
          <p:cNvPr id="26" name="Text 20"/>
          <p:cNvSpPr/>
          <p:nvPr/>
        </p:nvSpPr>
        <p:spPr>
          <a:xfrm>
            <a:off x="6858000" y="4005072"/>
            <a:ext cx="2011680" cy="411480"/>
          </a:xfrm>
          <a:prstGeom prst="rect">
            <a:avLst/>
          </a:prstGeom>
          <a:noFill/>
          <a:ln/>
        </p:spPr>
        <p:txBody>
          <a:bodyPr wrap="square" lIns="0" tIns="0" rIns="0" bIns="0" rtlCol="0" anchor="ctr"/>
          <a:lstStyle/>
          <a:p>
            <a:pPr algn="ctr" indent="0" marL="0">
              <a:buNone/>
            </a:pPr>
            <a:r>
              <a:rPr lang="en-US" sz="2000" b="1" dirty="0">
                <a:solidFill>
                  <a:srgbClr val="02C39A"/>
                </a:solidFill>
              </a:rPr>
              <a:t>0</a:t>
            </a:r>
            <a:endParaRPr lang="en-US" sz="2000" dirty="0"/>
          </a:p>
        </p:txBody>
      </p:sp>
      <p:sp>
        <p:nvSpPr>
          <p:cNvPr id="27" name="Text 21"/>
          <p:cNvSpPr/>
          <p:nvPr/>
        </p:nvSpPr>
        <p:spPr>
          <a:xfrm>
            <a:off x="6858000" y="4416552"/>
            <a:ext cx="2011680" cy="320040"/>
          </a:xfrm>
          <a:prstGeom prst="rect">
            <a:avLst/>
          </a:prstGeom>
          <a:noFill/>
          <a:ln/>
        </p:spPr>
        <p:txBody>
          <a:bodyPr wrap="square" lIns="0" tIns="0" rIns="0" bIns="0" rtlCol="0" anchor="ctr"/>
          <a:lstStyle/>
          <a:p>
            <a:pPr algn="ctr" indent="0" marL="0">
              <a:buNone/>
            </a:pPr>
            <a:r>
              <a:rPr lang="en-US" sz="1000" dirty="0">
                <a:solidFill>
                  <a:srgbClr val="E2E8F0"/>
                </a:solidFill>
              </a:rPr>
              <a:t>Predictive Solutions for SMEs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200" b="1" dirty="0">
                <a:solidFill>
                  <a:srgbClr val="FFFFFF"/>
                </a:solidFill>
              </a:rPr>
              <a:t>Project Objective</a:t>
            </a:r>
            <a:endParaRPr lang="en-US" sz="2200" dirty="0"/>
          </a:p>
        </p:txBody>
      </p:sp>
      <p:sp>
        <p:nvSpPr>
          <p:cNvPr id="4" name="Shape 2"/>
          <p:cNvSpPr/>
          <p:nvPr/>
        </p:nvSpPr>
        <p:spPr>
          <a:xfrm>
            <a:off x="274320" y="822960"/>
            <a:ext cx="4023360" cy="4023360"/>
          </a:xfrm>
          <a:prstGeom prst="rect">
            <a:avLst/>
          </a:prstGeom>
          <a:solidFill>
            <a:srgbClr val="0D1B2A"/>
          </a:solidFill>
          <a:ln/>
          <a:effectLst>
            <a:outerShdw sx="100000" sy="100000" kx="0" ky="0" algn="bl" rotWithShape="0" blurRad="101600" dist="38100" dir="81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1737360" y="960120"/>
            <a:ext cx="731520" cy="731520"/>
          </a:xfrm>
          <a:prstGeom prst="rect">
            <a:avLst/>
          </a:prstGeom>
        </p:spPr>
      </p:pic>
      <p:sp>
        <p:nvSpPr>
          <p:cNvPr id="6" name="Text 3"/>
          <p:cNvSpPr/>
          <p:nvPr/>
        </p:nvSpPr>
        <p:spPr>
          <a:xfrm>
            <a:off x="457200" y="1783080"/>
            <a:ext cx="3657600" cy="365760"/>
          </a:xfrm>
          <a:prstGeom prst="rect">
            <a:avLst/>
          </a:prstGeom>
          <a:noFill/>
          <a:ln/>
        </p:spPr>
        <p:txBody>
          <a:bodyPr wrap="square" lIns="0" tIns="0" rIns="0" bIns="0" rtlCol="0" anchor="ctr"/>
          <a:lstStyle/>
          <a:p>
            <a:pPr algn="ctr" indent="0" marL="0">
              <a:buNone/>
            </a:pPr>
            <a:r>
              <a:rPr lang="en-US" sz="1600" b="1" dirty="0">
                <a:solidFill>
                  <a:srgbClr val="02C39A"/>
                </a:solidFill>
              </a:rPr>
              <a:t>Our Vision</a:t>
            </a:r>
            <a:endParaRPr lang="en-US" sz="1600" dirty="0"/>
          </a:p>
        </p:txBody>
      </p:sp>
      <p:sp>
        <p:nvSpPr>
          <p:cNvPr id="7" name="Text 4"/>
          <p:cNvSpPr/>
          <p:nvPr/>
        </p:nvSpPr>
        <p:spPr>
          <a:xfrm>
            <a:off x="457200" y="2212848"/>
            <a:ext cx="3657600" cy="2377440"/>
          </a:xfrm>
          <a:prstGeom prst="rect">
            <a:avLst/>
          </a:prstGeom>
          <a:noFill/>
          <a:ln/>
        </p:spPr>
        <p:txBody>
          <a:bodyPr wrap="square" lIns="0" tIns="0" rIns="0" bIns="0" rtlCol="0" anchor="ctr"/>
          <a:lstStyle/>
          <a:p>
            <a:pPr indent="0" marL="0">
              <a:buNone/>
            </a:pPr>
            <a:r>
              <a:rPr lang="en-US" sz="1300" dirty="0">
                <a:solidFill>
                  <a:srgbClr val="FFFFFF"/>
                </a:solidFill>
              </a:rPr>
              <a:t>Build an AI-powered, vendor-agnostic SD-WAN platform that predicts network degradation 30–60 seconds in advance and autonomously reroutes traffic with zero packet loss — making enterprise-grade reliability accessible to Small-to-Medium Enterprises.</a:t>
            </a:r>
            <a:endParaRPr lang="en-US" sz="1300" dirty="0"/>
          </a:p>
        </p:txBody>
      </p:sp>
      <p:sp>
        <p:nvSpPr>
          <p:cNvPr id="8" name="Shape 5"/>
          <p:cNvSpPr/>
          <p:nvPr/>
        </p:nvSpPr>
        <p:spPr>
          <a:xfrm>
            <a:off x="4572000" y="841248"/>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6"/>
          <p:cNvSpPr/>
          <p:nvPr/>
        </p:nvSpPr>
        <p:spPr>
          <a:xfrm>
            <a:off x="4572000" y="841248"/>
            <a:ext cx="64008" cy="640080"/>
          </a:xfrm>
          <a:prstGeom prst="rect">
            <a:avLst/>
          </a:prstGeom>
          <a:solidFill>
            <a:srgbClr val="028090"/>
          </a:solidFill>
          <a:ln/>
        </p:spPr>
      </p:sp>
      <p:pic>
        <p:nvPicPr>
          <p:cNvPr id="10" name="Image 1" descr="preencoded.png">    </p:cNvPr>
          <p:cNvPicPr>
            <a:picLocks noChangeAspect="1"/>
          </p:cNvPicPr>
          <p:nvPr/>
        </p:nvPicPr>
        <p:blipFill>
          <a:blip r:embed="rId2"/>
          <a:stretch>
            <a:fillRect/>
          </a:stretch>
        </p:blipFill>
        <p:spPr>
          <a:xfrm>
            <a:off x="4681728" y="932688"/>
            <a:ext cx="411480" cy="411480"/>
          </a:xfrm>
          <a:prstGeom prst="rect">
            <a:avLst/>
          </a:prstGeom>
        </p:spPr>
      </p:pic>
      <p:sp>
        <p:nvSpPr>
          <p:cNvPr id="11" name="Text 7"/>
          <p:cNvSpPr/>
          <p:nvPr/>
        </p:nvSpPr>
        <p:spPr>
          <a:xfrm>
            <a:off x="5166360" y="886968"/>
            <a:ext cx="3611880" cy="548640"/>
          </a:xfrm>
          <a:prstGeom prst="rect">
            <a:avLst/>
          </a:prstGeom>
          <a:noFill/>
          <a:ln/>
        </p:spPr>
        <p:txBody>
          <a:bodyPr wrap="square" lIns="0" tIns="0" rIns="0" bIns="0" rtlCol="0" anchor="ctr"/>
          <a:lstStyle/>
          <a:p>
            <a:pPr indent="0" marL="0">
              <a:buNone/>
            </a:pPr>
            <a:r>
              <a:rPr lang="en-US" sz="1100" dirty="0">
                <a:solidFill>
                  <a:srgbClr val="334155"/>
                </a:solidFill>
              </a:rPr>
              <a:t>LSTM Neural Network for 30–60s predictive health forecasting (≥90% accuracy)</a:t>
            </a:r>
            <a:endParaRPr lang="en-US" sz="1100" dirty="0"/>
          </a:p>
        </p:txBody>
      </p:sp>
      <p:sp>
        <p:nvSpPr>
          <p:cNvPr id="12" name="Shape 8"/>
          <p:cNvSpPr/>
          <p:nvPr/>
        </p:nvSpPr>
        <p:spPr>
          <a:xfrm>
            <a:off x="4572000" y="1591056"/>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9"/>
          <p:cNvSpPr/>
          <p:nvPr/>
        </p:nvSpPr>
        <p:spPr>
          <a:xfrm>
            <a:off x="4572000" y="1591056"/>
            <a:ext cx="64008" cy="640080"/>
          </a:xfrm>
          <a:prstGeom prst="rect">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4681728" y="1682496"/>
            <a:ext cx="411480" cy="411480"/>
          </a:xfrm>
          <a:prstGeom prst="rect">
            <a:avLst/>
          </a:prstGeom>
        </p:spPr>
      </p:pic>
      <p:sp>
        <p:nvSpPr>
          <p:cNvPr id="15" name="Text 10"/>
          <p:cNvSpPr/>
          <p:nvPr/>
        </p:nvSpPr>
        <p:spPr>
          <a:xfrm>
            <a:off x="5166360" y="1636776"/>
            <a:ext cx="3611880" cy="548640"/>
          </a:xfrm>
          <a:prstGeom prst="rect">
            <a:avLst/>
          </a:prstGeom>
          <a:noFill/>
          <a:ln/>
        </p:spPr>
        <p:txBody>
          <a:bodyPr wrap="square" lIns="0" tIns="0" rIns="0" bIns="0" rtlCol="0" anchor="ctr"/>
          <a:lstStyle/>
          <a:p>
            <a:pPr indent="0" marL="0">
              <a:buNone/>
            </a:pPr>
            <a:r>
              <a:rPr lang="en-US" sz="1100" dirty="0">
                <a:solidFill>
                  <a:srgbClr val="334155"/>
                </a:solidFill>
              </a:rPr>
              <a:t>Hitless SDN-based traffic rerouting with zero packet loss (&lt;50ms)</a:t>
            </a:r>
            <a:endParaRPr lang="en-US" sz="1100" dirty="0"/>
          </a:p>
        </p:txBody>
      </p:sp>
      <p:sp>
        <p:nvSpPr>
          <p:cNvPr id="16" name="Shape 11"/>
          <p:cNvSpPr/>
          <p:nvPr/>
        </p:nvSpPr>
        <p:spPr>
          <a:xfrm>
            <a:off x="4572000" y="2340864"/>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7" name="Shape 12"/>
          <p:cNvSpPr/>
          <p:nvPr/>
        </p:nvSpPr>
        <p:spPr>
          <a:xfrm>
            <a:off x="4572000" y="2340864"/>
            <a:ext cx="64008" cy="640080"/>
          </a:xfrm>
          <a:prstGeom prst="rect">
            <a:avLst/>
          </a:prstGeom>
          <a:solidFill>
            <a:srgbClr val="028090"/>
          </a:solidFill>
          <a:ln/>
        </p:spPr>
      </p:sp>
      <p:pic>
        <p:nvPicPr>
          <p:cNvPr id="18" name="Image 3" descr="preencoded.png">    </p:cNvPr>
          <p:cNvPicPr>
            <a:picLocks noChangeAspect="1"/>
          </p:cNvPicPr>
          <p:nvPr/>
        </p:nvPicPr>
        <p:blipFill>
          <a:blip r:embed="rId4"/>
          <a:stretch>
            <a:fillRect/>
          </a:stretch>
        </p:blipFill>
        <p:spPr>
          <a:xfrm>
            <a:off x="4681728" y="2432304"/>
            <a:ext cx="411480" cy="411480"/>
          </a:xfrm>
          <a:prstGeom prst="rect">
            <a:avLst/>
          </a:prstGeom>
        </p:spPr>
      </p:pic>
      <p:sp>
        <p:nvSpPr>
          <p:cNvPr id="19" name="Text 13"/>
          <p:cNvSpPr/>
          <p:nvPr/>
        </p:nvSpPr>
        <p:spPr>
          <a:xfrm>
            <a:off x="5166360" y="2386584"/>
            <a:ext cx="3611880" cy="548640"/>
          </a:xfrm>
          <a:prstGeom prst="rect">
            <a:avLst/>
          </a:prstGeom>
          <a:noFill/>
          <a:ln/>
        </p:spPr>
        <p:txBody>
          <a:bodyPr wrap="square" lIns="0" tIns="0" rIns="0" bIns="0" rtlCol="0" anchor="ctr"/>
          <a:lstStyle/>
          <a:p>
            <a:pPr indent="0" marL="0">
              <a:buNone/>
            </a:pPr>
            <a:r>
              <a:rPr lang="en-US" sz="1100" dirty="0">
                <a:solidFill>
                  <a:srgbClr val="334155"/>
                </a:solidFill>
              </a:rPr>
              <a:t>Digital Twin Sandbox to validate every AI change before deployment</a:t>
            </a:r>
            <a:endParaRPr lang="en-US" sz="1100" dirty="0"/>
          </a:p>
        </p:txBody>
      </p:sp>
      <p:sp>
        <p:nvSpPr>
          <p:cNvPr id="20" name="Shape 14"/>
          <p:cNvSpPr/>
          <p:nvPr/>
        </p:nvSpPr>
        <p:spPr>
          <a:xfrm>
            <a:off x="4572000" y="3090672"/>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1" name="Shape 15"/>
          <p:cNvSpPr/>
          <p:nvPr/>
        </p:nvSpPr>
        <p:spPr>
          <a:xfrm>
            <a:off x="4572000" y="3090672"/>
            <a:ext cx="64008" cy="640080"/>
          </a:xfrm>
          <a:prstGeom prst="rect">
            <a:avLst/>
          </a:prstGeom>
          <a:solidFill>
            <a:srgbClr val="028090"/>
          </a:solidFill>
          <a:ln/>
        </p:spPr>
      </p:sp>
      <p:pic>
        <p:nvPicPr>
          <p:cNvPr id="22" name="Image 4" descr="preencoded.png">    </p:cNvPr>
          <p:cNvPicPr>
            <a:picLocks noChangeAspect="1"/>
          </p:cNvPicPr>
          <p:nvPr/>
        </p:nvPicPr>
        <p:blipFill>
          <a:blip r:embed="rId5"/>
          <a:stretch>
            <a:fillRect/>
          </a:stretch>
        </p:blipFill>
        <p:spPr>
          <a:xfrm>
            <a:off x="4681728" y="3182112"/>
            <a:ext cx="411480" cy="411480"/>
          </a:xfrm>
          <a:prstGeom prst="rect">
            <a:avLst/>
          </a:prstGeom>
        </p:spPr>
      </p:pic>
      <p:sp>
        <p:nvSpPr>
          <p:cNvPr id="23" name="Text 16"/>
          <p:cNvSpPr/>
          <p:nvPr/>
        </p:nvSpPr>
        <p:spPr>
          <a:xfrm>
            <a:off x="5166360" y="3136392"/>
            <a:ext cx="3611880" cy="548640"/>
          </a:xfrm>
          <a:prstGeom prst="rect">
            <a:avLst/>
          </a:prstGeom>
          <a:noFill/>
          <a:ln/>
        </p:spPr>
        <p:txBody>
          <a:bodyPr wrap="square" lIns="0" tIns="0" rIns="0" bIns="0" rtlCol="0" anchor="ctr"/>
          <a:lstStyle/>
          <a:p>
            <a:pPr indent="0" marL="0">
              <a:buNone/>
            </a:pPr>
            <a:r>
              <a:rPr lang="en-US" sz="1100" dirty="0">
                <a:solidFill>
                  <a:srgbClr val="334155"/>
                </a:solidFill>
              </a:rPr>
              <a:t>Intent-Based Networking for natural language policy management</a:t>
            </a:r>
            <a:endParaRPr lang="en-US" sz="1100" dirty="0"/>
          </a:p>
        </p:txBody>
      </p:sp>
      <p:sp>
        <p:nvSpPr>
          <p:cNvPr id="24" name="Shape 17"/>
          <p:cNvSpPr/>
          <p:nvPr/>
        </p:nvSpPr>
        <p:spPr>
          <a:xfrm>
            <a:off x="4572000" y="3840480"/>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18"/>
          <p:cNvSpPr/>
          <p:nvPr/>
        </p:nvSpPr>
        <p:spPr>
          <a:xfrm>
            <a:off x="4572000" y="3840480"/>
            <a:ext cx="64008" cy="640080"/>
          </a:xfrm>
          <a:prstGeom prst="rect">
            <a:avLst/>
          </a:prstGeom>
          <a:solidFill>
            <a:srgbClr val="028090"/>
          </a:solidFill>
          <a:ln/>
        </p:spPr>
      </p:sp>
      <p:pic>
        <p:nvPicPr>
          <p:cNvPr id="26" name="Image 5" descr="preencoded.png">    </p:cNvPr>
          <p:cNvPicPr>
            <a:picLocks noChangeAspect="1"/>
          </p:cNvPicPr>
          <p:nvPr/>
        </p:nvPicPr>
        <p:blipFill>
          <a:blip r:embed="rId6"/>
          <a:stretch>
            <a:fillRect/>
          </a:stretch>
        </p:blipFill>
        <p:spPr>
          <a:xfrm>
            <a:off x="4681728" y="3931920"/>
            <a:ext cx="411480" cy="411480"/>
          </a:xfrm>
          <a:prstGeom prst="rect">
            <a:avLst/>
          </a:prstGeom>
        </p:spPr>
      </p:pic>
      <p:sp>
        <p:nvSpPr>
          <p:cNvPr id="27" name="Text 19"/>
          <p:cNvSpPr/>
          <p:nvPr/>
        </p:nvSpPr>
        <p:spPr>
          <a:xfrm>
            <a:off x="5166360" y="3886200"/>
            <a:ext cx="3611880" cy="548640"/>
          </a:xfrm>
          <a:prstGeom prst="rect">
            <a:avLst/>
          </a:prstGeom>
          <a:noFill/>
          <a:ln/>
        </p:spPr>
        <p:txBody>
          <a:bodyPr wrap="square" lIns="0" tIns="0" rIns="0" bIns="0" rtlCol="0" anchor="ctr"/>
          <a:lstStyle/>
          <a:p>
            <a:pPr indent="0" marL="0">
              <a:buNone/>
            </a:pPr>
            <a:r>
              <a:rPr lang="en-US" sz="1100" dirty="0">
                <a:solidFill>
                  <a:srgbClr val="334155"/>
                </a:solidFill>
              </a:rPr>
              <a:t>Multi-Link Health Scoreboard for real-time AI transparency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200" b="1" dirty="0">
                <a:solidFill>
                  <a:srgbClr val="FFFFFF"/>
                </a:solidFill>
              </a:rPr>
              <a:t>Existing SD-WAN Solutions &amp; Limitations</a:t>
            </a:r>
            <a:endParaRPr lang="en-US" sz="2200" dirty="0"/>
          </a:p>
        </p:txBody>
      </p:sp>
      <p:sp>
        <p:nvSpPr>
          <p:cNvPr id="4" name="Shape 2"/>
          <p:cNvSpPr/>
          <p:nvPr/>
        </p:nvSpPr>
        <p:spPr>
          <a:xfrm>
            <a:off x="182880" y="777240"/>
            <a:ext cx="1645920" cy="347472"/>
          </a:xfrm>
          <a:prstGeom prst="rect">
            <a:avLst/>
          </a:prstGeom>
          <a:solidFill>
            <a:srgbClr val="028090"/>
          </a:solidFill>
          <a:ln/>
        </p:spPr>
      </p:sp>
      <p:sp>
        <p:nvSpPr>
          <p:cNvPr id="5" name="Text 3"/>
          <p:cNvSpPr/>
          <p:nvPr/>
        </p:nvSpPr>
        <p:spPr>
          <a:xfrm>
            <a:off x="182880" y="777240"/>
            <a:ext cx="1645920" cy="347472"/>
          </a:xfrm>
          <a:prstGeom prst="rect">
            <a:avLst/>
          </a:prstGeom>
          <a:noFill/>
          <a:ln/>
        </p:spPr>
        <p:txBody>
          <a:bodyPr wrap="square" lIns="0" tIns="0" rIns="0" bIns="0" rtlCol="0" anchor="ctr"/>
          <a:lstStyle/>
          <a:p>
            <a:pPr algn="ctr" indent="0" marL="0">
              <a:buNone/>
            </a:pPr>
            <a:r>
              <a:rPr lang="en-US" sz="1000" b="1" dirty="0">
                <a:solidFill>
                  <a:srgbClr val="FFFFFF"/>
                </a:solidFill>
              </a:rPr>
              <a:t>Solution</a:t>
            </a:r>
            <a:endParaRPr lang="en-US" sz="1000" dirty="0"/>
          </a:p>
        </p:txBody>
      </p:sp>
      <p:sp>
        <p:nvSpPr>
          <p:cNvPr id="6" name="Shape 4"/>
          <p:cNvSpPr/>
          <p:nvPr/>
        </p:nvSpPr>
        <p:spPr>
          <a:xfrm>
            <a:off x="1828800" y="777240"/>
            <a:ext cx="1828800" cy="347472"/>
          </a:xfrm>
          <a:prstGeom prst="rect">
            <a:avLst/>
          </a:prstGeom>
          <a:solidFill>
            <a:srgbClr val="028090"/>
          </a:solidFill>
          <a:ln/>
        </p:spPr>
      </p:sp>
      <p:sp>
        <p:nvSpPr>
          <p:cNvPr id="7" name="Text 5"/>
          <p:cNvSpPr/>
          <p:nvPr/>
        </p:nvSpPr>
        <p:spPr>
          <a:xfrm>
            <a:off x="1828800" y="777240"/>
            <a:ext cx="1828800" cy="347472"/>
          </a:xfrm>
          <a:prstGeom prst="rect">
            <a:avLst/>
          </a:prstGeom>
          <a:noFill/>
          <a:ln/>
        </p:spPr>
        <p:txBody>
          <a:bodyPr wrap="square" lIns="0" tIns="0" rIns="0" bIns="0" rtlCol="0" anchor="ctr"/>
          <a:lstStyle/>
          <a:p>
            <a:pPr algn="ctr" indent="0" marL="0">
              <a:buNone/>
            </a:pPr>
            <a:r>
              <a:rPr lang="en-US" sz="1000" b="1" dirty="0">
                <a:solidFill>
                  <a:srgbClr val="FFFFFF"/>
                </a:solidFill>
              </a:rPr>
              <a:t>Strength</a:t>
            </a:r>
            <a:endParaRPr lang="en-US" sz="1000" dirty="0"/>
          </a:p>
        </p:txBody>
      </p:sp>
      <p:sp>
        <p:nvSpPr>
          <p:cNvPr id="8" name="Shape 6"/>
          <p:cNvSpPr/>
          <p:nvPr/>
        </p:nvSpPr>
        <p:spPr>
          <a:xfrm>
            <a:off x="3657600" y="777240"/>
            <a:ext cx="2377440" cy="347472"/>
          </a:xfrm>
          <a:prstGeom prst="rect">
            <a:avLst/>
          </a:prstGeom>
          <a:solidFill>
            <a:srgbClr val="028090"/>
          </a:solidFill>
          <a:ln/>
        </p:spPr>
      </p:sp>
      <p:sp>
        <p:nvSpPr>
          <p:cNvPr id="9" name="Text 7"/>
          <p:cNvSpPr/>
          <p:nvPr/>
        </p:nvSpPr>
        <p:spPr>
          <a:xfrm>
            <a:off x="3657600" y="777240"/>
            <a:ext cx="2377440" cy="347472"/>
          </a:xfrm>
          <a:prstGeom prst="rect">
            <a:avLst/>
          </a:prstGeom>
          <a:noFill/>
          <a:ln/>
        </p:spPr>
        <p:txBody>
          <a:bodyPr wrap="square" lIns="0" tIns="0" rIns="0" bIns="0" rtlCol="0" anchor="ctr"/>
          <a:lstStyle/>
          <a:p>
            <a:pPr algn="ctr" indent="0" marL="0">
              <a:buNone/>
            </a:pPr>
            <a:r>
              <a:rPr lang="en-US" sz="1000" b="1" dirty="0">
                <a:solidFill>
                  <a:srgbClr val="FFFFFF"/>
                </a:solidFill>
              </a:rPr>
              <a:t>Core Weakness</a:t>
            </a:r>
            <a:endParaRPr lang="en-US" sz="1000" dirty="0"/>
          </a:p>
        </p:txBody>
      </p:sp>
      <p:sp>
        <p:nvSpPr>
          <p:cNvPr id="10" name="Shape 8"/>
          <p:cNvSpPr/>
          <p:nvPr/>
        </p:nvSpPr>
        <p:spPr>
          <a:xfrm>
            <a:off x="6035040" y="777240"/>
            <a:ext cx="1371600" cy="347472"/>
          </a:xfrm>
          <a:prstGeom prst="rect">
            <a:avLst/>
          </a:prstGeom>
          <a:solidFill>
            <a:srgbClr val="028090"/>
          </a:solidFill>
          <a:ln/>
        </p:spPr>
      </p:sp>
      <p:sp>
        <p:nvSpPr>
          <p:cNvPr id="11" name="Text 9"/>
          <p:cNvSpPr/>
          <p:nvPr/>
        </p:nvSpPr>
        <p:spPr>
          <a:xfrm>
            <a:off x="6035040" y="777240"/>
            <a:ext cx="1371600" cy="347472"/>
          </a:xfrm>
          <a:prstGeom prst="rect">
            <a:avLst/>
          </a:prstGeom>
          <a:noFill/>
          <a:ln/>
        </p:spPr>
        <p:txBody>
          <a:bodyPr wrap="square" lIns="0" tIns="0" rIns="0" bIns="0" rtlCol="0" anchor="ctr"/>
          <a:lstStyle/>
          <a:p>
            <a:pPr algn="ctr" indent="0" marL="0">
              <a:buNone/>
            </a:pPr>
            <a:r>
              <a:rPr lang="en-US" sz="1000" b="1" dirty="0">
                <a:solidFill>
                  <a:srgbClr val="FFFFFF"/>
                </a:solidFill>
              </a:rPr>
              <a:t>AI / Predictive?</a:t>
            </a:r>
            <a:endParaRPr lang="en-US" sz="1000" dirty="0"/>
          </a:p>
        </p:txBody>
      </p:sp>
      <p:sp>
        <p:nvSpPr>
          <p:cNvPr id="12" name="Shape 10"/>
          <p:cNvSpPr/>
          <p:nvPr/>
        </p:nvSpPr>
        <p:spPr>
          <a:xfrm>
            <a:off x="7406640" y="777240"/>
            <a:ext cx="1371600" cy="347472"/>
          </a:xfrm>
          <a:prstGeom prst="rect">
            <a:avLst/>
          </a:prstGeom>
          <a:solidFill>
            <a:srgbClr val="028090"/>
          </a:solidFill>
          <a:ln/>
        </p:spPr>
      </p:sp>
      <p:sp>
        <p:nvSpPr>
          <p:cNvPr id="13" name="Text 11"/>
          <p:cNvSpPr/>
          <p:nvPr/>
        </p:nvSpPr>
        <p:spPr>
          <a:xfrm>
            <a:off x="7406640" y="777240"/>
            <a:ext cx="1371600" cy="347472"/>
          </a:xfrm>
          <a:prstGeom prst="rect">
            <a:avLst/>
          </a:prstGeom>
          <a:noFill/>
          <a:ln/>
        </p:spPr>
        <p:txBody>
          <a:bodyPr wrap="square" lIns="0" tIns="0" rIns="0" bIns="0" rtlCol="0" anchor="ctr"/>
          <a:lstStyle/>
          <a:p>
            <a:pPr algn="ctr" indent="0" marL="0">
              <a:buNone/>
            </a:pPr>
            <a:r>
              <a:rPr lang="en-US" sz="1000" b="1" dirty="0">
                <a:solidFill>
                  <a:srgbClr val="FFFFFF"/>
                </a:solidFill>
              </a:rPr>
              <a:t>SME Friendly?</a:t>
            </a:r>
            <a:endParaRPr lang="en-US" sz="1000" dirty="0"/>
          </a:p>
        </p:txBody>
      </p:sp>
      <p:sp>
        <p:nvSpPr>
          <p:cNvPr id="14" name="Shape 12"/>
          <p:cNvSpPr/>
          <p:nvPr/>
        </p:nvSpPr>
        <p:spPr>
          <a:xfrm>
            <a:off x="182880" y="1124712"/>
            <a:ext cx="1645920" cy="475488"/>
          </a:xfrm>
          <a:prstGeom prst="rect">
            <a:avLst/>
          </a:prstGeom>
          <a:solidFill>
            <a:srgbClr val="FFFFFF"/>
          </a:solidFill>
          <a:ln/>
        </p:spPr>
      </p:sp>
      <p:sp>
        <p:nvSpPr>
          <p:cNvPr id="15" name="Text 13"/>
          <p:cNvSpPr/>
          <p:nvPr/>
        </p:nvSpPr>
        <p:spPr>
          <a:xfrm>
            <a:off x="228600" y="1124712"/>
            <a:ext cx="1554480" cy="475488"/>
          </a:xfrm>
          <a:prstGeom prst="rect">
            <a:avLst/>
          </a:prstGeom>
          <a:noFill/>
          <a:ln/>
        </p:spPr>
        <p:txBody>
          <a:bodyPr wrap="square" lIns="0" tIns="0" rIns="0" bIns="0" rtlCol="0" anchor="ctr"/>
          <a:lstStyle/>
          <a:p>
            <a:pPr algn="ctr" indent="0" marL="0">
              <a:buNone/>
            </a:pPr>
            <a:r>
              <a:rPr lang="en-US" sz="1000" dirty="0">
                <a:solidFill>
                  <a:srgbClr val="334155"/>
                </a:solidFill>
              </a:rPr>
              <a:t>Cisco Viptela</a:t>
            </a:r>
            <a:endParaRPr lang="en-US" sz="1000" dirty="0"/>
          </a:p>
        </p:txBody>
      </p:sp>
      <p:sp>
        <p:nvSpPr>
          <p:cNvPr id="16" name="Shape 14"/>
          <p:cNvSpPr/>
          <p:nvPr/>
        </p:nvSpPr>
        <p:spPr>
          <a:xfrm>
            <a:off x="1828800" y="1124712"/>
            <a:ext cx="1828800" cy="475488"/>
          </a:xfrm>
          <a:prstGeom prst="rect">
            <a:avLst/>
          </a:prstGeom>
          <a:solidFill>
            <a:srgbClr val="FFFFFF"/>
          </a:solidFill>
          <a:ln/>
        </p:spPr>
      </p:sp>
      <p:sp>
        <p:nvSpPr>
          <p:cNvPr id="17" name="Text 15"/>
          <p:cNvSpPr/>
          <p:nvPr/>
        </p:nvSpPr>
        <p:spPr>
          <a:xfrm>
            <a:off x="1874520" y="1124712"/>
            <a:ext cx="1737360" cy="475488"/>
          </a:xfrm>
          <a:prstGeom prst="rect">
            <a:avLst/>
          </a:prstGeom>
          <a:noFill/>
          <a:ln/>
        </p:spPr>
        <p:txBody>
          <a:bodyPr wrap="square" lIns="0" tIns="0" rIns="0" bIns="0" rtlCol="0" anchor="ctr"/>
          <a:lstStyle/>
          <a:p>
            <a:pPr algn="ctr" indent="0" marL="0">
              <a:buNone/>
            </a:pPr>
            <a:r>
              <a:rPr lang="en-US" sz="1000" dirty="0">
                <a:solidFill>
                  <a:srgbClr val="334155"/>
                </a:solidFill>
              </a:rPr>
              <a:t>Robust security, broad features</a:t>
            </a:r>
            <a:endParaRPr lang="en-US" sz="1000" dirty="0"/>
          </a:p>
        </p:txBody>
      </p:sp>
      <p:sp>
        <p:nvSpPr>
          <p:cNvPr id="18" name="Shape 16"/>
          <p:cNvSpPr/>
          <p:nvPr/>
        </p:nvSpPr>
        <p:spPr>
          <a:xfrm>
            <a:off x="3657600" y="1124712"/>
            <a:ext cx="2377440" cy="475488"/>
          </a:xfrm>
          <a:prstGeom prst="rect">
            <a:avLst/>
          </a:prstGeom>
          <a:solidFill>
            <a:srgbClr val="FFFFFF"/>
          </a:solidFill>
          <a:ln/>
        </p:spPr>
      </p:sp>
      <p:sp>
        <p:nvSpPr>
          <p:cNvPr id="19" name="Text 17"/>
          <p:cNvSpPr/>
          <p:nvPr/>
        </p:nvSpPr>
        <p:spPr>
          <a:xfrm>
            <a:off x="3703320" y="1124712"/>
            <a:ext cx="2286000" cy="475488"/>
          </a:xfrm>
          <a:prstGeom prst="rect">
            <a:avLst/>
          </a:prstGeom>
          <a:noFill/>
          <a:ln/>
        </p:spPr>
        <p:txBody>
          <a:bodyPr wrap="square" lIns="0" tIns="0" rIns="0" bIns="0" rtlCol="0" anchor="ctr"/>
          <a:lstStyle/>
          <a:p>
            <a:pPr algn="ctr" indent="0" marL="0">
              <a:buNone/>
            </a:pPr>
            <a:r>
              <a:rPr lang="en-US" sz="1000" dirty="0">
                <a:solidFill>
                  <a:srgbClr val="334155"/>
                </a:solidFill>
              </a:rPr>
              <a:t>Reactive failover; expensive proprietary hardware</a:t>
            </a:r>
            <a:endParaRPr lang="en-US" sz="1000" dirty="0"/>
          </a:p>
        </p:txBody>
      </p:sp>
      <p:sp>
        <p:nvSpPr>
          <p:cNvPr id="20" name="Shape 18"/>
          <p:cNvSpPr/>
          <p:nvPr/>
        </p:nvSpPr>
        <p:spPr>
          <a:xfrm>
            <a:off x="6035040" y="1124712"/>
            <a:ext cx="1371600" cy="475488"/>
          </a:xfrm>
          <a:prstGeom prst="rect">
            <a:avLst/>
          </a:prstGeom>
          <a:solidFill>
            <a:srgbClr val="FFFFFF"/>
          </a:solidFill>
          <a:ln/>
        </p:spPr>
      </p:sp>
      <p:sp>
        <p:nvSpPr>
          <p:cNvPr id="21" name="Text 19"/>
          <p:cNvSpPr/>
          <p:nvPr/>
        </p:nvSpPr>
        <p:spPr>
          <a:xfrm>
            <a:off x="6080760" y="1124712"/>
            <a:ext cx="1280160" cy="475488"/>
          </a:xfrm>
          <a:prstGeom prst="rect">
            <a:avLst/>
          </a:prstGeom>
          <a:noFill/>
          <a:ln/>
        </p:spPr>
        <p:txBody>
          <a:bodyPr wrap="square" lIns="0" tIns="0" rIns="0" bIns="0" rtlCol="0" anchor="ctr"/>
          <a:lstStyle/>
          <a:p>
            <a:pPr algn="ctr" indent="0" marL="0">
              <a:buNone/>
            </a:pPr>
            <a:r>
              <a:rPr lang="en-US" sz="1000" dirty="0">
                <a:solidFill>
                  <a:srgbClr val="334155"/>
                </a:solidFill>
              </a:rPr>
              <a:t>❌ No</a:t>
            </a:r>
            <a:endParaRPr lang="en-US" sz="1000" dirty="0"/>
          </a:p>
        </p:txBody>
      </p:sp>
      <p:sp>
        <p:nvSpPr>
          <p:cNvPr id="22" name="Shape 20"/>
          <p:cNvSpPr/>
          <p:nvPr/>
        </p:nvSpPr>
        <p:spPr>
          <a:xfrm>
            <a:off x="7406640" y="1124712"/>
            <a:ext cx="1371600" cy="475488"/>
          </a:xfrm>
          <a:prstGeom prst="rect">
            <a:avLst/>
          </a:prstGeom>
          <a:solidFill>
            <a:srgbClr val="FFFFFF"/>
          </a:solidFill>
          <a:ln/>
        </p:spPr>
      </p:sp>
      <p:sp>
        <p:nvSpPr>
          <p:cNvPr id="23" name="Text 21"/>
          <p:cNvSpPr/>
          <p:nvPr/>
        </p:nvSpPr>
        <p:spPr>
          <a:xfrm>
            <a:off x="7452360" y="1124712"/>
            <a:ext cx="1280160" cy="475488"/>
          </a:xfrm>
          <a:prstGeom prst="rect">
            <a:avLst/>
          </a:prstGeom>
          <a:noFill/>
          <a:ln/>
        </p:spPr>
        <p:txBody>
          <a:bodyPr wrap="square" lIns="0" tIns="0" rIns="0" bIns="0" rtlCol="0" anchor="ctr"/>
          <a:lstStyle/>
          <a:p>
            <a:pPr algn="ctr" indent="0" marL="0">
              <a:buNone/>
            </a:pPr>
            <a:r>
              <a:rPr lang="en-US" sz="1000" dirty="0">
                <a:solidFill>
                  <a:srgbClr val="334155"/>
                </a:solidFill>
              </a:rPr>
              <a:t>❌ No</a:t>
            </a:r>
            <a:endParaRPr lang="en-US" sz="1000" dirty="0"/>
          </a:p>
        </p:txBody>
      </p:sp>
      <p:sp>
        <p:nvSpPr>
          <p:cNvPr id="24" name="Shape 22"/>
          <p:cNvSpPr/>
          <p:nvPr/>
        </p:nvSpPr>
        <p:spPr>
          <a:xfrm>
            <a:off x="182880" y="1627632"/>
            <a:ext cx="1645920" cy="475488"/>
          </a:xfrm>
          <a:prstGeom prst="rect">
            <a:avLst/>
          </a:prstGeom>
          <a:solidFill>
            <a:srgbClr val="F0F4F8"/>
          </a:solidFill>
          <a:ln/>
        </p:spPr>
      </p:sp>
      <p:sp>
        <p:nvSpPr>
          <p:cNvPr id="25" name="Text 23"/>
          <p:cNvSpPr/>
          <p:nvPr/>
        </p:nvSpPr>
        <p:spPr>
          <a:xfrm>
            <a:off x="228600" y="1627632"/>
            <a:ext cx="1554480" cy="475488"/>
          </a:xfrm>
          <a:prstGeom prst="rect">
            <a:avLst/>
          </a:prstGeom>
          <a:noFill/>
          <a:ln/>
        </p:spPr>
        <p:txBody>
          <a:bodyPr wrap="square" lIns="0" tIns="0" rIns="0" bIns="0" rtlCol="0" anchor="ctr"/>
          <a:lstStyle/>
          <a:p>
            <a:pPr algn="ctr" indent="0" marL="0">
              <a:buNone/>
            </a:pPr>
            <a:r>
              <a:rPr lang="en-US" sz="1000" dirty="0">
                <a:solidFill>
                  <a:srgbClr val="334155"/>
                </a:solidFill>
              </a:rPr>
              <a:t>VMware VeloCloud</a:t>
            </a:r>
            <a:endParaRPr lang="en-US" sz="1000" dirty="0"/>
          </a:p>
        </p:txBody>
      </p:sp>
      <p:sp>
        <p:nvSpPr>
          <p:cNvPr id="26" name="Shape 24"/>
          <p:cNvSpPr/>
          <p:nvPr/>
        </p:nvSpPr>
        <p:spPr>
          <a:xfrm>
            <a:off x="1828800" y="1627632"/>
            <a:ext cx="1828800" cy="475488"/>
          </a:xfrm>
          <a:prstGeom prst="rect">
            <a:avLst/>
          </a:prstGeom>
          <a:solidFill>
            <a:srgbClr val="F0F4F8"/>
          </a:solidFill>
          <a:ln/>
        </p:spPr>
      </p:sp>
      <p:sp>
        <p:nvSpPr>
          <p:cNvPr id="27" name="Text 25"/>
          <p:cNvSpPr/>
          <p:nvPr/>
        </p:nvSpPr>
        <p:spPr>
          <a:xfrm>
            <a:off x="1874520" y="1627632"/>
            <a:ext cx="1737360" cy="475488"/>
          </a:xfrm>
          <a:prstGeom prst="rect">
            <a:avLst/>
          </a:prstGeom>
          <a:noFill/>
          <a:ln/>
        </p:spPr>
        <p:txBody>
          <a:bodyPr wrap="square" lIns="0" tIns="0" rIns="0" bIns="0" rtlCol="0" anchor="ctr"/>
          <a:lstStyle/>
          <a:p>
            <a:pPr algn="ctr" indent="0" marL="0">
              <a:buNone/>
            </a:pPr>
            <a:r>
              <a:rPr lang="en-US" sz="1000" dirty="0">
                <a:solidFill>
                  <a:srgbClr val="334155"/>
                </a:solidFill>
              </a:rPr>
              <a:t>Good cloud integration</a:t>
            </a:r>
            <a:endParaRPr lang="en-US" sz="1000" dirty="0"/>
          </a:p>
        </p:txBody>
      </p:sp>
      <p:sp>
        <p:nvSpPr>
          <p:cNvPr id="28" name="Shape 26"/>
          <p:cNvSpPr/>
          <p:nvPr/>
        </p:nvSpPr>
        <p:spPr>
          <a:xfrm>
            <a:off x="3657600" y="1627632"/>
            <a:ext cx="2377440" cy="475488"/>
          </a:xfrm>
          <a:prstGeom prst="rect">
            <a:avLst/>
          </a:prstGeom>
          <a:solidFill>
            <a:srgbClr val="F0F4F8"/>
          </a:solidFill>
          <a:ln/>
        </p:spPr>
      </p:sp>
      <p:sp>
        <p:nvSpPr>
          <p:cNvPr id="29" name="Text 27"/>
          <p:cNvSpPr/>
          <p:nvPr/>
        </p:nvSpPr>
        <p:spPr>
          <a:xfrm>
            <a:off x="3703320" y="1627632"/>
            <a:ext cx="2286000" cy="475488"/>
          </a:xfrm>
          <a:prstGeom prst="rect">
            <a:avLst/>
          </a:prstGeom>
          <a:noFill/>
          <a:ln/>
        </p:spPr>
        <p:txBody>
          <a:bodyPr wrap="square" lIns="0" tIns="0" rIns="0" bIns="0" rtlCol="0" anchor="ctr"/>
          <a:lstStyle/>
          <a:p>
            <a:pPr algn="ctr" indent="0" marL="0">
              <a:buNone/>
            </a:pPr>
            <a:r>
              <a:rPr lang="en-US" sz="1000" dirty="0">
                <a:solidFill>
                  <a:srgbClr val="334155"/>
                </a:solidFill>
              </a:rPr>
              <a:t>Complex for SMEs; no ML-based prediction</a:t>
            </a:r>
            <a:endParaRPr lang="en-US" sz="1000" dirty="0"/>
          </a:p>
        </p:txBody>
      </p:sp>
      <p:sp>
        <p:nvSpPr>
          <p:cNvPr id="30" name="Shape 28"/>
          <p:cNvSpPr/>
          <p:nvPr/>
        </p:nvSpPr>
        <p:spPr>
          <a:xfrm>
            <a:off x="6035040" y="1627632"/>
            <a:ext cx="1371600" cy="475488"/>
          </a:xfrm>
          <a:prstGeom prst="rect">
            <a:avLst/>
          </a:prstGeom>
          <a:solidFill>
            <a:srgbClr val="F0F4F8"/>
          </a:solidFill>
          <a:ln/>
        </p:spPr>
      </p:sp>
      <p:sp>
        <p:nvSpPr>
          <p:cNvPr id="31" name="Text 29"/>
          <p:cNvSpPr/>
          <p:nvPr/>
        </p:nvSpPr>
        <p:spPr>
          <a:xfrm>
            <a:off x="6080760" y="1627632"/>
            <a:ext cx="1280160" cy="475488"/>
          </a:xfrm>
          <a:prstGeom prst="rect">
            <a:avLst/>
          </a:prstGeom>
          <a:noFill/>
          <a:ln/>
        </p:spPr>
        <p:txBody>
          <a:bodyPr wrap="square" lIns="0" tIns="0" rIns="0" bIns="0" rtlCol="0" anchor="ctr"/>
          <a:lstStyle/>
          <a:p>
            <a:pPr algn="ctr" indent="0" marL="0">
              <a:buNone/>
            </a:pPr>
            <a:r>
              <a:rPr lang="en-US" sz="1000" dirty="0">
                <a:solidFill>
                  <a:srgbClr val="334155"/>
                </a:solidFill>
              </a:rPr>
              <a:t>❌ No</a:t>
            </a:r>
            <a:endParaRPr lang="en-US" sz="1000" dirty="0"/>
          </a:p>
        </p:txBody>
      </p:sp>
      <p:sp>
        <p:nvSpPr>
          <p:cNvPr id="32" name="Shape 30"/>
          <p:cNvSpPr/>
          <p:nvPr/>
        </p:nvSpPr>
        <p:spPr>
          <a:xfrm>
            <a:off x="7406640" y="1627632"/>
            <a:ext cx="1371600" cy="475488"/>
          </a:xfrm>
          <a:prstGeom prst="rect">
            <a:avLst/>
          </a:prstGeom>
          <a:solidFill>
            <a:srgbClr val="F0F4F8"/>
          </a:solidFill>
          <a:ln/>
        </p:spPr>
      </p:sp>
      <p:sp>
        <p:nvSpPr>
          <p:cNvPr id="33" name="Text 31"/>
          <p:cNvSpPr/>
          <p:nvPr/>
        </p:nvSpPr>
        <p:spPr>
          <a:xfrm>
            <a:off x="7452360" y="1627632"/>
            <a:ext cx="1280160" cy="475488"/>
          </a:xfrm>
          <a:prstGeom prst="rect">
            <a:avLst/>
          </a:prstGeom>
          <a:noFill/>
          <a:ln/>
        </p:spPr>
        <p:txBody>
          <a:bodyPr wrap="square" lIns="0" tIns="0" rIns="0" bIns="0" rtlCol="0" anchor="ctr"/>
          <a:lstStyle/>
          <a:p>
            <a:pPr algn="ctr" indent="0" marL="0">
              <a:buNone/>
            </a:pPr>
            <a:r>
              <a:rPr lang="en-US" sz="1000" dirty="0">
                <a:solidFill>
                  <a:srgbClr val="334155"/>
                </a:solidFill>
              </a:rPr>
              <a:t>❌ No</a:t>
            </a:r>
            <a:endParaRPr lang="en-US" sz="1000" dirty="0"/>
          </a:p>
        </p:txBody>
      </p:sp>
      <p:sp>
        <p:nvSpPr>
          <p:cNvPr id="34" name="Shape 32"/>
          <p:cNvSpPr/>
          <p:nvPr/>
        </p:nvSpPr>
        <p:spPr>
          <a:xfrm>
            <a:off x="182880" y="2130552"/>
            <a:ext cx="1645920" cy="475488"/>
          </a:xfrm>
          <a:prstGeom prst="rect">
            <a:avLst/>
          </a:prstGeom>
          <a:solidFill>
            <a:srgbClr val="FFFFFF"/>
          </a:solidFill>
          <a:ln/>
        </p:spPr>
      </p:sp>
      <p:sp>
        <p:nvSpPr>
          <p:cNvPr id="35" name="Text 33"/>
          <p:cNvSpPr/>
          <p:nvPr/>
        </p:nvSpPr>
        <p:spPr>
          <a:xfrm>
            <a:off x="228600" y="2130552"/>
            <a:ext cx="1554480" cy="475488"/>
          </a:xfrm>
          <a:prstGeom prst="rect">
            <a:avLst/>
          </a:prstGeom>
          <a:noFill/>
          <a:ln/>
        </p:spPr>
        <p:txBody>
          <a:bodyPr wrap="square" lIns="0" tIns="0" rIns="0" bIns="0" rtlCol="0" anchor="ctr"/>
          <a:lstStyle/>
          <a:p>
            <a:pPr algn="ctr" indent="0" marL="0">
              <a:buNone/>
            </a:pPr>
            <a:r>
              <a:rPr lang="en-US" sz="1000" dirty="0">
                <a:solidFill>
                  <a:srgbClr val="334155"/>
                </a:solidFill>
              </a:rPr>
              <a:t>Fortinet SD-WAN</a:t>
            </a:r>
            <a:endParaRPr lang="en-US" sz="1000" dirty="0"/>
          </a:p>
        </p:txBody>
      </p:sp>
      <p:sp>
        <p:nvSpPr>
          <p:cNvPr id="36" name="Shape 34"/>
          <p:cNvSpPr/>
          <p:nvPr/>
        </p:nvSpPr>
        <p:spPr>
          <a:xfrm>
            <a:off x="1828800" y="2130552"/>
            <a:ext cx="1828800" cy="475488"/>
          </a:xfrm>
          <a:prstGeom prst="rect">
            <a:avLst/>
          </a:prstGeom>
          <a:solidFill>
            <a:srgbClr val="FFFFFF"/>
          </a:solidFill>
          <a:ln/>
        </p:spPr>
      </p:sp>
      <p:sp>
        <p:nvSpPr>
          <p:cNvPr id="37" name="Text 35"/>
          <p:cNvSpPr/>
          <p:nvPr/>
        </p:nvSpPr>
        <p:spPr>
          <a:xfrm>
            <a:off x="1874520" y="2130552"/>
            <a:ext cx="1737360" cy="475488"/>
          </a:xfrm>
          <a:prstGeom prst="rect">
            <a:avLst/>
          </a:prstGeom>
          <a:noFill/>
          <a:ln/>
        </p:spPr>
        <p:txBody>
          <a:bodyPr wrap="square" lIns="0" tIns="0" rIns="0" bIns="0" rtlCol="0" anchor="ctr"/>
          <a:lstStyle/>
          <a:p>
            <a:pPr algn="ctr" indent="0" marL="0">
              <a:buNone/>
            </a:pPr>
            <a:r>
              <a:rPr lang="en-US" sz="1000" dirty="0">
                <a:solidFill>
                  <a:srgbClr val="334155"/>
                </a:solidFill>
              </a:rPr>
              <a:t>Integrated security suite</a:t>
            </a:r>
            <a:endParaRPr lang="en-US" sz="1000" dirty="0"/>
          </a:p>
        </p:txBody>
      </p:sp>
      <p:sp>
        <p:nvSpPr>
          <p:cNvPr id="38" name="Shape 36"/>
          <p:cNvSpPr/>
          <p:nvPr/>
        </p:nvSpPr>
        <p:spPr>
          <a:xfrm>
            <a:off x="3657600" y="2130552"/>
            <a:ext cx="2377440" cy="475488"/>
          </a:xfrm>
          <a:prstGeom prst="rect">
            <a:avLst/>
          </a:prstGeom>
          <a:solidFill>
            <a:srgbClr val="FFFFFF"/>
          </a:solidFill>
          <a:ln/>
        </p:spPr>
      </p:sp>
      <p:sp>
        <p:nvSpPr>
          <p:cNvPr id="39" name="Text 37"/>
          <p:cNvSpPr/>
          <p:nvPr/>
        </p:nvSpPr>
        <p:spPr>
          <a:xfrm>
            <a:off x="3703320" y="2130552"/>
            <a:ext cx="2286000" cy="475488"/>
          </a:xfrm>
          <a:prstGeom prst="rect">
            <a:avLst/>
          </a:prstGeom>
          <a:noFill/>
          <a:ln/>
        </p:spPr>
        <p:txBody>
          <a:bodyPr wrap="square" lIns="0" tIns="0" rIns="0" bIns="0" rtlCol="0" anchor="ctr"/>
          <a:lstStyle/>
          <a:p>
            <a:pPr algn="ctr" indent="0" marL="0">
              <a:buNone/>
            </a:pPr>
            <a:r>
              <a:rPr lang="en-US" sz="1000" dirty="0">
                <a:solidFill>
                  <a:srgbClr val="334155"/>
                </a:solidFill>
              </a:rPr>
              <a:t>Ecosystem lock-in; limited predictive capability</a:t>
            </a:r>
            <a:endParaRPr lang="en-US" sz="1000" dirty="0"/>
          </a:p>
        </p:txBody>
      </p:sp>
      <p:sp>
        <p:nvSpPr>
          <p:cNvPr id="40" name="Shape 38"/>
          <p:cNvSpPr/>
          <p:nvPr/>
        </p:nvSpPr>
        <p:spPr>
          <a:xfrm>
            <a:off x="6035040" y="2130552"/>
            <a:ext cx="1371600" cy="475488"/>
          </a:xfrm>
          <a:prstGeom prst="rect">
            <a:avLst/>
          </a:prstGeom>
          <a:solidFill>
            <a:srgbClr val="FFFFFF"/>
          </a:solidFill>
          <a:ln/>
        </p:spPr>
      </p:sp>
      <p:sp>
        <p:nvSpPr>
          <p:cNvPr id="41" name="Text 39"/>
          <p:cNvSpPr/>
          <p:nvPr/>
        </p:nvSpPr>
        <p:spPr>
          <a:xfrm>
            <a:off x="6080760" y="2130552"/>
            <a:ext cx="1280160" cy="475488"/>
          </a:xfrm>
          <a:prstGeom prst="rect">
            <a:avLst/>
          </a:prstGeom>
          <a:noFill/>
          <a:ln/>
        </p:spPr>
        <p:txBody>
          <a:bodyPr wrap="square" lIns="0" tIns="0" rIns="0" bIns="0" rtlCol="0" anchor="ctr"/>
          <a:lstStyle/>
          <a:p>
            <a:pPr algn="ctr" indent="0" marL="0">
              <a:buNone/>
            </a:pPr>
            <a:r>
              <a:rPr lang="en-US" sz="1000" dirty="0">
                <a:solidFill>
                  <a:srgbClr val="334155"/>
                </a:solidFill>
              </a:rPr>
              <a:t>❌ No</a:t>
            </a:r>
            <a:endParaRPr lang="en-US" sz="1000" dirty="0"/>
          </a:p>
        </p:txBody>
      </p:sp>
      <p:sp>
        <p:nvSpPr>
          <p:cNvPr id="42" name="Shape 40"/>
          <p:cNvSpPr/>
          <p:nvPr/>
        </p:nvSpPr>
        <p:spPr>
          <a:xfrm>
            <a:off x="7406640" y="2130552"/>
            <a:ext cx="1371600" cy="475488"/>
          </a:xfrm>
          <a:prstGeom prst="rect">
            <a:avLst/>
          </a:prstGeom>
          <a:solidFill>
            <a:srgbClr val="FFFFFF"/>
          </a:solidFill>
          <a:ln/>
        </p:spPr>
      </p:sp>
      <p:sp>
        <p:nvSpPr>
          <p:cNvPr id="43" name="Text 41"/>
          <p:cNvSpPr/>
          <p:nvPr/>
        </p:nvSpPr>
        <p:spPr>
          <a:xfrm>
            <a:off x="7452360" y="2130552"/>
            <a:ext cx="1280160" cy="475488"/>
          </a:xfrm>
          <a:prstGeom prst="rect">
            <a:avLst/>
          </a:prstGeom>
          <a:noFill/>
          <a:ln/>
        </p:spPr>
        <p:txBody>
          <a:bodyPr wrap="square" lIns="0" tIns="0" rIns="0" bIns="0" rtlCol="0" anchor="ctr"/>
          <a:lstStyle/>
          <a:p>
            <a:pPr algn="ctr" indent="0" marL="0">
              <a:buNone/>
            </a:pPr>
            <a:r>
              <a:rPr lang="en-US" sz="1000" dirty="0">
                <a:solidFill>
                  <a:srgbClr val="334155"/>
                </a:solidFill>
              </a:rPr>
              <a:t>⚠️ Partial</a:t>
            </a:r>
            <a:endParaRPr lang="en-US" sz="1000" dirty="0"/>
          </a:p>
        </p:txBody>
      </p:sp>
      <p:sp>
        <p:nvSpPr>
          <p:cNvPr id="44" name="Shape 42"/>
          <p:cNvSpPr/>
          <p:nvPr/>
        </p:nvSpPr>
        <p:spPr>
          <a:xfrm>
            <a:off x="182880" y="2633472"/>
            <a:ext cx="1645920" cy="475488"/>
          </a:xfrm>
          <a:prstGeom prst="rect">
            <a:avLst/>
          </a:prstGeom>
          <a:solidFill>
            <a:srgbClr val="F0F4F8"/>
          </a:solidFill>
          <a:ln/>
        </p:spPr>
      </p:sp>
      <p:sp>
        <p:nvSpPr>
          <p:cNvPr id="45" name="Text 43"/>
          <p:cNvSpPr/>
          <p:nvPr/>
        </p:nvSpPr>
        <p:spPr>
          <a:xfrm>
            <a:off x="228600" y="2633472"/>
            <a:ext cx="1554480" cy="475488"/>
          </a:xfrm>
          <a:prstGeom prst="rect">
            <a:avLst/>
          </a:prstGeom>
          <a:noFill/>
          <a:ln/>
        </p:spPr>
        <p:txBody>
          <a:bodyPr wrap="square" lIns="0" tIns="0" rIns="0" bIns="0" rtlCol="0" anchor="ctr"/>
          <a:lstStyle/>
          <a:p>
            <a:pPr algn="ctr" indent="0" marL="0">
              <a:buNone/>
            </a:pPr>
            <a:r>
              <a:rPr lang="en-US" sz="1000" dirty="0">
                <a:solidFill>
                  <a:srgbClr val="334155"/>
                </a:solidFill>
              </a:rPr>
              <a:t>Manual / SNMP</a:t>
            </a:r>
            <a:endParaRPr lang="en-US" sz="1000" dirty="0"/>
          </a:p>
        </p:txBody>
      </p:sp>
      <p:sp>
        <p:nvSpPr>
          <p:cNvPr id="46" name="Shape 44"/>
          <p:cNvSpPr/>
          <p:nvPr/>
        </p:nvSpPr>
        <p:spPr>
          <a:xfrm>
            <a:off x="1828800" y="2633472"/>
            <a:ext cx="1828800" cy="475488"/>
          </a:xfrm>
          <a:prstGeom prst="rect">
            <a:avLst/>
          </a:prstGeom>
          <a:solidFill>
            <a:srgbClr val="F0F4F8"/>
          </a:solidFill>
          <a:ln/>
        </p:spPr>
      </p:sp>
      <p:sp>
        <p:nvSpPr>
          <p:cNvPr id="47" name="Text 45"/>
          <p:cNvSpPr/>
          <p:nvPr/>
        </p:nvSpPr>
        <p:spPr>
          <a:xfrm>
            <a:off x="1874520" y="2633472"/>
            <a:ext cx="1737360" cy="475488"/>
          </a:xfrm>
          <a:prstGeom prst="rect">
            <a:avLst/>
          </a:prstGeom>
          <a:noFill/>
          <a:ln/>
        </p:spPr>
        <p:txBody>
          <a:bodyPr wrap="square" lIns="0" tIns="0" rIns="0" bIns="0" rtlCol="0" anchor="ctr"/>
          <a:lstStyle/>
          <a:p>
            <a:pPr algn="ctr" indent="0" marL="0">
              <a:buNone/>
            </a:pPr>
            <a:r>
              <a:rPr lang="en-US" sz="1000" dirty="0">
                <a:solidFill>
                  <a:srgbClr val="334155"/>
                </a:solidFill>
              </a:rPr>
              <a:t>Low cost</a:t>
            </a:r>
            <a:endParaRPr lang="en-US" sz="1000" dirty="0"/>
          </a:p>
        </p:txBody>
      </p:sp>
      <p:sp>
        <p:nvSpPr>
          <p:cNvPr id="48" name="Shape 46"/>
          <p:cNvSpPr/>
          <p:nvPr/>
        </p:nvSpPr>
        <p:spPr>
          <a:xfrm>
            <a:off x="3657600" y="2633472"/>
            <a:ext cx="2377440" cy="475488"/>
          </a:xfrm>
          <a:prstGeom prst="rect">
            <a:avLst/>
          </a:prstGeom>
          <a:solidFill>
            <a:srgbClr val="F0F4F8"/>
          </a:solidFill>
          <a:ln/>
        </p:spPr>
      </p:sp>
      <p:sp>
        <p:nvSpPr>
          <p:cNvPr id="49" name="Text 47"/>
          <p:cNvSpPr/>
          <p:nvPr/>
        </p:nvSpPr>
        <p:spPr>
          <a:xfrm>
            <a:off x="3703320" y="2633472"/>
            <a:ext cx="2286000" cy="475488"/>
          </a:xfrm>
          <a:prstGeom prst="rect">
            <a:avLst/>
          </a:prstGeom>
          <a:noFill/>
          <a:ln/>
        </p:spPr>
        <p:txBody>
          <a:bodyPr wrap="square" lIns="0" tIns="0" rIns="0" bIns="0" rtlCol="0" anchor="ctr"/>
          <a:lstStyle/>
          <a:p>
            <a:pPr algn="ctr" indent="0" marL="0">
              <a:buNone/>
            </a:pPr>
            <a:r>
              <a:rPr lang="en-US" sz="1000" dirty="0">
                <a:solidFill>
                  <a:srgbClr val="334155"/>
                </a:solidFill>
              </a:rPr>
              <a:t>Fully reactive; needs expert CLI staff; no automation</a:t>
            </a:r>
            <a:endParaRPr lang="en-US" sz="1000" dirty="0"/>
          </a:p>
        </p:txBody>
      </p:sp>
      <p:sp>
        <p:nvSpPr>
          <p:cNvPr id="50" name="Shape 48"/>
          <p:cNvSpPr/>
          <p:nvPr/>
        </p:nvSpPr>
        <p:spPr>
          <a:xfrm>
            <a:off x="6035040" y="2633472"/>
            <a:ext cx="1371600" cy="475488"/>
          </a:xfrm>
          <a:prstGeom prst="rect">
            <a:avLst/>
          </a:prstGeom>
          <a:solidFill>
            <a:srgbClr val="F0F4F8"/>
          </a:solidFill>
          <a:ln/>
        </p:spPr>
      </p:sp>
      <p:sp>
        <p:nvSpPr>
          <p:cNvPr id="51" name="Text 49"/>
          <p:cNvSpPr/>
          <p:nvPr/>
        </p:nvSpPr>
        <p:spPr>
          <a:xfrm>
            <a:off x="6080760" y="2633472"/>
            <a:ext cx="1280160" cy="475488"/>
          </a:xfrm>
          <a:prstGeom prst="rect">
            <a:avLst/>
          </a:prstGeom>
          <a:noFill/>
          <a:ln/>
        </p:spPr>
        <p:txBody>
          <a:bodyPr wrap="square" lIns="0" tIns="0" rIns="0" bIns="0" rtlCol="0" anchor="ctr"/>
          <a:lstStyle/>
          <a:p>
            <a:pPr algn="ctr" indent="0" marL="0">
              <a:buNone/>
            </a:pPr>
            <a:r>
              <a:rPr lang="en-US" sz="1000" dirty="0">
                <a:solidFill>
                  <a:srgbClr val="334155"/>
                </a:solidFill>
              </a:rPr>
              <a:t>❌ No</a:t>
            </a:r>
            <a:endParaRPr lang="en-US" sz="1000" dirty="0"/>
          </a:p>
        </p:txBody>
      </p:sp>
      <p:sp>
        <p:nvSpPr>
          <p:cNvPr id="52" name="Shape 50"/>
          <p:cNvSpPr/>
          <p:nvPr/>
        </p:nvSpPr>
        <p:spPr>
          <a:xfrm>
            <a:off x="7406640" y="2633472"/>
            <a:ext cx="1371600" cy="475488"/>
          </a:xfrm>
          <a:prstGeom prst="rect">
            <a:avLst/>
          </a:prstGeom>
          <a:solidFill>
            <a:srgbClr val="F0F4F8"/>
          </a:solidFill>
          <a:ln/>
        </p:spPr>
      </p:sp>
      <p:sp>
        <p:nvSpPr>
          <p:cNvPr id="53" name="Text 51"/>
          <p:cNvSpPr/>
          <p:nvPr/>
        </p:nvSpPr>
        <p:spPr>
          <a:xfrm>
            <a:off x="7452360" y="2633472"/>
            <a:ext cx="1280160" cy="475488"/>
          </a:xfrm>
          <a:prstGeom prst="rect">
            <a:avLst/>
          </a:prstGeom>
          <a:noFill/>
          <a:ln/>
        </p:spPr>
        <p:txBody>
          <a:bodyPr wrap="square" lIns="0" tIns="0" rIns="0" bIns="0" rtlCol="0" anchor="ctr"/>
          <a:lstStyle/>
          <a:p>
            <a:pPr algn="ctr" indent="0" marL="0">
              <a:buNone/>
            </a:pPr>
            <a:r>
              <a:rPr lang="en-US" sz="1000" dirty="0">
                <a:solidFill>
                  <a:srgbClr val="334155"/>
                </a:solidFill>
              </a:rPr>
              <a:t>❌ No</a:t>
            </a:r>
            <a:endParaRPr lang="en-US" sz="1000" dirty="0"/>
          </a:p>
        </p:txBody>
      </p:sp>
      <p:sp>
        <p:nvSpPr>
          <p:cNvPr id="54" name="Shape 52"/>
          <p:cNvSpPr/>
          <p:nvPr/>
        </p:nvSpPr>
        <p:spPr>
          <a:xfrm>
            <a:off x="182880" y="3200400"/>
            <a:ext cx="8778240" cy="822960"/>
          </a:xfrm>
          <a:prstGeom prst="rect">
            <a:avLst/>
          </a:prstGeom>
          <a:solidFill>
            <a:srgbClr val="F59E0B">
              <a:alpha val="88000"/>
            </a:srgbClr>
          </a:solidFill>
          <a:ln/>
          <a:effectLst>
            <a:outerShdw sx="100000" sy="100000" kx="0" ky="0" algn="bl" rotWithShape="0" blurRad="101600" dist="38100" dir="8100000">
              <a:srgbClr val="000000">
                <a:alpha val="18000"/>
              </a:srgbClr>
            </a:outerShdw>
          </a:effectLst>
        </p:spPr>
      </p:sp>
      <p:pic>
        <p:nvPicPr>
          <p:cNvPr id="55" name="Image 0" descr="preencoded.png">    </p:cNvPr>
          <p:cNvPicPr>
            <a:picLocks noChangeAspect="1"/>
          </p:cNvPicPr>
          <p:nvPr/>
        </p:nvPicPr>
        <p:blipFill>
          <a:blip r:embed="rId1"/>
          <a:stretch>
            <a:fillRect/>
          </a:stretch>
        </p:blipFill>
        <p:spPr>
          <a:xfrm>
            <a:off x="320040" y="3291840"/>
            <a:ext cx="502920" cy="502920"/>
          </a:xfrm>
          <a:prstGeom prst="rect">
            <a:avLst/>
          </a:prstGeom>
        </p:spPr>
      </p:pic>
      <p:sp>
        <p:nvSpPr>
          <p:cNvPr id="56" name="Text 53"/>
          <p:cNvSpPr/>
          <p:nvPr/>
        </p:nvSpPr>
        <p:spPr>
          <a:xfrm>
            <a:off x="960120" y="3218688"/>
            <a:ext cx="7863840" cy="777240"/>
          </a:xfrm>
          <a:prstGeom prst="rect">
            <a:avLst/>
          </a:prstGeom>
          <a:noFill/>
          <a:ln/>
        </p:spPr>
        <p:txBody>
          <a:bodyPr wrap="square" lIns="0" tIns="0" rIns="0" bIns="0" rtlCol="0" anchor="ctr"/>
          <a:lstStyle/>
          <a:p>
            <a:pPr indent="0" marL="0">
              <a:buNone/>
            </a:pPr>
            <a:r>
              <a:rPr lang="en-US" sz="1200" dirty="0">
                <a:solidFill>
                  <a:srgbClr val="0D1B2A"/>
                </a:solidFill>
              </a:rPr>
              <a:t>Critical Gap: All existing solutions are REACTIVE — they respond to failure after it occurs. None offer AI-based prediction, Digital Twin pre-validation, or natural language policy management accessible to non-specialist IT staff.</a:t>
            </a:r>
            <a:endParaRPr lang="en-US" sz="1200" dirty="0"/>
          </a:p>
        </p:txBody>
      </p:sp>
      <p:sp>
        <p:nvSpPr>
          <p:cNvPr id="57" name="Shape 54"/>
          <p:cNvSpPr/>
          <p:nvPr/>
        </p:nvSpPr>
        <p:spPr>
          <a:xfrm>
            <a:off x="182880" y="4133088"/>
            <a:ext cx="8778240" cy="749808"/>
          </a:xfrm>
          <a:prstGeom prst="rect">
            <a:avLst/>
          </a:prstGeom>
          <a:solidFill>
            <a:srgbClr val="028090"/>
          </a:solidFill>
          <a:ln/>
          <a:effectLst>
            <a:outerShdw sx="100000" sy="100000" kx="0" ky="0" algn="bl" rotWithShape="0" blurRad="101600" dist="38100" dir="8100000">
              <a:srgbClr val="000000">
                <a:alpha val="18000"/>
              </a:srgbClr>
            </a:outerShdw>
          </a:effectLst>
        </p:spPr>
      </p:sp>
      <p:pic>
        <p:nvPicPr>
          <p:cNvPr id="58" name="Image 1" descr="preencoded.png">    </p:cNvPr>
          <p:cNvPicPr>
            <a:picLocks noChangeAspect="1"/>
          </p:cNvPicPr>
          <p:nvPr/>
        </p:nvPicPr>
        <p:blipFill>
          <a:blip r:embed="rId2"/>
          <a:stretch>
            <a:fillRect/>
          </a:stretch>
        </p:blipFill>
        <p:spPr>
          <a:xfrm>
            <a:off x="320040" y="4224528"/>
            <a:ext cx="457200" cy="457200"/>
          </a:xfrm>
          <a:prstGeom prst="rect">
            <a:avLst/>
          </a:prstGeom>
        </p:spPr>
      </p:pic>
      <p:sp>
        <p:nvSpPr>
          <p:cNvPr id="59" name="Text 55"/>
          <p:cNvSpPr/>
          <p:nvPr/>
        </p:nvSpPr>
        <p:spPr>
          <a:xfrm>
            <a:off x="841248" y="4160520"/>
            <a:ext cx="1645920" cy="347472"/>
          </a:xfrm>
          <a:prstGeom prst="rect">
            <a:avLst/>
          </a:prstGeom>
          <a:noFill/>
          <a:ln/>
        </p:spPr>
        <p:txBody>
          <a:bodyPr wrap="square" lIns="0" tIns="0" rIns="0" bIns="0" rtlCol="0" anchor="ctr"/>
          <a:lstStyle/>
          <a:p>
            <a:pPr indent="0" marL="0">
              <a:buNone/>
            </a:pPr>
            <a:r>
              <a:rPr lang="en-US" sz="1300" b="1" dirty="0">
                <a:solidFill>
                  <a:srgbClr val="FFFFFF"/>
                </a:solidFill>
              </a:rPr>
              <a:t>PathWise AI</a:t>
            </a:r>
            <a:endParaRPr lang="en-US" sz="1300" dirty="0"/>
          </a:p>
        </p:txBody>
      </p:sp>
      <p:sp>
        <p:nvSpPr>
          <p:cNvPr id="60" name="Text 56"/>
          <p:cNvSpPr/>
          <p:nvPr/>
        </p:nvSpPr>
        <p:spPr>
          <a:xfrm>
            <a:off x="841248" y="4507992"/>
            <a:ext cx="7863840" cy="320040"/>
          </a:xfrm>
          <a:prstGeom prst="rect">
            <a:avLst/>
          </a:prstGeom>
          <a:noFill/>
          <a:ln/>
        </p:spPr>
        <p:txBody>
          <a:bodyPr wrap="square" lIns="0" tIns="0" rIns="0" bIns="0" rtlCol="0" anchor="ctr"/>
          <a:lstStyle/>
          <a:p>
            <a:pPr indent="0" marL="0">
              <a:buNone/>
            </a:pPr>
            <a:r>
              <a:rPr lang="en-US" sz="1100" dirty="0">
                <a:solidFill>
                  <a:srgbClr val="FFFFFF"/>
                </a:solidFill>
              </a:rPr>
              <a:t>LSTM-based prediction · Hitless handoff · Digital Twin validation · IBN natural language · Vendor-agnostic</a:t>
            </a:r>
            <a:endParaRPr lang="en-US" sz="1100" dirty="0"/>
          </a:p>
        </p:txBody>
      </p:sp>
      <p:sp>
        <p:nvSpPr>
          <p:cNvPr id="61" name="Text 57"/>
          <p:cNvSpPr/>
          <p:nvPr/>
        </p:nvSpPr>
        <p:spPr>
          <a:xfrm>
            <a:off x="6035040" y="4160520"/>
            <a:ext cx="1371600" cy="749808"/>
          </a:xfrm>
          <a:prstGeom prst="rect">
            <a:avLst/>
          </a:prstGeom>
          <a:noFill/>
          <a:ln/>
        </p:spPr>
        <p:txBody>
          <a:bodyPr wrap="square" lIns="0" tIns="0" rIns="0" bIns="0" rtlCol="0" anchor="ctr"/>
          <a:lstStyle/>
          <a:p>
            <a:pPr algn="ctr" indent="0" marL="0">
              <a:buNone/>
            </a:pPr>
            <a:r>
              <a:rPr lang="en-US" sz="1300" b="1" dirty="0">
                <a:solidFill>
                  <a:srgbClr val="02C39A"/>
                </a:solidFill>
              </a:rPr>
              <a:t>✅ Yes</a:t>
            </a:r>
            <a:endParaRPr lang="en-US" sz="1300" dirty="0"/>
          </a:p>
        </p:txBody>
      </p:sp>
      <p:sp>
        <p:nvSpPr>
          <p:cNvPr id="62" name="Text 58"/>
          <p:cNvSpPr/>
          <p:nvPr/>
        </p:nvSpPr>
        <p:spPr>
          <a:xfrm>
            <a:off x="7406640" y="4160520"/>
            <a:ext cx="1371600" cy="749808"/>
          </a:xfrm>
          <a:prstGeom prst="rect">
            <a:avLst/>
          </a:prstGeom>
          <a:noFill/>
          <a:ln/>
        </p:spPr>
        <p:txBody>
          <a:bodyPr wrap="square" lIns="0" tIns="0" rIns="0" bIns="0" rtlCol="0" anchor="ctr"/>
          <a:lstStyle/>
          <a:p>
            <a:pPr algn="ctr" indent="0" marL="0">
              <a:buNone/>
            </a:pPr>
            <a:r>
              <a:rPr lang="en-US" sz="1300" b="1" dirty="0">
                <a:solidFill>
                  <a:srgbClr val="02C39A"/>
                </a:solidFill>
              </a:rPr>
              <a:t>✅ Yes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2400" b="1" dirty="0">
                <a:solidFill>
                  <a:srgbClr val="FFFFFF"/>
                </a:solidFill>
              </a:rPr>
              <a:t>Proposed Solution: PathWise AI</a:t>
            </a:r>
            <a:endParaRPr lang="en-US" sz="2400" dirty="0"/>
          </a:p>
        </p:txBody>
      </p:sp>
      <p:sp>
        <p:nvSpPr>
          <p:cNvPr id="3" name="Text 1"/>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00A896"/>
                </a:solidFill>
              </a:rPr>
              <a:t>From Reactive to Predictive — An Intelligent SD-WAN Overlay</a:t>
            </a:r>
            <a:endParaRPr lang="en-US" sz="1300" dirty="0"/>
          </a:p>
        </p:txBody>
      </p:sp>
      <p:sp>
        <p:nvSpPr>
          <p:cNvPr id="4" name="Shape 2"/>
          <p:cNvSpPr/>
          <p:nvPr/>
        </p:nvSpPr>
        <p:spPr>
          <a:xfrm>
            <a:off x="274320" y="1234440"/>
            <a:ext cx="1554480" cy="2194560"/>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5" name="Shape 3"/>
          <p:cNvSpPr/>
          <p:nvPr/>
        </p:nvSpPr>
        <p:spPr>
          <a:xfrm>
            <a:off x="274320" y="1234440"/>
            <a:ext cx="1554480" cy="64008"/>
          </a:xfrm>
          <a:prstGeom prst="rect">
            <a:avLst/>
          </a:prstGeom>
          <a:solidFill>
            <a:srgbClr val="02C39A"/>
          </a:solidFill>
          <a:ln/>
        </p:spPr>
      </p:sp>
      <p:sp>
        <p:nvSpPr>
          <p:cNvPr id="6" name="Shape 4"/>
          <p:cNvSpPr/>
          <p:nvPr/>
        </p:nvSpPr>
        <p:spPr>
          <a:xfrm>
            <a:off x="777240" y="1371600"/>
            <a:ext cx="548640" cy="548640"/>
          </a:xfrm>
          <a:prstGeom prst="ellipse">
            <a:avLst/>
          </a:prstGeom>
          <a:solidFill>
            <a:srgbClr val="028090"/>
          </a:solidFill>
          <a:ln w="12700">
            <a:solidFill>
              <a:srgbClr val="028090"/>
            </a:solidFill>
            <a:prstDash val="solid"/>
          </a:ln>
        </p:spPr>
      </p:sp>
      <p:pic>
        <p:nvPicPr>
          <p:cNvPr id="7" name="Image 0" descr="preencoded.png">    </p:cNvPr>
          <p:cNvPicPr>
            <a:picLocks noChangeAspect="1"/>
          </p:cNvPicPr>
          <p:nvPr/>
        </p:nvPicPr>
        <p:blipFill>
          <a:blip r:embed="rId1"/>
          <a:stretch>
            <a:fillRect/>
          </a:stretch>
        </p:blipFill>
        <p:spPr>
          <a:xfrm>
            <a:off x="822960" y="1417320"/>
            <a:ext cx="457200" cy="457200"/>
          </a:xfrm>
          <a:prstGeom prst="rect">
            <a:avLst/>
          </a:prstGeom>
        </p:spPr>
      </p:pic>
      <p:sp>
        <p:nvSpPr>
          <p:cNvPr id="8" name="Text 5"/>
          <p:cNvSpPr/>
          <p:nvPr/>
        </p:nvSpPr>
        <p:spPr>
          <a:xfrm>
            <a:off x="320040" y="1993392"/>
            <a:ext cx="1463040" cy="502920"/>
          </a:xfrm>
          <a:prstGeom prst="rect">
            <a:avLst/>
          </a:prstGeom>
          <a:noFill/>
          <a:ln/>
        </p:spPr>
        <p:txBody>
          <a:bodyPr wrap="square" lIns="0" tIns="0" rIns="0" bIns="0" rtlCol="0" anchor="ctr"/>
          <a:lstStyle/>
          <a:p>
            <a:pPr algn="ctr" indent="0" marL="0">
              <a:buNone/>
            </a:pPr>
            <a:r>
              <a:rPr lang="en-US" sz="1200" b="1" dirty="0">
                <a:solidFill>
                  <a:srgbClr val="FFFFFF"/>
                </a:solidFill>
              </a:rPr>
              <a:t>Telemetry</a:t>
            </a:r>
            <a:endParaRPr lang="en-US" sz="1200" dirty="0"/>
          </a:p>
          <a:p>
            <a:pPr algn="ctr" indent="0" marL="0">
              <a:buNone/>
            </a:pPr>
            <a:r>
              <a:rPr lang="en-US" sz="1200" b="1" dirty="0">
                <a:solidFill>
                  <a:srgbClr val="FFFFFF"/>
                </a:solidFill>
              </a:rPr>
              <a:t>Ingestion</a:t>
            </a:r>
            <a:endParaRPr lang="en-US" sz="1200" dirty="0"/>
          </a:p>
        </p:txBody>
      </p:sp>
      <p:sp>
        <p:nvSpPr>
          <p:cNvPr id="9" name="Text 6"/>
          <p:cNvSpPr/>
          <p:nvPr/>
        </p:nvSpPr>
        <p:spPr>
          <a:xfrm>
            <a:off x="320040" y="2542032"/>
            <a:ext cx="1463040" cy="749808"/>
          </a:xfrm>
          <a:prstGeom prst="rect">
            <a:avLst/>
          </a:prstGeom>
          <a:noFill/>
          <a:ln/>
        </p:spPr>
        <p:txBody>
          <a:bodyPr wrap="square" lIns="0" tIns="0" rIns="0" bIns="0" rtlCol="0" anchor="ctr"/>
          <a:lstStyle/>
          <a:p>
            <a:pPr algn="ctr" indent="0" marL="0">
              <a:buNone/>
            </a:pPr>
            <a:r>
              <a:rPr lang="en-US" sz="1000" dirty="0">
                <a:solidFill>
                  <a:srgbClr val="E2E8F0"/>
                </a:solidFill>
              </a:rPr>
              <a:t>SNMP / NetFlow</a:t>
            </a:r>
            <a:endParaRPr lang="en-US" sz="1000" dirty="0"/>
          </a:p>
          <a:p>
            <a:pPr algn="ctr" indent="0" marL="0">
              <a:buNone/>
            </a:pPr>
            <a:r>
              <a:rPr lang="en-US" sz="1000" dirty="0">
                <a:solidFill>
                  <a:srgbClr val="E2E8F0"/>
                </a:solidFill>
              </a:rPr>
              <a:t>1s polling</a:t>
            </a:r>
            <a:endParaRPr lang="en-US" sz="1000" dirty="0"/>
          </a:p>
        </p:txBody>
      </p:sp>
      <p:sp>
        <p:nvSpPr>
          <p:cNvPr id="10" name="Shape 7"/>
          <p:cNvSpPr/>
          <p:nvPr/>
        </p:nvSpPr>
        <p:spPr>
          <a:xfrm>
            <a:off x="1847088" y="2331720"/>
            <a:ext cx="164592" cy="0"/>
          </a:xfrm>
          <a:prstGeom prst="line">
            <a:avLst/>
          </a:prstGeom>
          <a:noFill/>
          <a:ln w="25400">
            <a:solidFill>
              <a:srgbClr val="02C39A"/>
            </a:solidFill>
            <a:prstDash val="solid"/>
          </a:ln>
        </p:spPr>
      </p:sp>
      <p:sp>
        <p:nvSpPr>
          <p:cNvPr id="11" name="Text 8"/>
          <p:cNvSpPr/>
          <p:nvPr/>
        </p:nvSpPr>
        <p:spPr>
          <a:xfrm>
            <a:off x="1901952" y="2212848"/>
            <a:ext cx="201168" cy="274320"/>
          </a:xfrm>
          <a:prstGeom prst="rect">
            <a:avLst/>
          </a:prstGeom>
          <a:noFill/>
          <a:ln/>
        </p:spPr>
        <p:txBody>
          <a:bodyPr wrap="square" lIns="0" tIns="0" rIns="0" bIns="0" rtlCol="0" anchor="ctr"/>
          <a:lstStyle/>
          <a:p>
            <a:pPr indent="0" marL="0">
              <a:buNone/>
            </a:pPr>
            <a:r>
              <a:rPr lang="en-US" sz="1400" dirty="0">
                <a:solidFill>
                  <a:srgbClr val="02C39A"/>
                </a:solidFill>
              </a:rPr>
              <a:t>→</a:t>
            </a:r>
            <a:endParaRPr lang="en-US" sz="1400" dirty="0"/>
          </a:p>
        </p:txBody>
      </p:sp>
      <p:sp>
        <p:nvSpPr>
          <p:cNvPr id="12" name="Shape 9"/>
          <p:cNvSpPr/>
          <p:nvPr/>
        </p:nvSpPr>
        <p:spPr>
          <a:xfrm>
            <a:off x="2011680" y="1234440"/>
            <a:ext cx="1554480" cy="2194560"/>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13" name="Shape 10"/>
          <p:cNvSpPr/>
          <p:nvPr/>
        </p:nvSpPr>
        <p:spPr>
          <a:xfrm>
            <a:off x="2011680" y="1234440"/>
            <a:ext cx="1554480" cy="64008"/>
          </a:xfrm>
          <a:prstGeom prst="rect">
            <a:avLst/>
          </a:prstGeom>
          <a:solidFill>
            <a:srgbClr val="02C39A"/>
          </a:solidFill>
          <a:ln/>
        </p:spPr>
      </p:sp>
      <p:sp>
        <p:nvSpPr>
          <p:cNvPr id="14" name="Shape 11"/>
          <p:cNvSpPr/>
          <p:nvPr/>
        </p:nvSpPr>
        <p:spPr>
          <a:xfrm>
            <a:off x="2514600" y="1371600"/>
            <a:ext cx="548640" cy="548640"/>
          </a:xfrm>
          <a:prstGeom prst="ellipse">
            <a:avLst/>
          </a:prstGeom>
          <a:solidFill>
            <a:srgbClr val="028090"/>
          </a:solidFill>
          <a:ln w="12700">
            <a:solidFill>
              <a:srgbClr val="028090"/>
            </a:solidFill>
            <a:prstDash val="solid"/>
          </a:ln>
        </p:spPr>
      </p:sp>
      <p:pic>
        <p:nvPicPr>
          <p:cNvPr id="15" name="Image 1" descr="preencoded.png">    </p:cNvPr>
          <p:cNvPicPr>
            <a:picLocks noChangeAspect="1"/>
          </p:cNvPicPr>
          <p:nvPr/>
        </p:nvPicPr>
        <p:blipFill>
          <a:blip r:embed="rId2"/>
          <a:stretch>
            <a:fillRect/>
          </a:stretch>
        </p:blipFill>
        <p:spPr>
          <a:xfrm>
            <a:off x="2560320" y="1417320"/>
            <a:ext cx="457200" cy="457200"/>
          </a:xfrm>
          <a:prstGeom prst="rect">
            <a:avLst/>
          </a:prstGeom>
        </p:spPr>
      </p:pic>
      <p:sp>
        <p:nvSpPr>
          <p:cNvPr id="16" name="Text 12"/>
          <p:cNvSpPr/>
          <p:nvPr/>
        </p:nvSpPr>
        <p:spPr>
          <a:xfrm>
            <a:off x="2057400" y="1993392"/>
            <a:ext cx="1463040" cy="502920"/>
          </a:xfrm>
          <a:prstGeom prst="rect">
            <a:avLst/>
          </a:prstGeom>
          <a:noFill/>
          <a:ln/>
        </p:spPr>
        <p:txBody>
          <a:bodyPr wrap="square" lIns="0" tIns="0" rIns="0" bIns="0" rtlCol="0" anchor="ctr"/>
          <a:lstStyle/>
          <a:p>
            <a:pPr algn="ctr" indent="0" marL="0">
              <a:buNone/>
            </a:pPr>
            <a:r>
              <a:rPr lang="en-US" sz="1200" b="1" dirty="0">
                <a:solidFill>
                  <a:srgbClr val="FFFFFF"/>
                </a:solidFill>
              </a:rPr>
              <a:t>LSTM</a:t>
            </a:r>
            <a:endParaRPr lang="en-US" sz="1200" dirty="0"/>
          </a:p>
          <a:p>
            <a:pPr algn="ctr" indent="0" marL="0">
              <a:buNone/>
            </a:pPr>
            <a:r>
              <a:rPr lang="en-US" sz="1200" b="1" dirty="0">
                <a:solidFill>
                  <a:srgbClr val="FFFFFF"/>
                </a:solidFill>
              </a:rPr>
              <a:t>Prediction</a:t>
            </a:r>
            <a:endParaRPr lang="en-US" sz="1200" dirty="0"/>
          </a:p>
        </p:txBody>
      </p:sp>
      <p:sp>
        <p:nvSpPr>
          <p:cNvPr id="17" name="Text 13"/>
          <p:cNvSpPr/>
          <p:nvPr/>
        </p:nvSpPr>
        <p:spPr>
          <a:xfrm>
            <a:off x="2057400" y="2542032"/>
            <a:ext cx="1463040" cy="749808"/>
          </a:xfrm>
          <a:prstGeom prst="rect">
            <a:avLst/>
          </a:prstGeom>
          <a:noFill/>
          <a:ln/>
        </p:spPr>
        <p:txBody>
          <a:bodyPr wrap="square" lIns="0" tIns="0" rIns="0" bIns="0" rtlCol="0" anchor="ctr"/>
          <a:lstStyle/>
          <a:p>
            <a:pPr algn="ctr" indent="0" marL="0">
              <a:buNone/>
            </a:pPr>
            <a:r>
              <a:rPr lang="en-US" sz="1000" dirty="0">
                <a:solidFill>
                  <a:srgbClr val="E2E8F0"/>
                </a:solidFill>
              </a:rPr>
              <a:t>30–60s forecast</a:t>
            </a:r>
            <a:endParaRPr lang="en-US" sz="1000" dirty="0"/>
          </a:p>
          <a:p>
            <a:pPr algn="ctr" indent="0" marL="0">
              <a:buNone/>
            </a:pPr>
            <a:r>
              <a:rPr lang="en-US" sz="1000" dirty="0">
                <a:solidFill>
                  <a:srgbClr val="E2E8F0"/>
                </a:solidFill>
              </a:rPr>
              <a:t>≥90% accuracy</a:t>
            </a:r>
            <a:endParaRPr lang="en-US" sz="1000" dirty="0"/>
          </a:p>
        </p:txBody>
      </p:sp>
      <p:sp>
        <p:nvSpPr>
          <p:cNvPr id="18" name="Shape 14"/>
          <p:cNvSpPr/>
          <p:nvPr/>
        </p:nvSpPr>
        <p:spPr>
          <a:xfrm>
            <a:off x="3584448" y="2331720"/>
            <a:ext cx="164592" cy="0"/>
          </a:xfrm>
          <a:prstGeom prst="line">
            <a:avLst/>
          </a:prstGeom>
          <a:noFill/>
          <a:ln w="25400">
            <a:solidFill>
              <a:srgbClr val="02C39A"/>
            </a:solidFill>
            <a:prstDash val="solid"/>
          </a:ln>
        </p:spPr>
      </p:sp>
      <p:sp>
        <p:nvSpPr>
          <p:cNvPr id="19" name="Text 15"/>
          <p:cNvSpPr/>
          <p:nvPr/>
        </p:nvSpPr>
        <p:spPr>
          <a:xfrm>
            <a:off x="3639312" y="2212848"/>
            <a:ext cx="201168" cy="274320"/>
          </a:xfrm>
          <a:prstGeom prst="rect">
            <a:avLst/>
          </a:prstGeom>
          <a:noFill/>
          <a:ln/>
        </p:spPr>
        <p:txBody>
          <a:bodyPr wrap="square" lIns="0" tIns="0" rIns="0" bIns="0" rtlCol="0" anchor="ctr"/>
          <a:lstStyle/>
          <a:p>
            <a:pPr indent="0" marL="0">
              <a:buNone/>
            </a:pPr>
            <a:r>
              <a:rPr lang="en-US" sz="1400" dirty="0">
                <a:solidFill>
                  <a:srgbClr val="02C39A"/>
                </a:solidFill>
              </a:rPr>
              <a:t>→</a:t>
            </a:r>
            <a:endParaRPr lang="en-US" sz="1400" dirty="0"/>
          </a:p>
        </p:txBody>
      </p:sp>
      <p:sp>
        <p:nvSpPr>
          <p:cNvPr id="20" name="Shape 16"/>
          <p:cNvSpPr/>
          <p:nvPr/>
        </p:nvSpPr>
        <p:spPr>
          <a:xfrm>
            <a:off x="3749040" y="1234440"/>
            <a:ext cx="1554480" cy="2194560"/>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21" name="Shape 17"/>
          <p:cNvSpPr/>
          <p:nvPr/>
        </p:nvSpPr>
        <p:spPr>
          <a:xfrm>
            <a:off x="3749040" y="1234440"/>
            <a:ext cx="1554480" cy="64008"/>
          </a:xfrm>
          <a:prstGeom prst="rect">
            <a:avLst/>
          </a:prstGeom>
          <a:solidFill>
            <a:srgbClr val="02C39A"/>
          </a:solidFill>
          <a:ln/>
        </p:spPr>
      </p:sp>
      <p:sp>
        <p:nvSpPr>
          <p:cNvPr id="22" name="Shape 18"/>
          <p:cNvSpPr/>
          <p:nvPr/>
        </p:nvSpPr>
        <p:spPr>
          <a:xfrm>
            <a:off x="4251960" y="1371600"/>
            <a:ext cx="548640" cy="548640"/>
          </a:xfrm>
          <a:prstGeom prst="ellipse">
            <a:avLst/>
          </a:prstGeom>
          <a:solidFill>
            <a:srgbClr val="028090"/>
          </a:solidFill>
          <a:ln w="12700">
            <a:solidFill>
              <a:srgbClr val="028090"/>
            </a:solidFill>
            <a:prstDash val="solid"/>
          </a:ln>
        </p:spPr>
      </p:sp>
      <p:pic>
        <p:nvPicPr>
          <p:cNvPr id="23" name="Image 2" descr="preencoded.png">    </p:cNvPr>
          <p:cNvPicPr>
            <a:picLocks noChangeAspect="1"/>
          </p:cNvPicPr>
          <p:nvPr/>
        </p:nvPicPr>
        <p:blipFill>
          <a:blip r:embed="rId3"/>
          <a:stretch>
            <a:fillRect/>
          </a:stretch>
        </p:blipFill>
        <p:spPr>
          <a:xfrm>
            <a:off x="4297680" y="1417320"/>
            <a:ext cx="457200" cy="457200"/>
          </a:xfrm>
          <a:prstGeom prst="rect">
            <a:avLst/>
          </a:prstGeom>
        </p:spPr>
      </p:pic>
      <p:sp>
        <p:nvSpPr>
          <p:cNvPr id="24" name="Text 19"/>
          <p:cNvSpPr/>
          <p:nvPr/>
        </p:nvSpPr>
        <p:spPr>
          <a:xfrm>
            <a:off x="3794760" y="1993392"/>
            <a:ext cx="1463040" cy="502920"/>
          </a:xfrm>
          <a:prstGeom prst="rect">
            <a:avLst/>
          </a:prstGeom>
          <a:noFill/>
          <a:ln/>
        </p:spPr>
        <p:txBody>
          <a:bodyPr wrap="square" lIns="0" tIns="0" rIns="0" bIns="0" rtlCol="0" anchor="ctr"/>
          <a:lstStyle/>
          <a:p>
            <a:pPr algn="ctr" indent="0" marL="0">
              <a:buNone/>
            </a:pPr>
            <a:r>
              <a:rPr lang="en-US" sz="1200" b="1" dirty="0">
                <a:solidFill>
                  <a:srgbClr val="FFFFFF"/>
                </a:solidFill>
              </a:rPr>
              <a:t>Digital Twin</a:t>
            </a:r>
            <a:endParaRPr lang="en-US" sz="1200" dirty="0"/>
          </a:p>
          <a:p>
            <a:pPr algn="ctr" indent="0" marL="0">
              <a:buNone/>
            </a:pPr>
            <a:r>
              <a:rPr lang="en-US" sz="1200" b="1" dirty="0">
                <a:solidFill>
                  <a:srgbClr val="FFFFFF"/>
                </a:solidFill>
              </a:rPr>
              <a:t>Validation</a:t>
            </a:r>
            <a:endParaRPr lang="en-US" sz="1200" dirty="0"/>
          </a:p>
        </p:txBody>
      </p:sp>
      <p:sp>
        <p:nvSpPr>
          <p:cNvPr id="25" name="Text 20"/>
          <p:cNvSpPr/>
          <p:nvPr/>
        </p:nvSpPr>
        <p:spPr>
          <a:xfrm>
            <a:off x="3794760" y="2542032"/>
            <a:ext cx="1463040" cy="749808"/>
          </a:xfrm>
          <a:prstGeom prst="rect">
            <a:avLst/>
          </a:prstGeom>
          <a:noFill/>
          <a:ln/>
        </p:spPr>
        <p:txBody>
          <a:bodyPr wrap="square" lIns="0" tIns="0" rIns="0" bIns="0" rtlCol="0" anchor="ctr"/>
          <a:lstStyle/>
          <a:p>
            <a:pPr algn="ctr" indent="0" marL="0">
              <a:buNone/>
            </a:pPr>
            <a:r>
              <a:rPr lang="en-US" sz="1000" dirty="0">
                <a:solidFill>
                  <a:srgbClr val="E2E8F0"/>
                </a:solidFill>
              </a:rPr>
              <a:t>Mininet + Batfish</a:t>
            </a:r>
            <a:endParaRPr lang="en-US" sz="1000" dirty="0"/>
          </a:p>
          <a:p>
            <a:pPr algn="ctr" indent="0" marL="0">
              <a:buNone/>
            </a:pPr>
            <a:r>
              <a:rPr lang="en-US" sz="1000" dirty="0">
                <a:solidFill>
                  <a:srgbClr val="E2E8F0"/>
                </a:solidFill>
              </a:rPr>
              <a:t>&lt;5s check</a:t>
            </a:r>
            <a:endParaRPr lang="en-US" sz="1000" dirty="0"/>
          </a:p>
        </p:txBody>
      </p:sp>
      <p:sp>
        <p:nvSpPr>
          <p:cNvPr id="26" name="Shape 21"/>
          <p:cNvSpPr/>
          <p:nvPr/>
        </p:nvSpPr>
        <p:spPr>
          <a:xfrm>
            <a:off x="5321808" y="2331720"/>
            <a:ext cx="164592" cy="0"/>
          </a:xfrm>
          <a:prstGeom prst="line">
            <a:avLst/>
          </a:prstGeom>
          <a:noFill/>
          <a:ln w="25400">
            <a:solidFill>
              <a:srgbClr val="02C39A"/>
            </a:solidFill>
            <a:prstDash val="solid"/>
          </a:ln>
        </p:spPr>
      </p:sp>
      <p:sp>
        <p:nvSpPr>
          <p:cNvPr id="27" name="Text 22"/>
          <p:cNvSpPr/>
          <p:nvPr/>
        </p:nvSpPr>
        <p:spPr>
          <a:xfrm>
            <a:off x="5376672" y="2212848"/>
            <a:ext cx="201168" cy="274320"/>
          </a:xfrm>
          <a:prstGeom prst="rect">
            <a:avLst/>
          </a:prstGeom>
          <a:noFill/>
          <a:ln/>
        </p:spPr>
        <p:txBody>
          <a:bodyPr wrap="square" lIns="0" tIns="0" rIns="0" bIns="0" rtlCol="0" anchor="ctr"/>
          <a:lstStyle/>
          <a:p>
            <a:pPr indent="0" marL="0">
              <a:buNone/>
            </a:pPr>
            <a:r>
              <a:rPr lang="en-US" sz="1400" dirty="0">
                <a:solidFill>
                  <a:srgbClr val="02C39A"/>
                </a:solidFill>
              </a:rPr>
              <a:t>→</a:t>
            </a:r>
            <a:endParaRPr lang="en-US" sz="1400" dirty="0"/>
          </a:p>
        </p:txBody>
      </p:sp>
      <p:sp>
        <p:nvSpPr>
          <p:cNvPr id="28" name="Shape 23"/>
          <p:cNvSpPr/>
          <p:nvPr/>
        </p:nvSpPr>
        <p:spPr>
          <a:xfrm>
            <a:off x="5486400" y="1234440"/>
            <a:ext cx="1554480" cy="2194560"/>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29" name="Shape 24"/>
          <p:cNvSpPr/>
          <p:nvPr/>
        </p:nvSpPr>
        <p:spPr>
          <a:xfrm>
            <a:off x="5486400" y="1234440"/>
            <a:ext cx="1554480" cy="64008"/>
          </a:xfrm>
          <a:prstGeom prst="rect">
            <a:avLst/>
          </a:prstGeom>
          <a:solidFill>
            <a:srgbClr val="02C39A"/>
          </a:solidFill>
          <a:ln/>
        </p:spPr>
      </p:sp>
      <p:sp>
        <p:nvSpPr>
          <p:cNvPr id="30" name="Shape 25"/>
          <p:cNvSpPr/>
          <p:nvPr/>
        </p:nvSpPr>
        <p:spPr>
          <a:xfrm>
            <a:off x="5989320" y="1371600"/>
            <a:ext cx="548640" cy="548640"/>
          </a:xfrm>
          <a:prstGeom prst="ellipse">
            <a:avLst/>
          </a:prstGeom>
          <a:solidFill>
            <a:srgbClr val="028090"/>
          </a:solidFill>
          <a:ln w="12700">
            <a:solidFill>
              <a:srgbClr val="028090"/>
            </a:solidFill>
            <a:prstDash val="solid"/>
          </a:ln>
        </p:spPr>
      </p:sp>
      <p:pic>
        <p:nvPicPr>
          <p:cNvPr id="31" name="Image 3" descr="preencoded.png">    </p:cNvPr>
          <p:cNvPicPr>
            <a:picLocks noChangeAspect="1"/>
          </p:cNvPicPr>
          <p:nvPr/>
        </p:nvPicPr>
        <p:blipFill>
          <a:blip r:embed="rId4"/>
          <a:stretch>
            <a:fillRect/>
          </a:stretch>
        </p:blipFill>
        <p:spPr>
          <a:xfrm>
            <a:off x="6035040" y="1417320"/>
            <a:ext cx="457200" cy="457200"/>
          </a:xfrm>
          <a:prstGeom prst="rect">
            <a:avLst/>
          </a:prstGeom>
        </p:spPr>
      </p:pic>
      <p:sp>
        <p:nvSpPr>
          <p:cNvPr id="32" name="Text 26"/>
          <p:cNvSpPr/>
          <p:nvPr/>
        </p:nvSpPr>
        <p:spPr>
          <a:xfrm>
            <a:off x="5532120" y="1993392"/>
            <a:ext cx="1463040" cy="502920"/>
          </a:xfrm>
          <a:prstGeom prst="rect">
            <a:avLst/>
          </a:prstGeom>
          <a:noFill/>
          <a:ln/>
        </p:spPr>
        <p:txBody>
          <a:bodyPr wrap="square" lIns="0" tIns="0" rIns="0" bIns="0" rtlCol="0" anchor="ctr"/>
          <a:lstStyle/>
          <a:p>
            <a:pPr algn="ctr" indent="0" marL="0">
              <a:buNone/>
            </a:pPr>
            <a:r>
              <a:rPr lang="en-US" sz="1200" b="1" dirty="0">
                <a:solidFill>
                  <a:srgbClr val="FFFFFF"/>
                </a:solidFill>
              </a:rPr>
              <a:t>Hitless</a:t>
            </a:r>
            <a:endParaRPr lang="en-US" sz="1200" dirty="0"/>
          </a:p>
          <a:p>
            <a:pPr algn="ctr" indent="0" marL="0">
              <a:buNone/>
            </a:pPr>
            <a:r>
              <a:rPr lang="en-US" sz="1200" b="1" dirty="0">
                <a:solidFill>
                  <a:srgbClr val="FFFFFF"/>
                </a:solidFill>
              </a:rPr>
              <a:t>Handoff</a:t>
            </a:r>
            <a:endParaRPr lang="en-US" sz="1200" dirty="0"/>
          </a:p>
        </p:txBody>
      </p:sp>
      <p:sp>
        <p:nvSpPr>
          <p:cNvPr id="33" name="Text 27"/>
          <p:cNvSpPr/>
          <p:nvPr/>
        </p:nvSpPr>
        <p:spPr>
          <a:xfrm>
            <a:off x="5532120" y="2542032"/>
            <a:ext cx="1463040" cy="749808"/>
          </a:xfrm>
          <a:prstGeom prst="rect">
            <a:avLst/>
          </a:prstGeom>
          <a:noFill/>
          <a:ln/>
        </p:spPr>
        <p:txBody>
          <a:bodyPr wrap="square" lIns="0" tIns="0" rIns="0" bIns="0" rtlCol="0" anchor="ctr"/>
          <a:lstStyle/>
          <a:p>
            <a:pPr algn="ctr" indent="0" marL="0">
              <a:buNone/>
            </a:pPr>
            <a:r>
              <a:rPr lang="en-US" sz="1000" dirty="0">
                <a:solidFill>
                  <a:srgbClr val="E2E8F0"/>
                </a:solidFill>
              </a:rPr>
              <a:t>SDN reroute</a:t>
            </a:r>
            <a:endParaRPr lang="en-US" sz="1000" dirty="0"/>
          </a:p>
          <a:p>
            <a:pPr algn="ctr" indent="0" marL="0">
              <a:buNone/>
            </a:pPr>
            <a:r>
              <a:rPr lang="en-US" sz="1000" dirty="0">
                <a:solidFill>
                  <a:srgbClr val="E2E8F0"/>
                </a:solidFill>
              </a:rPr>
              <a:t>&lt;50ms</a:t>
            </a:r>
            <a:endParaRPr lang="en-US" sz="1000" dirty="0"/>
          </a:p>
        </p:txBody>
      </p:sp>
      <p:sp>
        <p:nvSpPr>
          <p:cNvPr id="34" name="Shape 28"/>
          <p:cNvSpPr/>
          <p:nvPr/>
        </p:nvSpPr>
        <p:spPr>
          <a:xfrm>
            <a:off x="7059168" y="2331720"/>
            <a:ext cx="164592" cy="0"/>
          </a:xfrm>
          <a:prstGeom prst="line">
            <a:avLst/>
          </a:prstGeom>
          <a:noFill/>
          <a:ln w="25400">
            <a:solidFill>
              <a:srgbClr val="02C39A"/>
            </a:solidFill>
            <a:prstDash val="solid"/>
          </a:ln>
        </p:spPr>
      </p:sp>
      <p:sp>
        <p:nvSpPr>
          <p:cNvPr id="35" name="Text 29"/>
          <p:cNvSpPr/>
          <p:nvPr/>
        </p:nvSpPr>
        <p:spPr>
          <a:xfrm>
            <a:off x="7114032" y="2212848"/>
            <a:ext cx="201168" cy="274320"/>
          </a:xfrm>
          <a:prstGeom prst="rect">
            <a:avLst/>
          </a:prstGeom>
          <a:noFill/>
          <a:ln/>
        </p:spPr>
        <p:txBody>
          <a:bodyPr wrap="square" lIns="0" tIns="0" rIns="0" bIns="0" rtlCol="0" anchor="ctr"/>
          <a:lstStyle/>
          <a:p>
            <a:pPr indent="0" marL="0">
              <a:buNone/>
            </a:pPr>
            <a:r>
              <a:rPr lang="en-US" sz="1400" dirty="0">
                <a:solidFill>
                  <a:srgbClr val="02C39A"/>
                </a:solidFill>
              </a:rPr>
              <a:t>→</a:t>
            </a:r>
            <a:endParaRPr lang="en-US" sz="1400" dirty="0"/>
          </a:p>
        </p:txBody>
      </p:sp>
      <p:sp>
        <p:nvSpPr>
          <p:cNvPr id="36" name="Shape 30"/>
          <p:cNvSpPr/>
          <p:nvPr/>
        </p:nvSpPr>
        <p:spPr>
          <a:xfrm>
            <a:off x="7223760" y="1234440"/>
            <a:ext cx="1554480" cy="2194560"/>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37" name="Shape 31"/>
          <p:cNvSpPr/>
          <p:nvPr/>
        </p:nvSpPr>
        <p:spPr>
          <a:xfrm>
            <a:off x="7223760" y="1234440"/>
            <a:ext cx="1554480" cy="64008"/>
          </a:xfrm>
          <a:prstGeom prst="rect">
            <a:avLst/>
          </a:prstGeom>
          <a:solidFill>
            <a:srgbClr val="02C39A"/>
          </a:solidFill>
          <a:ln/>
        </p:spPr>
      </p:sp>
      <p:sp>
        <p:nvSpPr>
          <p:cNvPr id="38" name="Shape 32"/>
          <p:cNvSpPr/>
          <p:nvPr/>
        </p:nvSpPr>
        <p:spPr>
          <a:xfrm>
            <a:off x="7726680" y="1371600"/>
            <a:ext cx="548640" cy="548640"/>
          </a:xfrm>
          <a:prstGeom prst="ellipse">
            <a:avLst/>
          </a:prstGeom>
          <a:solidFill>
            <a:srgbClr val="028090"/>
          </a:solidFill>
          <a:ln w="12700">
            <a:solidFill>
              <a:srgbClr val="028090"/>
            </a:solidFill>
            <a:prstDash val="solid"/>
          </a:ln>
        </p:spPr>
      </p:sp>
      <p:pic>
        <p:nvPicPr>
          <p:cNvPr id="39" name="Image 4" descr="preencoded.png">    </p:cNvPr>
          <p:cNvPicPr>
            <a:picLocks noChangeAspect="1"/>
          </p:cNvPicPr>
          <p:nvPr/>
        </p:nvPicPr>
        <p:blipFill>
          <a:blip r:embed="rId5"/>
          <a:stretch>
            <a:fillRect/>
          </a:stretch>
        </p:blipFill>
        <p:spPr>
          <a:xfrm>
            <a:off x="7772400" y="1417320"/>
            <a:ext cx="457200" cy="457200"/>
          </a:xfrm>
          <a:prstGeom prst="rect">
            <a:avLst/>
          </a:prstGeom>
        </p:spPr>
      </p:pic>
      <p:sp>
        <p:nvSpPr>
          <p:cNvPr id="40" name="Text 33"/>
          <p:cNvSpPr/>
          <p:nvPr/>
        </p:nvSpPr>
        <p:spPr>
          <a:xfrm>
            <a:off x="7269480" y="1993392"/>
            <a:ext cx="1463040" cy="502920"/>
          </a:xfrm>
          <a:prstGeom prst="rect">
            <a:avLst/>
          </a:prstGeom>
          <a:noFill/>
          <a:ln/>
        </p:spPr>
        <p:txBody>
          <a:bodyPr wrap="square" lIns="0" tIns="0" rIns="0" bIns="0" rtlCol="0" anchor="ctr"/>
          <a:lstStyle/>
          <a:p>
            <a:pPr algn="ctr" indent="0" marL="0">
              <a:buNone/>
            </a:pPr>
            <a:r>
              <a:rPr lang="en-US" sz="1200" b="1" dirty="0">
                <a:solidFill>
                  <a:srgbClr val="FFFFFF"/>
                </a:solidFill>
              </a:rPr>
              <a:t>Health</a:t>
            </a:r>
            <a:endParaRPr lang="en-US" sz="1200" dirty="0"/>
          </a:p>
          <a:p>
            <a:pPr algn="ctr" indent="0" marL="0">
              <a:buNone/>
            </a:pPr>
            <a:r>
              <a:rPr lang="en-US" sz="1200" b="1" dirty="0">
                <a:solidFill>
                  <a:srgbClr val="FFFFFF"/>
                </a:solidFill>
              </a:rPr>
              <a:t>Scoreboard</a:t>
            </a:r>
            <a:endParaRPr lang="en-US" sz="1200" dirty="0"/>
          </a:p>
        </p:txBody>
      </p:sp>
      <p:sp>
        <p:nvSpPr>
          <p:cNvPr id="41" name="Text 34"/>
          <p:cNvSpPr/>
          <p:nvPr/>
        </p:nvSpPr>
        <p:spPr>
          <a:xfrm>
            <a:off x="7269480" y="2542032"/>
            <a:ext cx="1463040" cy="749808"/>
          </a:xfrm>
          <a:prstGeom prst="rect">
            <a:avLst/>
          </a:prstGeom>
          <a:noFill/>
          <a:ln/>
        </p:spPr>
        <p:txBody>
          <a:bodyPr wrap="square" lIns="0" tIns="0" rIns="0" bIns="0" rtlCol="0" anchor="ctr"/>
          <a:lstStyle/>
          <a:p>
            <a:pPr algn="ctr" indent="0" marL="0">
              <a:buNone/>
            </a:pPr>
            <a:r>
              <a:rPr lang="en-US" sz="1000" dirty="0">
                <a:solidFill>
                  <a:srgbClr val="E2E8F0"/>
                </a:solidFill>
              </a:rPr>
              <a:t>Live visualization</a:t>
            </a:r>
            <a:endParaRPr lang="en-US" sz="1000" dirty="0"/>
          </a:p>
          <a:p>
            <a:pPr algn="ctr" indent="0" marL="0">
              <a:buNone/>
            </a:pPr>
            <a:r>
              <a:rPr lang="en-US" sz="1000" dirty="0">
                <a:solidFill>
                  <a:srgbClr val="E2E8F0"/>
                </a:solidFill>
              </a:rPr>
              <a:t>AI transparency</a:t>
            </a:r>
            <a:endParaRPr lang="en-US" sz="1000" dirty="0"/>
          </a:p>
        </p:txBody>
      </p:sp>
      <p:sp>
        <p:nvSpPr>
          <p:cNvPr id="42" name="Shape 35"/>
          <p:cNvSpPr/>
          <p:nvPr/>
        </p:nvSpPr>
        <p:spPr>
          <a:xfrm>
            <a:off x="320040" y="3611880"/>
            <a:ext cx="164592" cy="164592"/>
          </a:xfrm>
          <a:prstGeom prst="ellipse">
            <a:avLst/>
          </a:prstGeom>
          <a:solidFill>
            <a:srgbClr val="02C39A"/>
          </a:solidFill>
          <a:ln w="12700">
            <a:solidFill>
              <a:srgbClr val="02C39A"/>
            </a:solidFill>
            <a:prstDash val="solid"/>
          </a:ln>
        </p:spPr>
      </p:sp>
      <p:sp>
        <p:nvSpPr>
          <p:cNvPr id="43" name="Text 36"/>
          <p:cNvSpPr/>
          <p:nvPr/>
        </p:nvSpPr>
        <p:spPr>
          <a:xfrm>
            <a:off x="548640" y="3584448"/>
            <a:ext cx="8229600" cy="256032"/>
          </a:xfrm>
          <a:prstGeom prst="rect">
            <a:avLst/>
          </a:prstGeom>
          <a:noFill/>
          <a:ln/>
        </p:spPr>
        <p:txBody>
          <a:bodyPr wrap="square" lIns="0" tIns="0" rIns="0" bIns="0" rtlCol="0" anchor="ctr"/>
          <a:lstStyle/>
          <a:p>
            <a:pPr indent="0" marL="0">
              <a:buNone/>
            </a:pPr>
            <a:r>
              <a:rPr lang="en-US" sz="1100" dirty="0">
                <a:solidFill>
                  <a:srgbClr val="E2E8F0"/>
                </a:solidFill>
              </a:rPr>
              <a:t>Vendor-Agnostic: Works with Cisco, Juniper, Arista via OpenFlow</a:t>
            </a:r>
            <a:endParaRPr lang="en-US" sz="1100" dirty="0"/>
          </a:p>
        </p:txBody>
      </p:sp>
      <p:sp>
        <p:nvSpPr>
          <p:cNvPr id="44" name="Shape 37"/>
          <p:cNvSpPr/>
          <p:nvPr/>
        </p:nvSpPr>
        <p:spPr>
          <a:xfrm>
            <a:off x="320040" y="3886200"/>
            <a:ext cx="164592" cy="164592"/>
          </a:xfrm>
          <a:prstGeom prst="ellipse">
            <a:avLst/>
          </a:prstGeom>
          <a:solidFill>
            <a:srgbClr val="02C39A"/>
          </a:solidFill>
          <a:ln w="12700">
            <a:solidFill>
              <a:srgbClr val="02C39A"/>
            </a:solidFill>
            <a:prstDash val="solid"/>
          </a:ln>
        </p:spPr>
      </p:sp>
      <p:sp>
        <p:nvSpPr>
          <p:cNvPr id="45" name="Text 38"/>
          <p:cNvSpPr/>
          <p:nvPr/>
        </p:nvSpPr>
        <p:spPr>
          <a:xfrm>
            <a:off x="548640" y="3858768"/>
            <a:ext cx="8229600" cy="256032"/>
          </a:xfrm>
          <a:prstGeom prst="rect">
            <a:avLst/>
          </a:prstGeom>
          <a:noFill/>
          <a:ln/>
        </p:spPr>
        <p:txBody>
          <a:bodyPr wrap="square" lIns="0" tIns="0" rIns="0" bIns="0" rtlCol="0" anchor="ctr"/>
          <a:lstStyle/>
          <a:p>
            <a:pPr indent="0" marL="0">
              <a:buNone/>
            </a:pPr>
            <a:r>
              <a:rPr lang="en-US" sz="1100" dirty="0">
                <a:solidFill>
                  <a:srgbClr val="E2E8F0"/>
                </a:solidFill>
              </a:rPr>
              <a:t>No CLI Required: Natural language policies via Intent-Based Networking</a:t>
            </a:r>
            <a:endParaRPr lang="en-US" sz="1100" dirty="0"/>
          </a:p>
        </p:txBody>
      </p:sp>
      <p:sp>
        <p:nvSpPr>
          <p:cNvPr id="46" name="Shape 39"/>
          <p:cNvSpPr/>
          <p:nvPr/>
        </p:nvSpPr>
        <p:spPr>
          <a:xfrm>
            <a:off x="320040" y="4160520"/>
            <a:ext cx="164592" cy="164592"/>
          </a:xfrm>
          <a:prstGeom prst="ellipse">
            <a:avLst/>
          </a:prstGeom>
          <a:solidFill>
            <a:srgbClr val="02C39A"/>
          </a:solidFill>
          <a:ln w="12700">
            <a:solidFill>
              <a:srgbClr val="02C39A"/>
            </a:solidFill>
            <a:prstDash val="solid"/>
          </a:ln>
        </p:spPr>
      </p:sp>
      <p:sp>
        <p:nvSpPr>
          <p:cNvPr id="47" name="Text 40"/>
          <p:cNvSpPr/>
          <p:nvPr/>
        </p:nvSpPr>
        <p:spPr>
          <a:xfrm>
            <a:off x="548640" y="4133088"/>
            <a:ext cx="8229600" cy="256032"/>
          </a:xfrm>
          <a:prstGeom prst="rect">
            <a:avLst/>
          </a:prstGeom>
          <a:noFill/>
          <a:ln/>
        </p:spPr>
        <p:txBody>
          <a:bodyPr wrap="square" lIns="0" tIns="0" rIns="0" bIns="0" rtlCol="0" anchor="ctr"/>
          <a:lstStyle/>
          <a:p>
            <a:pPr indent="0" marL="0">
              <a:buNone/>
            </a:pPr>
            <a:r>
              <a:rPr lang="en-US" sz="1100" dirty="0">
                <a:solidFill>
                  <a:srgbClr val="E2E8F0"/>
                </a:solidFill>
              </a:rPr>
              <a:t>SaaS Deployment: No proprietary hardware; SME-friendly subscription model</a:t>
            </a:r>
            <a:endParaRPr lang="en-US" sz="1100" dirty="0"/>
          </a:p>
        </p:txBody>
      </p:sp>
      <p:sp>
        <p:nvSpPr>
          <p:cNvPr id="48" name="Shape 41"/>
          <p:cNvSpPr/>
          <p:nvPr/>
        </p:nvSpPr>
        <p:spPr>
          <a:xfrm>
            <a:off x="320040" y="4434840"/>
            <a:ext cx="164592" cy="164592"/>
          </a:xfrm>
          <a:prstGeom prst="ellipse">
            <a:avLst/>
          </a:prstGeom>
          <a:solidFill>
            <a:srgbClr val="02C39A"/>
          </a:solidFill>
          <a:ln w="12700">
            <a:solidFill>
              <a:srgbClr val="02C39A"/>
            </a:solidFill>
            <a:prstDash val="solid"/>
          </a:ln>
        </p:spPr>
      </p:sp>
      <p:sp>
        <p:nvSpPr>
          <p:cNvPr id="49" name="Text 42"/>
          <p:cNvSpPr/>
          <p:nvPr/>
        </p:nvSpPr>
        <p:spPr>
          <a:xfrm>
            <a:off x="548640" y="4407408"/>
            <a:ext cx="8229600" cy="256032"/>
          </a:xfrm>
          <a:prstGeom prst="rect">
            <a:avLst/>
          </a:prstGeom>
          <a:noFill/>
          <a:ln/>
        </p:spPr>
        <p:txBody>
          <a:bodyPr wrap="square" lIns="0" tIns="0" rIns="0" bIns="0" rtlCol="0" anchor="ctr"/>
          <a:lstStyle/>
          <a:p>
            <a:pPr indent="0" marL="0">
              <a:buNone/>
            </a:pPr>
            <a:r>
              <a:rPr lang="en-US" sz="1100" dirty="0">
                <a:solidFill>
                  <a:srgbClr val="E2E8F0"/>
                </a:solidFill>
              </a:rPr>
              <a:t>Safety-First: Every AI decision validated in Digital Twin before production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200" b="1" dirty="0">
                <a:solidFill>
                  <a:srgbClr val="FFFFFF"/>
                </a:solidFill>
              </a:rPr>
              <a:t>System Architecture – Microservices Design</a:t>
            </a:r>
            <a:endParaRPr lang="en-US" sz="2200" dirty="0"/>
          </a:p>
        </p:txBody>
      </p:sp>
      <p:sp>
        <p:nvSpPr>
          <p:cNvPr id="4" name="Shape 2"/>
          <p:cNvSpPr/>
          <p:nvPr/>
        </p:nvSpPr>
        <p:spPr>
          <a:xfrm>
            <a:off x="228600" y="804672"/>
            <a:ext cx="8686800" cy="749808"/>
          </a:xfrm>
          <a:prstGeom prst="rect">
            <a:avLst/>
          </a:prstGeom>
          <a:solidFill>
            <a:srgbClr val="F59E0B">
              <a:alpha val="20000"/>
            </a:srgbClr>
          </a:solidFill>
          <a:ln/>
          <a:effectLst>
            <a:outerShdw sx="100000" sy="100000" kx="0" ky="0" algn="bl" rotWithShape="0" blurRad="101600" dist="38100" dir="8100000">
              <a:srgbClr val="000000">
                <a:alpha val="18000"/>
              </a:srgbClr>
            </a:outerShdw>
          </a:effectLst>
        </p:spPr>
      </p:sp>
      <p:sp>
        <p:nvSpPr>
          <p:cNvPr id="5" name="Shape 3"/>
          <p:cNvSpPr/>
          <p:nvPr/>
        </p:nvSpPr>
        <p:spPr>
          <a:xfrm>
            <a:off x="228600" y="804672"/>
            <a:ext cx="73152" cy="749808"/>
          </a:xfrm>
          <a:prstGeom prst="rect">
            <a:avLst/>
          </a:prstGeom>
          <a:solidFill>
            <a:srgbClr val="F59E0B"/>
          </a:solidFill>
          <a:ln/>
        </p:spPr>
      </p:sp>
      <p:sp>
        <p:nvSpPr>
          <p:cNvPr id="6" name="Text 4"/>
          <p:cNvSpPr/>
          <p:nvPr/>
        </p:nvSpPr>
        <p:spPr>
          <a:xfrm>
            <a:off x="384048" y="850392"/>
            <a:ext cx="2103120" cy="320040"/>
          </a:xfrm>
          <a:prstGeom prst="rect">
            <a:avLst/>
          </a:prstGeom>
          <a:noFill/>
          <a:ln/>
        </p:spPr>
        <p:txBody>
          <a:bodyPr wrap="square" lIns="0" tIns="0" rIns="0" bIns="0" rtlCol="0" anchor="ctr"/>
          <a:lstStyle/>
          <a:p>
            <a:pPr indent="0" marL="0">
              <a:buNone/>
            </a:pPr>
            <a:r>
              <a:rPr lang="en-US" sz="1000" b="1" dirty="0">
                <a:solidFill>
                  <a:srgbClr val="0D1B2A"/>
                </a:solidFill>
              </a:rPr>
              <a:t>Management Interface Layer</a:t>
            </a:r>
            <a:endParaRPr lang="en-US" sz="1000" dirty="0"/>
          </a:p>
        </p:txBody>
      </p:sp>
      <p:sp>
        <p:nvSpPr>
          <p:cNvPr id="7" name="Shape 5"/>
          <p:cNvSpPr/>
          <p:nvPr/>
        </p:nvSpPr>
        <p:spPr>
          <a:xfrm>
            <a:off x="2560320" y="941832"/>
            <a:ext cx="1783080" cy="475488"/>
          </a:xfrm>
          <a:prstGeom prst="rect">
            <a:avLst/>
          </a:prstGeom>
          <a:solidFill>
            <a:srgbClr val="F59E0B"/>
          </a:solidFill>
          <a:ln/>
          <a:effectLst>
            <a:outerShdw sx="100000" sy="100000" kx="0" ky="0" algn="bl" rotWithShape="0" blurRad="101600" dist="38100" dir="8100000">
              <a:srgbClr val="000000">
                <a:alpha val="18000"/>
              </a:srgbClr>
            </a:outerShdw>
          </a:effectLst>
        </p:spPr>
      </p:sp>
      <p:sp>
        <p:nvSpPr>
          <p:cNvPr id="8" name="Text 6"/>
          <p:cNvSpPr/>
          <p:nvPr/>
        </p:nvSpPr>
        <p:spPr>
          <a:xfrm>
            <a:off x="2606040" y="94183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IBNPolicyTranslator</a:t>
            </a:r>
            <a:endParaRPr lang="en-US" sz="900" dirty="0"/>
          </a:p>
        </p:txBody>
      </p:sp>
      <p:sp>
        <p:nvSpPr>
          <p:cNvPr id="9" name="Shape 7"/>
          <p:cNvSpPr/>
          <p:nvPr/>
        </p:nvSpPr>
        <p:spPr>
          <a:xfrm>
            <a:off x="4480560" y="941832"/>
            <a:ext cx="1783080" cy="475488"/>
          </a:xfrm>
          <a:prstGeom prst="rect">
            <a:avLst/>
          </a:prstGeom>
          <a:solidFill>
            <a:srgbClr val="F59E0B"/>
          </a:solidFill>
          <a:ln/>
          <a:effectLst>
            <a:outerShdw sx="100000" sy="100000" kx="0" ky="0" algn="bl" rotWithShape="0" blurRad="101600" dist="38100" dir="8100000">
              <a:srgbClr val="000000">
                <a:alpha val="18000"/>
              </a:srgbClr>
            </a:outerShdw>
          </a:effectLst>
        </p:spPr>
      </p:sp>
      <p:sp>
        <p:nvSpPr>
          <p:cNvPr id="10" name="Text 8"/>
          <p:cNvSpPr/>
          <p:nvPr/>
        </p:nvSpPr>
        <p:spPr>
          <a:xfrm>
            <a:off x="4526280" y="94183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HealthScoreboard</a:t>
            </a:r>
            <a:endParaRPr lang="en-US" sz="900" dirty="0"/>
          </a:p>
        </p:txBody>
      </p:sp>
      <p:sp>
        <p:nvSpPr>
          <p:cNvPr id="11" name="Shape 9"/>
          <p:cNvSpPr/>
          <p:nvPr/>
        </p:nvSpPr>
        <p:spPr>
          <a:xfrm>
            <a:off x="6400800" y="941832"/>
            <a:ext cx="1783080" cy="475488"/>
          </a:xfrm>
          <a:prstGeom prst="rect">
            <a:avLst/>
          </a:prstGeom>
          <a:solidFill>
            <a:srgbClr val="F59E0B"/>
          </a:solidFill>
          <a:ln/>
          <a:effectLst>
            <a:outerShdw sx="100000" sy="100000" kx="0" ky="0" algn="bl" rotWithShape="0" blurRad="101600" dist="38100" dir="8100000">
              <a:srgbClr val="000000">
                <a:alpha val="18000"/>
              </a:srgbClr>
            </a:outerShdw>
          </a:effectLst>
        </p:spPr>
      </p:sp>
      <p:sp>
        <p:nvSpPr>
          <p:cNvPr id="12" name="Text 10"/>
          <p:cNvSpPr/>
          <p:nvPr/>
        </p:nvSpPr>
        <p:spPr>
          <a:xfrm>
            <a:off x="6446520" y="94183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React + D3.js Dashboard</a:t>
            </a:r>
            <a:endParaRPr lang="en-US" sz="900" dirty="0"/>
          </a:p>
        </p:txBody>
      </p:sp>
      <p:sp>
        <p:nvSpPr>
          <p:cNvPr id="13" name="Shape 11"/>
          <p:cNvSpPr/>
          <p:nvPr/>
        </p:nvSpPr>
        <p:spPr>
          <a:xfrm>
            <a:off x="228600" y="1627632"/>
            <a:ext cx="8686800" cy="749808"/>
          </a:xfrm>
          <a:prstGeom prst="rect">
            <a:avLst/>
          </a:prstGeom>
          <a:solidFill>
            <a:srgbClr val="028090">
              <a:alpha val="20000"/>
            </a:srgbClr>
          </a:solidFill>
          <a:ln/>
          <a:effectLst>
            <a:outerShdw sx="100000" sy="100000" kx="0" ky="0" algn="bl" rotWithShape="0" blurRad="101600" dist="38100" dir="8100000">
              <a:srgbClr val="000000">
                <a:alpha val="18000"/>
              </a:srgbClr>
            </a:outerShdw>
          </a:effectLst>
        </p:spPr>
      </p:sp>
      <p:sp>
        <p:nvSpPr>
          <p:cNvPr id="14" name="Shape 12"/>
          <p:cNvSpPr/>
          <p:nvPr/>
        </p:nvSpPr>
        <p:spPr>
          <a:xfrm>
            <a:off x="228600" y="1627632"/>
            <a:ext cx="73152" cy="749808"/>
          </a:xfrm>
          <a:prstGeom prst="rect">
            <a:avLst/>
          </a:prstGeom>
          <a:solidFill>
            <a:srgbClr val="028090"/>
          </a:solidFill>
          <a:ln/>
        </p:spPr>
      </p:sp>
      <p:sp>
        <p:nvSpPr>
          <p:cNvPr id="15" name="Text 13"/>
          <p:cNvSpPr/>
          <p:nvPr/>
        </p:nvSpPr>
        <p:spPr>
          <a:xfrm>
            <a:off x="384048" y="1673352"/>
            <a:ext cx="2103120" cy="320040"/>
          </a:xfrm>
          <a:prstGeom prst="rect">
            <a:avLst/>
          </a:prstGeom>
          <a:noFill/>
          <a:ln/>
        </p:spPr>
        <p:txBody>
          <a:bodyPr wrap="square" lIns="0" tIns="0" rIns="0" bIns="0" rtlCol="0" anchor="ctr"/>
          <a:lstStyle/>
          <a:p>
            <a:pPr indent="0" marL="0">
              <a:buNone/>
            </a:pPr>
            <a:r>
              <a:rPr lang="en-US" sz="1000" b="1" dirty="0">
                <a:solidFill>
                  <a:srgbClr val="0D1B2A"/>
                </a:solidFill>
              </a:rPr>
              <a:t>Control &amp; Validation Layer</a:t>
            </a:r>
            <a:endParaRPr lang="en-US" sz="1000" dirty="0"/>
          </a:p>
        </p:txBody>
      </p:sp>
      <p:sp>
        <p:nvSpPr>
          <p:cNvPr id="16" name="Shape 14"/>
          <p:cNvSpPr/>
          <p:nvPr/>
        </p:nvSpPr>
        <p:spPr>
          <a:xfrm>
            <a:off x="2560320" y="1764792"/>
            <a:ext cx="1783080" cy="475488"/>
          </a:xfrm>
          <a:prstGeom prst="rect">
            <a:avLst/>
          </a:prstGeom>
          <a:solidFill>
            <a:srgbClr val="028090"/>
          </a:solidFill>
          <a:ln/>
          <a:effectLst>
            <a:outerShdw sx="100000" sy="100000" kx="0" ky="0" algn="bl" rotWithShape="0" blurRad="101600" dist="38100" dir="8100000">
              <a:srgbClr val="000000">
                <a:alpha val="18000"/>
              </a:srgbClr>
            </a:outerShdw>
          </a:effectLst>
        </p:spPr>
      </p:sp>
      <p:sp>
        <p:nvSpPr>
          <p:cNvPr id="17" name="Text 15"/>
          <p:cNvSpPr/>
          <p:nvPr/>
        </p:nvSpPr>
        <p:spPr>
          <a:xfrm>
            <a:off x="2606040" y="176479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TrafficSteeringController</a:t>
            </a:r>
            <a:endParaRPr lang="en-US" sz="900" dirty="0"/>
          </a:p>
        </p:txBody>
      </p:sp>
      <p:sp>
        <p:nvSpPr>
          <p:cNvPr id="18" name="Shape 16"/>
          <p:cNvSpPr/>
          <p:nvPr/>
        </p:nvSpPr>
        <p:spPr>
          <a:xfrm>
            <a:off x="4480560" y="1764792"/>
            <a:ext cx="1783080" cy="475488"/>
          </a:xfrm>
          <a:prstGeom prst="rect">
            <a:avLst/>
          </a:prstGeom>
          <a:solidFill>
            <a:srgbClr val="028090"/>
          </a:solidFill>
          <a:ln/>
          <a:effectLst>
            <a:outerShdw sx="100000" sy="100000" kx="0" ky="0" algn="bl" rotWithShape="0" blurRad="101600" dist="38100" dir="8100000">
              <a:srgbClr val="000000">
                <a:alpha val="18000"/>
              </a:srgbClr>
            </a:outerShdw>
          </a:effectLst>
        </p:spPr>
      </p:sp>
      <p:sp>
        <p:nvSpPr>
          <p:cNvPr id="19" name="Text 17"/>
          <p:cNvSpPr/>
          <p:nvPr/>
        </p:nvSpPr>
        <p:spPr>
          <a:xfrm>
            <a:off x="4526280" y="176479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SDNControllerAdapter</a:t>
            </a:r>
            <a:endParaRPr lang="en-US" sz="900" dirty="0"/>
          </a:p>
        </p:txBody>
      </p:sp>
      <p:sp>
        <p:nvSpPr>
          <p:cNvPr id="20" name="Shape 18"/>
          <p:cNvSpPr/>
          <p:nvPr/>
        </p:nvSpPr>
        <p:spPr>
          <a:xfrm>
            <a:off x="6400800" y="1764792"/>
            <a:ext cx="1783080" cy="475488"/>
          </a:xfrm>
          <a:prstGeom prst="rect">
            <a:avLst/>
          </a:prstGeom>
          <a:solidFill>
            <a:srgbClr val="028090"/>
          </a:solidFill>
          <a:ln/>
          <a:effectLst>
            <a:outerShdw sx="100000" sy="100000" kx="0" ky="0" algn="bl" rotWithShape="0" blurRad="101600" dist="38100" dir="8100000">
              <a:srgbClr val="000000">
                <a:alpha val="18000"/>
              </a:srgbClr>
            </a:outerShdw>
          </a:effectLst>
        </p:spPr>
      </p:sp>
      <p:sp>
        <p:nvSpPr>
          <p:cNvPr id="21" name="Text 19"/>
          <p:cNvSpPr/>
          <p:nvPr/>
        </p:nvSpPr>
        <p:spPr>
          <a:xfrm>
            <a:off x="6446520" y="176479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DigitalTwinSandbox</a:t>
            </a:r>
            <a:endParaRPr lang="en-US" sz="900" dirty="0"/>
          </a:p>
        </p:txBody>
      </p:sp>
      <p:sp>
        <p:nvSpPr>
          <p:cNvPr id="22" name="Shape 20"/>
          <p:cNvSpPr/>
          <p:nvPr/>
        </p:nvSpPr>
        <p:spPr>
          <a:xfrm>
            <a:off x="8321040" y="1764792"/>
            <a:ext cx="1783080" cy="475488"/>
          </a:xfrm>
          <a:prstGeom prst="rect">
            <a:avLst/>
          </a:prstGeom>
          <a:solidFill>
            <a:srgbClr val="028090"/>
          </a:solidFill>
          <a:ln/>
          <a:effectLst>
            <a:outerShdw sx="100000" sy="100000" kx="0" ky="0" algn="bl" rotWithShape="0" blurRad="101600" dist="38100" dir="8100000">
              <a:srgbClr val="000000">
                <a:alpha val="18000"/>
              </a:srgbClr>
            </a:outerShdw>
          </a:effectLst>
        </p:spPr>
      </p:sp>
      <p:sp>
        <p:nvSpPr>
          <p:cNvPr id="23" name="Text 21"/>
          <p:cNvSpPr/>
          <p:nvPr/>
        </p:nvSpPr>
        <p:spPr>
          <a:xfrm>
            <a:off x="8366760" y="176479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MinimetBldr</a:t>
            </a:r>
            <a:endParaRPr lang="en-US" sz="900" dirty="0"/>
          </a:p>
        </p:txBody>
      </p:sp>
      <p:sp>
        <p:nvSpPr>
          <p:cNvPr id="24" name="Shape 22"/>
          <p:cNvSpPr/>
          <p:nvPr/>
        </p:nvSpPr>
        <p:spPr>
          <a:xfrm>
            <a:off x="228600" y="2542032"/>
            <a:ext cx="8686800" cy="749808"/>
          </a:xfrm>
          <a:prstGeom prst="rect">
            <a:avLst/>
          </a:prstGeom>
          <a:solidFill>
            <a:srgbClr val="00A896">
              <a:alpha val="20000"/>
            </a:srgbClr>
          </a:solidFill>
          <a:ln/>
          <a:effectLst>
            <a:outerShdw sx="100000" sy="100000" kx="0" ky="0" algn="bl" rotWithShape="0" blurRad="101600" dist="38100" dir="8100000">
              <a:srgbClr val="000000">
                <a:alpha val="18000"/>
              </a:srgbClr>
            </a:outerShdw>
          </a:effectLst>
        </p:spPr>
      </p:sp>
      <p:sp>
        <p:nvSpPr>
          <p:cNvPr id="25" name="Shape 23"/>
          <p:cNvSpPr/>
          <p:nvPr/>
        </p:nvSpPr>
        <p:spPr>
          <a:xfrm>
            <a:off x="228600" y="2542032"/>
            <a:ext cx="73152" cy="749808"/>
          </a:xfrm>
          <a:prstGeom prst="rect">
            <a:avLst/>
          </a:prstGeom>
          <a:solidFill>
            <a:srgbClr val="00A896"/>
          </a:solidFill>
          <a:ln/>
        </p:spPr>
      </p:sp>
      <p:sp>
        <p:nvSpPr>
          <p:cNvPr id="26" name="Text 24"/>
          <p:cNvSpPr/>
          <p:nvPr/>
        </p:nvSpPr>
        <p:spPr>
          <a:xfrm>
            <a:off x="384048" y="2587752"/>
            <a:ext cx="2103120" cy="320040"/>
          </a:xfrm>
          <a:prstGeom prst="rect">
            <a:avLst/>
          </a:prstGeom>
          <a:noFill/>
          <a:ln/>
        </p:spPr>
        <p:txBody>
          <a:bodyPr wrap="square" lIns="0" tIns="0" rIns="0" bIns="0" rtlCol="0" anchor="ctr"/>
          <a:lstStyle/>
          <a:p>
            <a:pPr indent="0" marL="0">
              <a:buNone/>
            </a:pPr>
            <a:r>
              <a:rPr lang="en-US" sz="1000" b="1" dirty="0">
                <a:solidFill>
                  <a:srgbClr val="0D1B2A"/>
                </a:solidFill>
              </a:rPr>
              <a:t>AI Processing Layer</a:t>
            </a:r>
            <a:endParaRPr lang="en-US" sz="1000" dirty="0"/>
          </a:p>
        </p:txBody>
      </p:sp>
      <p:sp>
        <p:nvSpPr>
          <p:cNvPr id="27" name="Shape 25"/>
          <p:cNvSpPr/>
          <p:nvPr/>
        </p:nvSpPr>
        <p:spPr>
          <a:xfrm>
            <a:off x="2560320" y="2679192"/>
            <a:ext cx="1783080" cy="475488"/>
          </a:xfrm>
          <a:prstGeom prst="rect">
            <a:avLst/>
          </a:prstGeom>
          <a:solidFill>
            <a:srgbClr val="00A896"/>
          </a:solidFill>
          <a:ln/>
          <a:effectLst>
            <a:outerShdw sx="100000" sy="100000" kx="0" ky="0" algn="bl" rotWithShape="0" blurRad="101600" dist="38100" dir="8100000">
              <a:srgbClr val="000000">
                <a:alpha val="18000"/>
              </a:srgbClr>
            </a:outerShdw>
          </a:effectLst>
        </p:spPr>
      </p:sp>
      <p:sp>
        <p:nvSpPr>
          <p:cNvPr id="28" name="Text 26"/>
          <p:cNvSpPr/>
          <p:nvPr/>
        </p:nvSpPr>
        <p:spPr>
          <a:xfrm>
            <a:off x="2606040" y="267919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LSTMPredictionEngine</a:t>
            </a:r>
            <a:endParaRPr lang="en-US" sz="900" dirty="0"/>
          </a:p>
        </p:txBody>
      </p:sp>
      <p:sp>
        <p:nvSpPr>
          <p:cNvPr id="29" name="Shape 27"/>
          <p:cNvSpPr/>
          <p:nvPr/>
        </p:nvSpPr>
        <p:spPr>
          <a:xfrm>
            <a:off x="4480560" y="2679192"/>
            <a:ext cx="1783080" cy="475488"/>
          </a:xfrm>
          <a:prstGeom prst="rect">
            <a:avLst/>
          </a:prstGeom>
          <a:solidFill>
            <a:srgbClr val="00A896"/>
          </a:solidFill>
          <a:ln/>
          <a:effectLst>
            <a:outerShdw sx="100000" sy="100000" kx="0" ky="0" algn="bl" rotWithShape="0" blurRad="101600" dist="38100" dir="8100000">
              <a:srgbClr val="000000">
                <a:alpha val="18000"/>
              </a:srgbClr>
            </a:outerShdw>
          </a:effectLst>
        </p:spPr>
      </p:sp>
      <p:sp>
        <p:nvSpPr>
          <p:cNvPr id="30" name="Text 28"/>
          <p:cNvSpPr/>
          <p:nvPr/>
        </p:nvSpPr>
        <p:spPr>
          <a:xfrm>
            <a:off x="4526280" y="267919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HealthScoreCalculator</a:t>
            </a:r>
            <a:endParaRPr lang="en-US" sz="900" dirty="0"/>
          </a:p>
        </p:txBody>
      </p:sp>
      <p:sp>
        <p:nvSpPr>
          <p:cNvPr id="31" name="Shape 29"/>
          <p:cNvSpPr/>
          <p:nvPr/>
        </p:nvSpPr>
        <p:spPr>
          <a:xfrm>
            <a:off x="6400800" y="2679192"/>
            <a:ext cx="1783080" cy="475488"/>
          </a:xfrm>
          <a:prstGeom prst="rect">
            <a:avLst/>
          </a:prstGeom>
          <a:solidFill>
            <a:srgbClr val="00A896"/>
          </a:solidFill>
          <a:ln/>
          <a:effectLst>
            <a:outerShdw sx="100000" sy="100000" kx="0" ky="0" algn="bl" rotWithShape="0" blurRad="101600" dist="38100" dir="8100000">
              <a:srgbClr val="000000">
                <a:alpha val="18000"/>
              </a:srgbClr>
            </a:outerShdw>
          </a:effectLst>
        </p:spPr>
      </p:sp>
      <p:sp>
        <p:nvSpPr>
          <p:cNvPr id="32" name="Text 30"/>
          <p:cNvSpPr/>
          <p:nvPr/>
        </p:nvSpPr>
        <p:spPr>
          <a:xfrm>
            <a:off x="6446520" y="267919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AlertNotificationService</a:t>
            </a:r>
            <a:endParaRPr lang="en-US" sz="900" dirty="0"/>
          </a:p>
        </p:txBody>
      </p:sp>
      <p:sp>
        <p:nvSpPr>
          <p:cNvPr id="33" name="Shape 31"/>
          <p:cNvSpPr/>
          <p:nvPr/>
        </p:nvSpPr>
        <p:spPr>
          <a:xfrm>
            <a:off x="228600" y="3364992"/>
            <a:ext cx="8686800" cy="749808"/>
          </a:xfrm>
          <a:prstGeom prst="rect">
            <a:avLst/>
          </a:prstGeom>
          <a:solidFill>
            <a:srgbClr val="94A3B8">
              <a:alpha val="20000"/>
            </a:srgbClr>
          </a:solidFill>
          <a:ln/>
          <a:effectLst>
            <a:outerShdw sx="100000" sy="100000" kx="0" ky="0" algn="bl" rotWithShape="0" blurRad="101600" dist="38100" dir="8100000">
              <a:srgbClr val="000000">
                <a:alpha val="18000"/>
              </a:srgbClr>
            </a:outerShdw>
          </a:effectLst>
        </p:spPr>
      </p:sp>
      <p:sp>
        <p:nvSpPr>
          <p:cNvPr id="34" name="Shape 32"/>
          <p:cNvSpPr/>
          <p:nvPr/>
        </p:nvSpPr>
        <p:spPr>
          <a:xfrm>
            <a:off x="228600" y="3364992"/>
            <a:ext cx="73152" cy="749808"/>
          </a:xfrm>
          <a:prstGeom prst="rect">
            <a:avLst/>
          </a:prstGeom>
          <a:solidFill>
            <a:srgbClr val="94A3B8"/>
          </a:solidFill>
          <a:ln/>
        </p:spPr>
      </p:sp>
      <p:sp>
        <p:nvSpPr>
          <p:cNvPr id="35" name="Text 33"/>
          <p:cNvSpPr/>
          <p:nvPr/>
        </p:nvSpPr>
        <p:spPr>
          <a:xfrm>
            <a:off x="384048" y="3410712"/>
            <a:ext cx="2103120" cy="320040"/>
          </a:xfrm>
          <a:prstGeom prst="rect">
            <a:avLst/>
          </a:prstGeom>
          <a:noFill/>
          <a:ln/>
        </p:spPr>
        <p:txBody>
          <a:bodyPr wrap="square" lIns="0" tIns="0" rIns="0" bIns="0" rtlCol="0" anchor="ctr"/>
          <a:lstStyle/>
          <a:p>
            <a:pPr indent="0" marL="0">
              <a:buNone/>
            </a:pPr>
            <a:r>
              <a:rPr lang="en-US" sz="1000" b="1" dirty="0">
                <a:solidFill>
                  <a:srgbClr val="0D1B2A"/>
                </a:solidFill>
              </a:rPr>
              <a:t>Data Ingestion &amp; Storage Layer</a:t>
            </a:r>
            <a:endParaRPr lang="en-US" sz="1000" dirty="0"/>
          </a:p>
        </p:txBody>
      </p:sp>
      <p:sp>
        <p:nvSpPr>
          <p:cNvPr id="36" name="Shape 34"/>
          <p:cNvSpPr/>
          <p:nvPr/>
        </p:nvSpPr>
        <p:spPr>
          <a:xfrm>
            <a:off x="2560320" y="3502152"/>
            <a:ext cx="1783080" cy="475488"/>
          </a:xfrm>
          <a:prstGeom prst="rect">
            <a:avLst/>
          </a:prstGeom>
          <a:solidFill>
            <a:srgbClr val="94A3B8"/>
          </a:solidFill>
          <a:ln/>
          <a:effectLst>
            <a:outerShdw sx="100000" sy="100000" kx="0" ky="0" algn="bl" rotWithShape="0" blurRad="101600" dist="38100" dir="8100000">
              <a:srgbClr val="000000">
                <a:alpha val="18000"/>
              </a:srgbClr>
            </a:outerShdw>
          </a:effectLst>
        </p:spPr>
      </p:sp>
      <p:sp>
        <p:nvSpPr>
          <p:cNvPr id="37" name="Text 35"/>
          <p:cNvSpPr/>
          <p:nvPr/>
        </p:nvSpPr>
        <p:spPr>
          <a:xfrm>
            <a:off x="2606040" y="350215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TelemetryIngestionService</a:t>
            </a:r>
            <a:endParaRPr lang="en-US" sz="900" dirty="0"/>
          </a:p>
        </p:txBody>
      </p:sp>
      <p:sp>
        <p:nvSpPr>
          <p:cNvPr id="38" name="Shape 36"/>
          <p:cNvSpPr/>
          <p:nvPr/>
        </p:nvSpPr>
        <p:spPr>
          <a:xfrm>
            <a:off x="4480560" y="3502152"/>
            <a:ext cx="1783080" cy="475488"/>
          </a:xfrm>
          <a:prstGeom prst="rect">
            <a:avLst/>
          </a:prstGeom>
          <a:solidFill>
            <a:srgbClr val="94A3B8"/>
          </a:solidFill>
          <a:ln/>
          <a:effectLst>
            <a:outerShdw sx="100000" sy="100000" kx="0" ky="0" algn="bl" rotWithShape="0" blurRad="101600" dist="38100" dir="8100000">
              <a:srgbClr val="000000">
                <a:alpha val="18000"/>
              </a:srgbClr>
            </a:outerShdw>
          </a:effectLst>
        </p:spPr>
      </p:sp>
      <p:sp>
        <p:nvSpPr>
          <p:cNvPr id="39" name="Text 37"/>
          <p:cNvSpPr/>
          <p:nvPr/>
        </p:nvSpPr>
        <p:spPr>
          <a:xfrm>
            <a:off x="4526280" y="350215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TimescaleDBRepository</a:t>
            </a:r>
            <a:endParaRPr lang="en-US" sz="900" dirty="0"/>
          </a:p>
        </p:txBody>
      </p:sp>
      <p:sp>
        <p:nvSpPr>
          <p:cNvPr id="40" name="Shape 38"/>
          <p:cNvSpPr/>
          <p:nvPr/>
        </p:nvSpPr>
        <p:spPr>
          <a:xfrm>
            <a:off x="6400800" y="3502152"/>
            <a:ext cx="1783080" cy="475488"/>
          </a:xfrm>
          <a:prstGeom prst="rect">
            <a:avLst/>
          </a:prstGeom>
          <a:solidFill>
            <a:srgbClr val="94A3B8"/>
          </a:solidFill>
          <a:ln/>
          <a:effectLst>
            <a:outerShdw sx="100000" sy="100000" kx="0" ky="0" algn="bl" rotWithShape="0" blurRad="101600" dist="38100" dir="8100000">
              <a:srgbClr val="000000">
                <a:alpha val="18000"/>
              </a:srgbClr>
            </a:outerShdw>
          </a:effectLst>
        </p:spPr>
      </p:sp>
      <p:sp>
        <p:nvSpPr>
          <p:cNvPr id="41" name="Text 39"/>
          <p:cNvSpPr/>
          <p:nvPr/>
        </p:nvSpPr>
        <p:spPr>
          <a:xfrm>
            <a:off x="6446520" y="350215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Redis Pub/Sub</a:t>
            </a:r>
            <a:endParaRPr lang="en-US" sz="900" dirty="0"/>
          </a:p>
        </p:txBody>
      </p:sp>
      <p:sp>
        <p:nvSpPr>
          <p:cNvPr id="42" name="Shape 40"/>
          <p:cNvSpPr/>
          <p:nvPr/>
        </p:nvSpPr>
        <p:spPr>
          <a:xfrm>
            <a:off x="8321040" y="3502152"/>
            <a:ext cx="1783080" cy="475488"/>
          </a:xfrm>
          <a:prstGeom prst="rect">
            <a:avLst/>
          </a:prstGeom>
          <a:solidFill>
            <a:srgbClr val="94A3B8"/>
          </a:solidFill>
          <a:ln/>
          <a:effectLst>
            <a:outerShdw sx="100000" sy="100000" kx="0" ky="0" algn="bl" rotWithShape="0" blurRad="101600" dist="38100" dir="8100000">
              <a:srgbClr val="000000">
                <a:alpha val="18000"/>
              </a:srgbClr>
            </a:outerShdw>
          </a:effectLst>
        </p:spPr>
      </p:sp>
      <p:sp>
        <p:nvSpPr>
          <p:cNvPr id="43" name="Text 41"/>
          <p:cNvSpPr/>
          <p:nvPr/>
        </p:nvSpPr>
        <p:spPr>
          <a:xfrm>
            <a:off x="8366760" y="3502152"/>
            <a:ext cx="1691640" cy="475488"/>
          </a:xfrm>
          <a:prstGeom prst="rect">
            <a:avLst/>
          </a:prstGeom>
          <a:noFill/>
          <a:ln/>
        </p:spPr>
        <p:txBody>
          <a:bodyPr wrap="square" lIns="0" tIns="0" rIns="0" bIns="0" rtlCol="0" anchor="ctr"/>
          <a:lstStyle/>
          <a:p>
            <a:pPr algn="ctr" indent="0" marL="0">
              <a:buNone/>
            </a:pPr>
            <a:r>
              <a:rPr lang="en-US" sz="900" dirty="0">
                <a:solidFill>
                  <a:srgbClr val="FFFFFF"/>
                </a:solidFill>
              </a:rPr>
              <a:t>AuditLogger</a:t>
            </a:r>
            <a:endParaRPr lang="en-US" sz="900" dirty="0"/>
          </a:p>
        </p:txBody>
      </p:sp>
      <p:sp>
        <p:nvSpPr>
          <p:cNvPr id="44" name="Shape 42"/>
          <p:cNvSpPr/>
          <p:nvPr/>
        </p:nvSpPr>
        <p:spPr>
          <a:xfrm>
            <a:off x="228600" y="4187952"/>
            <a:ext cx="4206240" cy="658368"/>
          </a:xfrm>
          <a:prstGeom prst="rect">
            <a:avLst/>
          </a:prstGeom>
          <a:solidFill>
            <a:srgbClr val="0D1B2A">
              <a:alpha val="90000"/>
            </a:srgbClr>
          </a:solidFill>
          <a:ln/>
          <a:effectLst>
            <a:outerShdw sx="100000" sy="100000" kx="0" ky="0" algn="bl" rotWithShape="0" blurRad="101600" dist="38100" dir="8100000">
              <a:srgbClr val="000000">
                <a:alpha val="18000"/>
              </a:srgbClr>
            </a:outerShdw>
          </a:effectLst>
        </p:spPr>
      </p:sp>
      <p:sp>
        <p:nvSpPr>
          <p:cNvPr id="45" name="Text 43"/>
          <p:cNvSpPr/>
          <p:nvPr/>
        </p:nvSpPr>
        <p:spPr>
          <a:xfrm>
            <a:off x="320040" y="4206240"/>
            <a:ext cx="4114800" cy="621792"/>
          </a:xfrm>
          <a:prstGeom prst="rect">
            <a:avLst/>
          </a:prstGeom>
          <a:noFill/>
          <a:ln/>
        </p:spPr>
        <p:txBody>
          <a:bodyPr wrap="square" lIns="0" tIns="0" rIns="0" bIns="0" rtlCol="0" anchor="ctr"/>
          <a:lstStyle/>
          <a:p>
            <a:pPr indent="0" marL="0">
              <a:buNone/>
            </a:pPr>
            <a:r>
              <a:rPr lang="en-US" sz="1000" dirty="0">
                <a:solidFill>
                  <a:srgbClr val="FFFFFF"/>
                </a:solidFill>
              </a:rPr>
              <a:t>Cross-Cutting: AuthenticationService · AuditLogger · TLS 1.3 Encryption · RBAC</a:t>
            </a:r>
            <a:endParaRPr lang="en-US" sz="1000" dirty="0"/>
          </a:p>
        </p:txBody>
      </p:sp>
      <p:sp>
        <p:nvSpPr>
          <p:cNvPr id="46" name="Shape 44"/>
          <p:cNvSpPr/>
          <p:nvPr/>
        </p:nvSpPr>
        <p:spPr>
          <a:xfrm>
            <a:off x="4663440" y="4187952"/>
            <a:ext cx="4251960" cy="658368"/>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47" name="Text 45"/>
          <p:cNvSpPr/>
          <p:nvPr/>
        </p:nvSpPr>
        <p:spPr>
          <a:xfrm>
            <a:off x="4754880" y="4206240"/>
            <a:ext cx="4069080" cy="621792"/>
          </a:xfrm>
          <a:prstGeom prst="rect">
            <a:avLst/>
          </a:prstGeom>
          <a:noFill/>
          <a:ln/>
        </p:spPr>
        <p:txBody>
          <a:bodyPr wrap="square" lIns="0" tIns="0" rIns="0" bIns="0" rtlCol="0" anchor="ctr"/>
          <a:lstStyle/>
          <a:p>
            <a:pPr indent="0" marL="0">
              <a:buNone/>
            </a:pPr>
            <a:r>
              <a:rPr lang="en-US" sz="1000" dirty="0">
                <a:solidFill>
                  <a:srgbClr val="E2E8F0"/>
                </a:solidFill>
              </a:rPr>
              <a:t>SDN Controllers: OpenDaylight / ONOS  ·  Network: Cisco, Juniper, Arista (any OpenFlow 1.3+)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7772400" cy="685800"/>
          </a:xfrm>
          <a:prstGeom prst="rect">
            <a:avLst/>
          </a:prstGeom>
          <a:noFill/>
          <a:ln/>
        </p:spPr>
        <p:txBody>
          <a:bodyPr wrap="square" lIns="0" tIns="0" rIns="0" bIns="0" rtlCol="0" anchor="ctr"/>
          <a:lstStyle/>
          <a:p>
            <a:pPr indent="0" marL="0">
              <a:buNone/>
            </a:pPr>
            <a:r>
              <a:rPr lang="en-US" sz="2200" b="1" dirty="0">
                <a:solidFill>
                  <a:srgbClr val="FFFFFF"/>
                </a:solidFill>
              </a:rPr>
              <a:t>Feature 1 — Predictive Telemetry Engine</a:t>
            </a:r>
            <a:endParaRPr lang="en-US" sz="2200" dirty="0"/>
          </a:p>
        </p:txBody>
      </p:sp>
      <p:sp>
        <p:nvSpPr>
          <p:cNvPr id="4" name="Text 2"/>
          <p:cNvSpPr/>
          <p:nvPr/>
        </p:nvSpPr>
        <p:spPr>
          <a:xfrm>
            <a:off x="8138160" y="91440"/>
            <a:ext cx="822960" cy="502920"/>
          </a:xfrm>
          <a:prstGeom prst="rect">
            <a:avLst/>
          </a:prstGeom>
          <a:noFill/>
          <a:ln/>
        </p:spPr>
        <p:txBody>
          <a:bodyPr wrap="square" lIns="0" tIns="0" rIns="0" bIns="0" rtlCol="0" anchor="ctr"/>
          <a:lstStyle/>
          <a:p>
            <a:pPr algn="r" indent="0" marL="0">
              <a:buNone/>
            </a:pPr>
            <a:r>
              <a:rPr lang="en-US" sz="1600" b="1" dirty="0">
                <a:solidFill>
                  <a:srgbClr val="02C39A"/>
                </a:solidFill>
              </a:rPr>
              <a:t>01 / 05</a:t>
            </a:r>
            <a:endParaRPr lang="en-US" sz="1600" dirty="0"/>
          </a:p>
        </p:txBody>
      </p:sp>
      <p:sp>
        <p:nvSpPr>
          <p:cNvPr id="5" name="Shape 3"/>
          <p:cNvSpPr/>
          <p:nvPr/>
        </p:nvSpPr>
        <p:spPr>
          <a:xfrm>
            <a:off x="228600" y="804672"/>
            <a:ext cx="3931920" cy="4041648"/>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6" name="Shape 4"/>
          <p:cNvSpPr/>
          <p:nvPr/>
        </p:nvSpPr>
        <p:spPr>
          <a:xfrm>
            <a:off x="1417320" y="896112"/>
            <a:ext cx="1554480" cy="1554480"/>
          </a:xfrm>
          <a:prstGeom prst="ellipse">
            <a:avLst/>
          </a:prstGeom>
          <a:solidFill>
            <a:srgbClr val="028090"/>
          </a:solidFill>
          <a:ln w="12700">
            <a:solidFill>
              <a:srgbClr val="028090"/>
            </a:solidFill>
            <a:prstDash val="solid"/>
          </a:ln>
        </p:spPr>
      </p:sp>
      <p:pic>
        <p:nvPicPr>
          <p:cNvPr id="7" name="Image 0" descr="preencoded.png">    </p:cNvPr>
          <p:cNvPicPr>
            <a:picLocks noChangeAspect="1"/>
          </p:cNvPicPr>
          <p:nvPr/>
        </p:nvPicPr>
        <p:blipFill>
          <a:blip r:embed="rId1"/>
          <a:stretch>
            <a:fillRect/>
          </a:stretch>
        </p:blipFill>
        <p:spPr>
          <a:xfrm>
            <a:off x="1600200" y="1051560"/>
            <a:ext cx="1170432" cy="1170432"/>
          </a:xfrm>
          <a:prstGeom prst="rect">
            <a:avLst/>
          </a:prstGeom>
        </p:spPr>
      </p:pic>
      <p:sp>
        <p:nvSpPr>
          <p:cNvPr id="8" name="Text 5"/>
          <p:cNvSpPr/>
          <p:nvPr/>
        </p:nvSpPr>
        <p:spPr>
          <a:xfrm>
            <a:off x="365760" y="2542032"/>
            <a:ext cx="3657600" cy="365760"/>
          </a:xfrm>
          <a:prstGeom prst="rect">
            <a:avLst/>
          </a:prstGeom>
          <a:noFill/>
          <a:ln/>
        </p:spPr>
        <p:txBody>
          <a:bodyPr wrap="square" lIns="0" tIns="0" rIns="0" bIns="0" rtlCol="0" anchor="ctr"/>
          <a:lstStyle/>
          <a:p>
            <a:pPr algn="ctr" indent="0" marL="0">
              <a:buNone/>
            </a:pPr>
            <a:r>
              <a:rPr lang="en-US" sz="1400" b="1" dirty="0">
                <a:solidFill>
                  <a:srgbClr val="02C39A"/>
                </a:solidFill>
              </a:rPr>
              <a:t>LSTM Neural Network</a:t>
            </a:r>
            <a:endParaRPr lang="en-US" sz="1400" dirty="0"/>
          </a:p>
        </p:txBody>
      </p:sp>
      <p:sp>
        <p:nvSpPr>
          <p:cNvPr id="9" name="Text 6"/>
          <p:cNvSpPr/>
          <p:nvPr/>
        </p:nvSpPr>
        <p:spPr>
          <a:xfrm>
            <a:off x="365760" y="2971800"/>
            <a:ext cx="3657600" cy="320040"/>
          </a:xfrm>
          <a:prstGeom prst="rect">
            <a:avLst/>
          </a:prstGeom>
          <a:noFill/>
          <a:ln/>
        </p:spPr>
        <p:txBody>
          <a:bodyPr wrap="square" lIns="0" tIns="0" rIns="0" bIns="0" rtlCol="0" anchor="ctr"/>
          <a:lstStyle/>
          <a:p>
            <a:pPr indent="0" marL="0">
              <a:buNone/>
            </a:pPr>
            <a:r>
              <a:rPr lang="en-US" sz="1050" dirty="0">
                <a:solidFill>
                  <a:srgbClr val="E2E8F0"/>
                </a:solidFill>
              </a:rPr>
              <a:t>▸  Framework: PyTorch with Attention Mechanism</a:t>
            </a:r>
            <a:endParaRPr lang="en-US" sz="1050" dirty="0"/>
          </a:p>
        </p:txBody>
      </p:sp>
      <p:sp>
        <p:nvSpPr>
          <p:cNvPr id="10" name="Text 7"/>
          <p:cNvSpPr/>
          <p:nvPr/>
        </p:nvSpPr>
        <p:spPr>
          <a:xfrm>
            <a:off x="365760" y="3319272"/>
            <a:ext cx="3657600" cy="320040"/>
          </a:xfrm>
          <a:prstGeom prst="rect">
            <a:avLst/>
          </a:prstGeom>
          <a:noFill/>
          <a:ln/>
        </p:spPr>
        <p:txBody>
          <a:bodyPr wrap="square" lIns="0" tIns="0" rIns="0" bIns="0" rtlCol="0" anchor="ctr"/>
          <a:lstStyle/>
          <a:p>
            <a:pPr indent="0" marL="0">
              <a:buNone/>
            </a:pPr>
            <a:r>
              <a:rPr lang="en-US" sz="1050" dirty="0">
                <a:solidFill>
                  <a:srgbClr val="E2E8F0"/>
                </a:solidFill>
              </a:rPr>
              <a:t>▸  Input: Latency · Jitter · Packet Loss (1s polling)</a:t>
            </a:r>
            <a:endParaRPr lang="en-US" sz="1050" dirty="0"/>
          </a:p>
        </p:txBody>
      </p:sp>
      <p:sp>
        <p:nvSpPr>
          <p:cNvPr id="11" name="Text 8"/>
          <p:cNvSpPr/>
          <p:nvPr/>
        </p:nvSpPr>
        <p:spPr>
          <a:xfrm>
            <a:off x="365760" y="3666744"/>
            <a:ext cx="3657600" cy="320040"/>
          </a:xfrm>
          <a:prstGeom prst="rect">
            <a:avLst/>
          </a:prstGeom>
          <a:noFill/>
          <a:ln/>
        </p:spPr>
        <p:txBody>
          <a:bodyPr wrap="square" lIns="0" tIns="0" rIns="0" bIns="0" rtlCol="0" anchor="ctr"/>
          <a:lstStyle/>
          <a:p>
            <a:pPr indent="0" marL="0">
              <a:buNone/>
            </a:pPr>
            <a:r>
              <a:rPr lang="en-US" sz="1050" dirty="0">
                <a:solidFill>
                  <a:srgbClr val="E2E8F0"/>
                </a:solidFill>
              </a:rPr>
              <a:t>▸  Horizon: 30–60 second prediction window</a:t>
            </a:r>
            <a:endParaRPr lang="en-US" sz="1050" dirty="0"/>
          </a:p>
        </p:txBody>
      </p:sp>
      <p:sp>
        <p:nvSpPr>
          <p:cNvPr id="12" name="Text 9"/>
          <p:cNvSpPr/>
          <p:nvPr/>
        </p:nvSpPr>
        <p:spPr>
          <a:xfrm>
            <a:off x="365760" y="4014216"/>
            <a:ext cx="3657600" cy="320040"/>
          </a:xfrm>
          <a:prstGeom prst="rect">
            <a:avLst/>
          </a:prstGeom>
          <a:noFill/>
          <a:ln/>
        </p:spPr>
        <p:txBody>
          <a:bodyPr wrap="square" lIns="0" tIns="0" rIns="0" bIns="0" rtlCol="0" anchor="ctr"/>
          <a:lstStyle/>
          <a:p>
            <a:pPr indent="0" marL="0">
              <a:buNone/>
            </a:pPr>
            <a:r>
              <a:rPr lang="en-US" sz="1050" dirty="0">
                <a:solidFill>
                  <a:srgbClr val="E2E8F0"/>
                </a:solidFill>
              </a:rPr>
              <a:t>▸  Accuracy: ≥ 90% Mean Squared Error target</a:t>
            </a:r>
            <a:endParaRPr lang="en-US" sz="1050" dirty="0"/>
          </a:p>
        </p:txBody>
      </p:sp>
      <p:sp>
        <p:nvSpPr>
          <p:cNvPr id="13" name="Text 10"/>
          <p:cNvSpPr/>
          <p:nvPr/>
        </p:nvSpPr>
        <p:spPr>
          <a:xfrm>
            <a:off x="365760" y="4361688"/>
            <a:ext cx="3657600" cy="320040"/>
          </a:xfrm>
          <a:prstGeom prst="rect">
            <a:avLst/>
          </a:prstGeom>
          <a:noFill/>
          <a:ln/>
        </p:spPr>
        <p:txBody>
          <a:bodyPr wrap="square" lIns="0" tIns="0" rIns="0" bIns="0" rtlCol="0" anchor="ctr"/>
          <a:lstStyle/>
          <a:p>
            <a:pPr indent="0" marL="0">
              <a:buNone/>
            </a:pPr>
            <a:r>
              <a:rPr lang="en-US" sz="1050" dirty="0">
                <a:solidFill>
                  <a:srgbClr val="E2E8F0"/>
                </a:solidFill>
              </a:rPr>
              <a:t>▸  Training: Min. 30 days historical telemetry data</a:t>
            </a:r>
            <a:endParaRPr lang="en-US" sz="1050" dirty="0"/>
          </a:p>
        </p:txBody>
      </p:sp>
      <p:sp>
        <p:nvSpPr>
          <p:cNvPr id="14" name="Shape 11"/>
          <p:cNvSpPr/>
          <p:nvPr/>
        </p:nvSpPr>
        <p:spPr>
          <a:xfrm>
            <a:off x="4389120" y="822960"/>
            <a:ext cx="4526280" cy="8046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5" name="Shape 12"/>
          <p:cNvSpPr/>
          <p:nvPr/>
        </p:nvSpPr>
        <p:spPr>
          <a:xfrm>
            <a:off x="4389120" y="822960"/>
            <a:ext cx="64008" cy="804672"/>
          </a:xfrm>
          <a:prstGeom prst="rect">
            <a:avLst/>
          </a:prstGeom>
          <a:solidFill>
            <a:srgbClr val="02C39A"/>
          </a:solidFill>
          <a:ln/>
        </p:spPr>
      </p:sp>
      <p:sp>
        <p:nvSpPr>
          <p:cNvPr id="16" name="Shape 13"/>
          <p:cNvSpPr/>
          <p:nvPr/>
        </p:nvSpPr>
        <p:spPr>
          <a:xfrm>
            <a:off x="4480560" y="987552"/>
            <a:ext cx="411480" cy="411480"/>
          </a:xfrm>
          <a:prstGeom prst="ellipse">
            <a:avLst/>
          </a:prstGeom>
          <a:solidFill>
            <a:srgbClr val="028090"/>
          </a:solidFill>
          <a:ln w="12700">
            <a:solidFill>
              <a:srgbClr val="028090"/>
            </a:solidFill>
            <a:prstDash val="solid"/>
          </a:ln>
        </p:spPr>
      </p:sp>
      <p:sp>
        <p:nvSpPr>
          <p:cNvPr id="17" name="Text 14"/>
          <p:cNvSpPr/>
          <p:nvPr/>
        </p:nvSpPr>
        <p:spPr>
          <a:xfrm>
            <a:off x="4480560" y="9875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8" name="Text 15"/>
          <p:cNvSpPr/>
          <p:nvPr/>
        </p:nvSpPr>
        <p:spPr>
          <a:xfrm>
            <a:off x="4983480" y="896112"/>
            <a:ext cx="3749040" cy="274320"/>
          </a:xfrm>
          <a:prstGeom prst="rect">
            <a:avLst/>
          </a:prstGeom>
          <a:noFill/>
          <a:ln/>
        </p:spPr>
        <p:txBody>
          <a:bodyPr wrap="square" lIns="0" tIns="0" rIns="0" bIns="0" rtlCol="0" anchor="ctr"/>
          <a:lstStyle/>
          <a:p>
            <a:pPr indent="0" marL="0">
              <a:buNone/>
            </a:pPr>
            <a:r>
              <a:rPr lang="en-US" sz="1200" b="1" dirty="0">
                <a:solidFill>
                  <a:srgbClr val="0D1B2A"/>
                </a:solidFill>
              </a:rPr>
              <a:t>Ingest</a:t>
            </a:r>
            <a:endParaRPr lang="en-US" sz="1200" dirty="0"/>
          </a:p>
        </p:txBody>
      </p:sp>
      <p:sp>
        <p:nvSpPr>
          <p:cNvPr id="19" name="Text 16"/>
          <p:cNvSpPr/>
          <p:nvPr/>
        </p:nvSpPr>
        <p:spPr>
          <a:xfrm>
            <a:off x="4983480" y="1207008"/>
            <a:ext cx="3749040" cy="384048"/>
          </a:xfrm>
          <a:prstGeom prst="rect">
            <a:avLst/>
          </a:prstGeom>
          <a:noFill/>
          <a:ln/>
        </p:spPr>
        <p:txBody>
          <a:bodyPr wrap="square" lIns="0" tIns="0" rIns="0" bIns="0" rtlCol="0" anchor="ctr"/>
          <a:lstStyle/>
          <a:p>
            <a:pPr indent="0" marL="0">
              <a:buNone/>
            </a:pPr>
            <a:r>
              <a:rPr lang="en-US" sz="1000" dirty="0">
                <a:solidFill>
                  <a:srgbClr val="334155"/>
                </a:solidFill>
              </a:rPr>
              <a:t>SNMP/NetFlow collectors stream latency, jitter &amp; loss at 1-second intervals to TimescaleDB</a:t>
            </a:r>
            <a:endParaRPr lang="en-US" sz="1000" dirty="0"/>
          </a:p>
        </p:txBody>
      </p:sp>
      <p:sp>
        <p:nvSpPr>
          <p:cNvPr id="20" name="Shape 17"/>
          <p:cNvSpPr/>
          <p:nvPr/>
        </p:nvSpPr>
        <p:spPr>
          <a:xfrm>
            <a:off x="4389120" y="1783080"/>
            <a:ext cx="4526280" cy="8046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1" name="Shape 18"/>
          <p:cNvSpPr/>
          <p:nvPr/>
        </p:nvSpPr>
        <p:spPr>
          <a:xfrm>
            <a:off x="4389120" y="1783080"/>
            <a:ext cx="64008" cy="804672"/>
          </a:xfrm>
          <a:prstGeom prst="rect">
            <a:avLst/>
          </a:prstGeom>
          <a:solidFill>
            <a:srgbClr val="02C39A"/>
          </a:solidFill>
          <a:ln/>
        </p:spPr>
      </p:sp>
      <p:sp>
        <p:nvSpPr>
          <p:cNvPr id="22" name="Shape 19"/>
          <p:cNvSpPr/>
          <p:nvPr/>
        </p:nvSpPr>
        <p:spPr>
          <a:xfrm>
            <a:off x="4480560" y="1947672"/>
            <a:ext cx="411480" cy="411480"/>
          </a:xfrm>
          <a:prstGeom prst="ellipse">
            <a:avLst/>
          </a:prstGeom>
          <a:solidFill>
            <a:srgbClr val="028090"/>
          </a:solidFill>
          <a:ln w="12700">
            <a:solidFill>
              <a:srgbClr val="028090"/>
            </a:solidFill>
            <a:prstDash val="solid"/>
          </a:ln>
        </p:spPr>
      </p:sp>
      <p:sp>
        <p:nvSpPr>
          <p:cNvPr id="23" name="Text 20"/>
          <p:cNvSpPr/>
          <p:nvPr/>
        </p:nvSpPr>
        <p:spPr>
          <a:xfrm>
            <a:off x="4480560" y="19476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4" name="Text 21"/>
          <p:cNvSpPr/>
          <p:nvPr/>
        </p:nvSpPr>
        <p:spPr>
          <a:xfrm>
            <a:off x="4983480" y="1856232"/>
            <a:ext cx="3749040" cy="274320"/>
          </a:xfrm>
          <a:prstGeom prst="rect">
            <a:avLst/>
          </a:prstGeom>
          <a:noFill/>
          <a:ln/>
        </p:spPr>
        <p:txBody>
          <a:bodyPr wrap="square" lIns="0" tIns="0" rIns="0" bIns="0" rtlCol="0" anchor="ctr"/>
          <a:lstStyle/>
          <a:p>
            <a:pPr indent="0" marL="0">
              <a:buNone/>
            </a:pPr>
            <a:r>
              <a:rPr lang="en-US" sz="1200" b="1" dirty="0">
                <a:solidFill>
                  <a:srgbClr val="0D1B2A"/>
                </a:solidFill>
              </a:rPr>
              <a:t>Predict</a:t>
            </a:r>
            <a:endParaRPr lang="en-US" sz="1200" dirty="0"/>
          </a:p>
        </p:txBody>
      </p:sp>
      <p:sp>
        <p:nvSpPr>
          <p:cNvPr id="25" name="Text 22"/>
          <p:cNvSpPr/>
          <p:nvPr/>
        </p:nvSpPr>
        <p:spPr>
          <a:xfrm>
            <a:off x="4983480" y="2167128"/>
            <a:ext cx="3749040" cy="384048"/>
          </a:xfrm>
          <a:prstGeom prst="rect">
            <a:avLst/>
          </a:prstGeom>
          <a:noFill/>
          <a:ln/>
        </p:spPr>
        <p:txBody>
          <a:bodyPr wrap="square" lIns="0" tIns="0" rIns="0" bIns="0" rtlCol="0" anchor="ctr"/>
          <a:lstStyle/>
          <a:p>
            <a:pPr indent="0" marL="0">
              <a:buNone/>
            </a:pPr>
            <a:r>
              <a:rPr lang="en-US" sz="1000" dirty="0">
                <a:solidFill>
                  <a:srgbClr val="334155"/>
                </a:solidFill>
              </a:rPr>
              <a:t>LSTM model maintains rolling buffer per WAN link; attention layer weights recent data higher</a:t>
            </a:r>
            <a:endParaRPr lang="en-US" sz="1000" dirty="0"/>
          </a:p>
        </p:txBody>
      </p:sp>
      <p:sp>
        <p:nvSpPr>
          <p:cNvPr id="26" name="Shape 23"/>
          <p:cNvSpPr/>
          <p:nvPr/>
        </p:nvSpPr>
        <p:spPr>
          <a:xfrm>
            <a:off x="4389120" y="2743200"/>
            <a:ext cx="4526280" cy="8046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7" name="Shape 24"/>
          <p:cNvSpPr/>
          <p:nvPr/>
        </p:nvSpPr>
        <p:spPr>
          <a:xfrm>
            <a:off x="4389120" y="2743200"/>
            <a:ext cx="64008" cy="804672"/>
          </a:xfrm>
          <a:prstGeom prst="rect">
            <a:avLst/>
          </a:prstGeom>
          <a:solidFill>
            <a:srgbClr val="02C39A"/>
          </a:solidFill>
          <a:ln/>
        </p:spPr>
      </p:sp>
      <p:sp>
        <p:nvSpPr>
          <p:cNvPr id="28" name="Shape 25"/>
          <p:cNvSpPr/>
          <p:nvPr/>
        </p:nvSpPr>
        <p:spPr>
          <a:xfrm>
            <a:off x="4480560" y="2907792"/>
            <a:ext cx="411480" cy="411480"/>
          </a:xfrm>
          <a:prstGeom prst="ellipse">
            <a:avLst/>
          </a:prstGeom>
          <a:solidFill>
            <a:srgbClr val="028090"/>
          </a:solidFill>
          <a:ln w="12700">
            <a:solidFill>
              <a:srgbClr val="028090"/>
            </a:solidFill>
            <a:prstDash val="solid"/>
          </a:ln>
        </p:spPr>
      </p:sp>
      <p:sp>
        <p:nvSpPr>
          <p:cNvPr id="29" name="Text 26"/>
          <p:cNvSpPr/>
          <p:nvPr/>
        </p:nvSpPr>
        <p:spPr>
          <a:xfrm>
            <a:off x="4480560" y="29077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0" name="Text 27"/>
          <p:cNvSpPr/>
          <p:nvPr/>
        </p:nvSpPr>
        <p:spPr>
          <a:xfrm>
            <a:off x="4983480" y="2816352"/>
            <a:ext cx="3749040" cy="274320"/>
          </a:xfrm>
          <a:prstGeom prst="rect">
            <a:avLst/>
          </a:prstGeom>
          <a:noFill/>
          <a:ln/>
        </p:spPr>
        <p:txBody>
          <a:bodyPr wrap="square" lIns="0" tIns="0" rIns="0" bIns="0" rtlCol="0" anchor="ctr"/>
          <a:lstStyle/>
          <a:p>
            <a:pPr indent="0" marL="0">
              <a:buNone/>
            </a:pPr>
            <a:r>
              <a:rPr lang="en-US" sz="1200" b="1" dirty="0">
                <a:solidFill>
                  <a:srgbClr val="0D1B2A"/>
                </a:solidFill>
              </a:rPr>
              <a:t>Score</a:t>
            </a:r>
            <a:endParaRPr lang="en-US" sz="1200" dirty="0"/>
          </a:p>
        </p:txBody>
      </p:sp>
      <p:sp>
        <p:nvSpPr>
          <p:cNvPr id="31" name="Text 28"/>
          <p:cNvSpPr/>
          <p:nvPr/>
        </p:nvSpPr>
        <p:spPr>
          <a:xfrm>
            <a:off x="4983480" y="3127248"/>
            <a:ext cx="3749040" cy="384048"/>
          </a:xfrm>
          <a:prstGeom prst="rect">
            <a:avLst/>
          </a:prstGeom>
          <a:noFill/>
          <a:ln/>
        </p:spPr>
        <p:txBody>
          <a:bodyPr wrap="square" lIns="0" tIns="0" rIns="0" bIns="0" rtlCol="0" anchor="ctr"/>
          <a:lstStyle/>
          <a:p>
            <a:pPr indent="0" marL="0">
              <a:buNone/>
            </a:pPr>
            <a:r>
              <a:rPr lang="en-US" sz="1000" dirty="0">
                <a:solidFill>
                  <a:srgbClr val="334155"/>
                </a:solidFill>
              </a:rPr>
              <a:t>Health score 0–100 computed per link; scores below threshold trigger the steering pipeline</a:t>
            </a:r>
            <a:endParaRPr lang="en-US" sz="1000" dirty="0"/>
          </a:p>
        </p:txBody>
      </p:sp>
      <p:sp>
        <p:nvSpPr>
          <p:cNvPr id="32" name="Shape 29"/>
          <p:cNvSpPr/>
          <p:nvPr/>
        </p:nvSpPr>
        <p:spPr>
          <a:xfrm>
            <a:off x="4389120" y="3703320"/>
            <a:ext cx="4526280" cy="8046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30"/>
          <p:cNvSpPr/>
          <p:nvPr/>
        </p:nvSpPr>
        <p:spPr>
          <a:xfrm>
            <a:off x="4389120" y="3703320"/>
            <a:ext cx="64008" cy="804672"/>
          </a:xfrm>
          <a:prstGeom prst="rect">
            <a:avLst/>
          </a:prstGeom>
          <a:solidFill>
            <a:srgbClr val="02C39A"/>
          </a:solidFill>
          <a:ln/>
        </p:spPr>
      </p:sp>
      <p:sp>
        <p:nvSpPr>
          <p:cNvPr id="34" name="Shape 31"/>
          <p:cNvSpPr/>
          <p:nvPr/>
        </p:nvSpPr>
        <p:spPr>
          <a:xfrm>
            <a:off x="4480560" y="3867912"/>
            <a:ext cx="411480" cy="411480"/>
          </a:xfrm>
          <a:prstGeom prst="ellipse">
            <a:avLst/>
          </a:prstGeom>
          <a:solidFill>
            <a:srgbClr val="028090"/>
          </a:solidFill>
          <a:ln w="12700">
            <a:solidFill>
              <a:srgbClr val="028090"/>
            </a:solidFill>
            <a:prstDash val="solid"/>
          </a:ln>
        </p:spPr>
      </p:sp>
      <p:sp>
        <p:nvSpPr>
          <p:cNvPr id="35" name="Text 32"/>
          <p:cNvSpPr/>
          <p:nvPr/>
        </p:nvSpPr>
        <p:spPr>
          <a:xfrm>
            <a:off x="4480560" y="38679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6" name="Text 33"/>
          <p:cNvSpPr/>
          <p:nvPr/>
        </p:nvSpPr>
        <p:spPr>
          <a:xfrm>
            <a:off x="4983480" y="3776472"/>
            <a:ext cx="3749040" cy="274320"/>
          </a:xfrm>
          <a:prstGeom prst="rect">
            <a:avLst/>
          </a:prstGeom>
          <a:noFill/>
          <a:ln/>
        </p:spPr>
        <p:txBody>
          <a:bodyPr wrap="square" lIns="0" tIns="0" rIns="0" bIns="0" rtlCol="0" anchor="ctr"/>
          <a:lstStyle/>
          <a:p>
            <a:pPr indent="0" marL="0">
              <a:buNone/>
            </a:pPr>
            <a:r>
              <a:rPr lang="en-US" sz="1200" b="1" dirty="0">
                <a:solidFill>
                  <a:srgbClr val="0D1B2A"/>
                </a:solidFill>
              </a:rPr>
              <a:t>Alert</a:t>
            </a:r>
            <a:endParaRPr lang="en-US" sz="1200" dirty="0"/>
          </a:p>
        </p:txBody>
      </p:sp>
      <p:sp>
        <p:nvSpPr>
          <p:cNvPr id="37" name="Text 34"/>
          <p:cNvSpPr/>
          <p:nvPr/>
        </p:nvSpPr>
        <p:spPr>
          <a:xfrm>
            <a:off x="4983480" y="4087368"/>
            <a:ext cx="3749040" cy="384048"/>
          </a:xfrm>
          <a:prstGeom prst="rect">
            <a:avLst/>
          </a:prstGeom>
          <a:noFill/>
          <a:ln/>
        </p:spPr>
        <p:txBody>
          <a:bodyPr wrap="square" lIns="0" tIns="0" rIns="0" bIns="0" rtlCol="0" anchor="ctr"/>
          <a:lstStyle/>
          <a:p>
            <a:pPr indent="0" marL="0">
              <a:buNone/>
            </a:pPr>
            <a:r>
              <a:rPr lang="en-US" sz="1000" dirty="0">
                <a:solidFill>
                  <a:srgbClr val="334155"/>
                </a:solidFill>
              </a:rPr>
              <a:t>Alert dispatched to dashboard + email with suppression window to prevent alert flooding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7772400" cy="685800"/>
          </a:xfrm>
          <a:prstGeom prst="rect">
            <a:avLst/>
          </a:prstGeom>
          <a:noFill/>
          <a:ln/>
        </p:spPr>
        <p:txBody>
          <a:bodyPr wrap="square" lIns="0" tIns="0" rIns="0" bIns="0" rtlCol="0" anchor="ctr"/>
          <a:lstStyle/>
          <a:p>
            <a:pPr indent="0" marL="0">
              <a:buNone/>
            </a:pPr>
            <a:r>
              <a:rPr lang="en-US" sz="2200" b="1" dirty="0">
                <a:solidFill>
                  <a:srgbClr val="FFFFFF"/>
                </a:solidFill>
              </a:rPr>
              <a:t>Feature 2 — Autonomous Traffic Steering (Hitless Handoff)</a:t>
            </a:r>
            <a:endParaRPr lang="en-US" sz="2200" dirty="0"/>
          </a:p>
        </p:txBody>
      </p:sp>
      <p:sp>
        <p:nvSpPr>
          <p:cNvPr id="4" name="Text 2"/>
          <p:cNvSpPr/>
          <p:nvPr/>
        </p:nvSpPr>
        <p:spPr>
          <a:xfrm>
            <a:off x="8138160" y="91440"/>
            <a:ext cx="822960" cy="502920"/>
          </a:xfrm>
          <a:prstGeom prst="rect">
            <a:avLst/>
          </a:prstGeom>
          <a:noFill/>
          <a:ln/>
        </p:spPr>
        <p:txBody>
          <a:bodyPr wrap="square" lIns="0" tIns="0" rIns="0" bIns="0" rtlCol="0" anchor="ctr"/>
          <a:lstStyle/>
          <a:p>
            <a:pPr algn="r" indent="0" marL="0">
              <a:buNone/>
            </a:pPr>
            <a:r>
              <a:rPr lang="en-US" sz="1600" b="1" dirty="0">
                <a:solidFill>
                  <a:srgbClr val="02C39A"/>
                </a:solidFill>
              </a:rPr>
              <a:t>02 / 05</a:t>
            </a:r>
            <a:endParaRPr lang="en-US" sz="1600" dirty="0"/>
          </a:p>
        </p:txBody>
      </p:sp>
      <p:sp>
        <p:nvSpPr>
          <p:cNvPr id="5" name="Shape 3"/>
          <p:cNvSpPr/>
          <p:nvPr/>
        </p:nvSpPr>
        <p:spPr>
          <a:xfrm>
            <a:off x="3200400" y="822960"/>
            <a:ext cx="2743200" cy="1280160"/>
          </a:xfrm>
          <a:prstGeom prst="rect">
            <a:avLst/>
          </a:prstGeom>
          <a:solidFill>
            <a:srgbClr val="028090"/>
          </a:solidFill>
          <a:ln/>
          <a:effectLst>
            <a:outerShdw sx="100000" sy="100000" kx="0" ky="0" algn="bl" rotWithShape="0" blurRad="101600" dist="38100" dir="8100000">
              <a:srgbClr val="000000">
                <a:alpha val="18000"/>
              </a:srgbClr>
            </a:outerShdw>
          </a:effectLst>
        </p:spPr>
      </p:sp>
      <p:sp>
        <p:nvSpPr>
          <p:cNvPr id="6" name="Text 4"/>
          <p:cNvSpPr/>
          <p:nvPr/>
        </p:nvSpPr>
        <p:spPr>
          <a:xfrm>
            <a:off x="3200400" y="868680"/>
            <a:ext cx="2743200" cy="685800"/>
          </a:xfrm>
          <a:prstGeom prst="rect">
            <a:avLst/>
          </a:prstGeom>
          <a:noFill/>
          <a:ln/>
        </p:spPr>
        <p:txBody>
          <a:bodyPr wrap="square" lIns="0" tIns="0" rIns="0" bIns="0" rtlCol="0" anchor="ctr"/>
          <a:lstStyle/>
          <a:p>
            <a:pPr algn="ctr" indent="0" marL="0">
              <a:buNone/>
            </a:pPr>
            <a:r>
              <a:rPr lang="en-US" sz="4000" b="1" dirty="0">
                <a:solidFill>
                  <a:srgbClr val="FFFFFF"/>
                </a:solidFill>
              </a:rPr>
              <a:t>&lt;50ms</a:t>
            </a:r>
            <a:endParaRPr lang="en-US" sz="4000" dirty="0"/>
          </a:p>
        </p:txBody>
      </p:sp>
      <p:sp>
        <p:nvSpPr>
          <p:cNvPr id="7" name="Text 5"/>
          <p:cNvSpPr/>
          <p:nvPr/>
        </p:nvSpPr>
        <p:spPr>
          <a:xfrm>
            <a:off x="3200400" y="1554480"/>
            <a:ext cx="2743200" cy="347472"/>
          </a:xfrm>
          <a:prstGeom prst="rect">
            <a:avLst/>
          </a:prstGeom>
          <a:noFill/>
          <a:ln/>
        </p:spPr>
        <p:txBody>
          <a:bodyPr wrap="square" lIns="0" tIns="0" rIns="0" bIns="0" rtlCol="0" anchor="ctr"/>
          <a:lstStyle/>
          <a:p>
            <a:pPr algn="ctr" indent="0" marL="0">
              <a:buNone/>
            </a:pPr>
            <a:r>
              <a:rPr lang="en-US" sz="1200" dirty="0">
                <a:solidFill>
                  <a:srgbClr val="FFFFFF"/>
                </a:solidFill>
              </a:rPr>
              <a:t>End-to-end failover target</a:t>
            </a:r>
            <a:endParaRPr lang="en-US" sz="1200" dirty="0"/>
          </a:p>
        </p:txBody>
      </p:sp>
      <p:sp>
        <p:nvSpPr>
          <p:cNvPr id="8" name="Shape 6"/>
          <p:cNvSpPr/>
          <p:nvPr/>
        </p:nvSpPr>
        <p:spPr>
          <a:xfrm>
            <a:off x="228600" y="822960"/>
            <a:ext cx="2743200" cy="1280160"/>
          </a:xfrm>
          <a:prstGeom prst="rect">
            <a:avLst/>
          </a:prstGeom>
          <a:solidFill>
            <a:srgbClr val="EF4444">
              <a:alpha val="85000"/>
            </a:srgbClr>
          </a:solidFill>
          <a:ln/>
          <a:effectLst>
            <a:outerShdw sx="100000" sy="100000" kx="0" ky="0" algn="bl" rotWithShape="0" blurRad="101600" dist="38100" dir="8100000">
              <a:srgbClr val="000000">
                <a:alpha val="18000"/>
              </a:srgbClr>
            </a:outerShdw>
          </a:effectLst>
        </p:spPr>
      </p:sp>
      <p:sp>
        <p:nvSpPr>
          <p:cNvPr id="9" name="Text 7"/>
          <p:cNvSpPr/>
          <p:nvPr/>
        </p:nvSpPr>
        <p:spPr>
          <a:xfrm>
            <a:off x="228600" y="841248"/>
            <a:ext cx="2743200" cy="347472"/>
          </a:xfrm>
          <a:prstGeom prst="rect">
            <a:avLst/>
          </a:prstGeom>
          <a:noFill/>
          <a:ln/>
        </p:spPr>
        <p:txBody>
          <a:bodyPr wrap="square" lIns="0" tIns="0" rIns="0" bIns="0" rtlCol="0" anchor="ctr"/>
          <a:lstStyle/>
          <a:p>
            <a:pPr algn="ctr" indent="0" marL="0">
              <a:buNone/>
            </a:pPr>
            <a:r>
              <a:rPr lang="en-US" sz="1200" b="1" dirty="0">
                <a:solidFill>
                  <a:srgbClr val="EF4444"/>
                </a:solidFill>
              </a:rPr>
              <a:t>BEFORE (Reactive)</a:t>
            </a:r>
            <a:endParaRPr lang="en-US" sz="1200" dirty="0"/>
          </a:p>
        </p:txBody>
      </p:sp>
      <p:sp>
        <p:nvSpPr>
          <p:cNvPr id="10" name="Text 8"/>
          <p:cNvSpPr/>
          <p:nvPr/>
        </p:nvSpPr>
        <p:spPr>
          <a:xfrm>
            <a:off x="320040" y="1234440"/>
            <a:ext cx="2560320" cy="777240"/>
          </a:xfrm>
          <a:prstGeom prst="rect">
            <a:avLst/>
          </a:prstGeom>
          <a:noFill/>
          <a:ln/>
        </p:spPr>
        <p:txBody>
          <a:bodyPr wrap="square" lIns="0" tIns="0" rIns="0" bIns="0" rtlCol="0" anchor="ctr"/>
          <a:lstStyle/>
          <a:p>
            <a:pPr algn="ctr" indent="0" marL="0">
              <a:buNone/>
            </a:pPr>
            <a:r>
              <a:rPr lang="en-US" sz="1000" dirty="0">
                <a:solidFill>
                  <a:srgbClr val="334155"/>
                </a:solidFill>
              </a:rPr>
              <a:t>Link fails → packets lost → timeout → failover → service restored (seconds of disruption)</a:t>
            </a:r>
            <a:endParaRPr lang="en-US" sz="1000" dirty="0"/>
          </a:p>
        </p:txBody>
      </p:sp>
      <p:sp>
        <p:nvSpPr>
          <p:cNvPr id="11" name="Shape 9"/>
          <p:cNvSpPr/>
          <p:nvPr/>
        </p:nvSpPr>
        <p:spPr>
          <a:xfrm>
            <a:off x="6172200" y="822960"/>
            <a:ext cx="2743200" cy="1280160"/>
          </a:xfrm>
          <a:prstGeom prst="rect">
            <a:avLst/>
          </a:prstGeom>
          <a:solidFill>
            <a:srgbClr val="10B981">
              <a:alpha val="85000"/>
            </a:srgbClr>
          </a:solidFill>
          <a:ln/>
          <a:effectLst>
            <a:outerShdw sx="100000" sy="100000" kx="0" ky="0" algn="bl" rotWithShape="0" blurRad="101600" dist="38100" dir="8100000">
              <a:srgbClr val="000000">
                <a:alpha val="18000"/>
              </a:srgbClr>
            </a:outerShdw>
          </a:effectLst>
        </p:spPr>
      </p:sp>
      <p:sp>
        <p:nvSpPr>
          <p:cNvPr id="12" name="Text 10"/>
          <p:cNvSpPr/>
          <p:nvPr/>
        </p:nvSpPr>
        <p:spPr>
          <a:xfrm>
            <a:off x="6172200" y="841248"/>
            <a:ext cx="2743200" cy="347472"/>
          </a:xfrm>
          <a:prstGeom prst="rect">
            <a:avLst/>
          </a:prstGeom>
          <a:noFill/>
          <a:ln/>
        </p:spPr>
        <p:txBody>
          <a:bodyPr wrap="square" lIns="0" tIns="0" rIns="0" bIns="0" rtlCol="0" anchor="ctr"/>
          <a:lstStyle/>
          <a:p>
            <a:pPr algn="ctr" indent="0" marL="0">
              <a:buNone/>
            </a:pPr>
            <a:r>
              <a:rPr lang="en-US" sz="1200" b="1" dirty="0">
                <a:solidFill>
                  <a:srgbClr val="10B981"/>
                </a:solidFill>
              </a:rPr>
              <a:t>AFTER (Predictive)</a:t>
            </a:r>
            <a:endParaRPr lang="en-US" sz="1200" dirty="0"/>
          </a:p>
        </p:txBody>
      </p:sp>
      <p:sp>
        <p:nvSpPr>
          <p:cNvPr id="13" name="Text 11"/>
          <p:cNvSpPr/>
          <p:nvPr/>
        </p:nvSpPr>
        <p:spPr>
          <a:xfrm>
            <a:off x="6263640" y="1234440"/>
            <a:ext cx="2560320" cy="777240"/>
          </a:xfrm>
          <a:prstGeom prst="rect">
            <a:avLst/>
          </a:prstGeom>
          <a:noFill/>
          <a:ln/>
        </p:spPr>
        <p:txBody>
          <a:bodyPr wrap="square" lIns="0" tIns="0" rIns="0" bIns="0" rtlCol="0" anchor="ctr"/>
          <a:lstStyle/>
          <a:p>
            <a:pPr algn="ctr" indent="0" marL="0">
              <a:buNone/>
            </a:pPr>
            <a:r>
              <a:rPr lang="en-US" sz="1000" dirty="0">
                <a:solidFill>
                  <a:srgbClr val="334155"/>
                </a:solidFill>
              </a:rPr>
              <a:t>LSTM predicts brownout → sandbox validates → flow tables updated → traffic rerouted seamlessly</a:t>
            </a:r>
            <a:endParaRPr lang="en-US" sz="1000" dirty="0"/>
          </a:p>
        </p:txBody>
      </p:sp>
      <p:sp>
        <p:nvSpPr>
          <p:cNvPr id="14" name="Shape 12"/>
          <p:cNvSpPr/>
          <p:nvPr/>
        </p:nvSpPr>
        <p:spPr>
          <a:xfrm>
            <a:off x="228600" y="2286000"/>
            <a:ext cx="1627632" cy="1600200"/>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15" name="Shape 13"/>
          <p:cNvSpPr/>
          <p:nvPr/>
        </p:nvSpPr>
        <p:spPr>
          <a:xfrm>
            <a:off x="228600" y="2286000"/>
            <a:ext cx="1627632" cy="64008"/>
          </a:xfrm>
          <a:prstGeom prst="rect">
            <a:avLst/>
          </a:prstGeom>
          <a:solidFill>
            <a:srgbClr val="02C39A"/>
          </a:solidFill>
          <a:ln/>
        </p:spPr>
      </p:sp>
      <p:sp>
        <p:nvSpPr>
          <p:cNvPr id="16" name="Shape 14"/>
          <p:cNvSpPr/>
          <p:nvPr/>
        </p:nvSpPr>
        <p:spPr>
          <a:xfrm>
            <a:off x="795528" y="2395728"/>
            <a:ext cx="475488" cy="475488"/>
          </a:xfrm>
          <a:prstGeom prst="ellipse">
            <a:avLst/>
          </a:prstGeom>
          <a:solidFill>
            <a:srgbClr val="028090"/>
          </a:solidFill>
          <a:ln w="12700">
            <a:solidFill>
              <a:srgbClr val="028090"/>
            </a:solidFill>
            <a:prstDash val="solid"/>
          </a:ln>
        </p:spPr>
      </p:sp>
      <p:sp>
        <p:nvSpPr>
          <p:cNvPr id="17" name="Text 15"/>
          <p:cNvSpPr/>
          <p:nvPr/>
        </p:nvSpPr>
        <p:spPr>
          <a:xfrm>
            <a:off x="795528"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8" name="Text 16"/>
          <p:cNvSpPr/>
          <p:nvPr/>
        </p:nvSpPr>
        <p:spPr>
          <a:xfrm>
            <a:off x="274320" y="2944368"/>
            <a:ext cx="1536192" cy="347472"/>
          </a:xfrm>
          <a:prstGeom prst="rect">
            <a:avLst/>
          </a:prstGeom>
          <a:noFill/>
          <a:ln/>
        </p:spPr>
        <p:txBody>
          <a:bodyPr wrap="square" lIns="0" tIns="0" rIns="0" bIns="0" rtlCol="0" anchor="ctr"/>
          <a:lstStyle/>
          <a:p>
            <a:pPr algn="ctr" indent="0" marL="0">
              <a:buNone/>
            </a:pPr>
            <a:r>
              <a:rPr lang="en-US" sz="1000" b="1" dirty="0">
                <a:solidFill>
                  <a:srgbClr val="02C39A"/>
                </a:solidFill>
              </a:rPr>
              <a:t>Predict Trigger</a:t>
            </a:r>
            <a:endParaRPr lang="en-US" sz="1000" dirty="0"/>
          </a:p>
        </p:txBody>
      </p:sp>
      <p:sp>
        <p:nvSpPr>
          <p:cNvPr id="19" name="Text 17"/>
          <p:cNvSpPr/>
          <p:nvPr/>
        </p:nvSpPr>
        <p:spPr>
          <a:xfrm>
            <a:off x="274320" y="3310128"/>
            <a:ext cx="1536192" cy="548640"/>
          </a:xfrm>
          <a:prstGeom prst="rect">
            <a:avLst/>
          </a:prstGeom>
          <a:noFill/>
          <a:ln/>
        </p:spPr>
        <p:txBody>
          <a:bodyPr wrap="square" lIns="0" tIns="0" rIns="0" bIns="0" rtlCol="0" anchor="ctr"/>
          <a:lstStyle/>
          <a:p>
            <a:pPr algn="ctr" indent="0" marL="0">
              <a:buNone/>
            </a:pPr>
            <a:r>
              <a:rPr lang="en-US" sz="950" dirty="0">
                <a:solidFill>
                  <a:srgbClr val="E2E8F0"/>
                </a:solidFill>
              </a:rPr>
              <a:t>Health score drops below threshold with ≥85% LSTM confidence</a:t>
            </a:r>
            <a:endParaRPr lang="en-US" sz="950" dirty="0"/>
          </a:p>
        </p:txBody>
      </p:sp>
      <p:sp>
        <p:nvSpPr>
          <p:cNvPr id="20" name="Shape 18"/>
          <p:cNvSpPr/>
          <p:nvPr/>
        </p:nvSpPr>
        <p:spPr>
          <a:xfrm>
            <a:off x="1984248" y="2286000"/>
            <a:ext cx="1627632" cy="1600200"/>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21" name="Shape 19"/>
          <p:cNvSpPr/>
          <p:nvPr/>
        </p:nvSpPr>
        <p:spPr>
          <a:xfrm>
            <a:off x="1984248" y="2286000"/>
            <a:ext cx="1627632" cy="64008"/>
          </a:xfrm>
          <a:prstGeom prst="rect">
            <a:avLst/>
          </a:prstGeom>
          <a:solidFill>
            <a:srgbClr val="02C39A"/>
          </a:solidFill>
          <a:ln/>
        </p:spPr>
      </p:sp>
      <p:sp>
        <p:nvSpPr>
          <p:cNvPr id="22" name="Shape 20"/>
          <p:cNvSpPr/>
          <p:nvPr/>
        </p:nvSpPr>
        <p:spPr>
          <a:xfrm>
            <a:off x="2551176" y="2395728"/>
            <a:ext cx="475488" cy="475488"/>
          </a:xfrm>
          <a:prstGeom prst="ellipse">
            <a:avLst/>
          </a:prstGeom>
          <a:solidFill>
            <a:srgbClr val="028090"/>
          </a:solidFill>
          <a:ln w="12700">
            <a:solidFill>
              <a:srgbClr val="028090"/>
            </a:solidFill>
            <a:prstDash val="solid"/>
          </a:ln>
        </p:spPr>
      </p:sp>
      <p:sp>
        <p:nvSpPr>
          <p:cNvPr id="23" name="Text 21"/>
          <p:cNvSpPr/>
          <p:nvPr/>
        </p:nvSpPr>
        <p:spPr>
          <a:xfrm>
            <a:off x="2551176"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4" name="Text 22"/>
          <p:cNvSpPr/>
          <p:nvPr/>
        </p:nvSpPr>
        <p:spPr>
          <a:xfrm>
            <a:off x="2029968" y="2944368"/>
            <a:ext cx="1536192" cy="347472"/>
          </a:xfrm>
          <a:prstGeom prst="rect">
            <a:avLst/>
          </a:prstGeom>
          <a:noFill/>
          <a:ln/>
        </p:spPr>
        <p:txBody>
          <a:bodyPr wrap="square" lIns="0" tIns="0" rIns="0" bIns="0" rtlCol="0" anchor="ctr"/>
          <a:lstStyle/>
          <a:p>
            <a:pPr algn="ctr" indent="0" marL="0">
              <a:buNone/>
            </a:pPr>
            <a:r>
              <a:rPr lang="en-US" sz="1000" b="1" dirty="0">
                <a:solidFill>
                  <a:srgbClr val="02C39A"/>
                </a:solidFill>
              </a:rPr>
              <a:t>Sandbox Validate</a:t>
            </a:r>
            <a:endParaRPr lang="en-US" sz="1000" dirty="0"/>
          </a:p>
        </p:txBody>
      </p:sp>
      <p:sp>
        <p:nvSpPr>
          <p:cNvPr id="25" name="Text 23"/>
          <p:cNvSpPr/>
          <p:nvPr/>
        </p:nvSpPr>
        <p:spPr>
          <a:xfrm>
            <a:off x="2029968" y="3310128"/>
            <a:ext cx="1536192" cy="548640"/>
          </a:xfrm>
          <a:prstGeom prst="rect">
            <a:avLst/>
          </a:prstGeom>
          <a:noFill/>
          <a:ln/>
        </p:spPr>
        <p:txBody>
          <a:bodyPr wrap="square" lIns="0" tIns="0" rIns="0" bIns="0" rtlCol="0" anchor="ctr"/>
          <a:lstStyle/>
          <a:p>
            <a:pPr algn="ctr" indent="0" marL="0">
              <a:buNone/>
            </a:pPr>
            <a:r>
              <a:rPr lang="en-US" sz="950" dirty="0">
                <a:solidFill>
                  <a:srgbClr val="E2E8F0"/>
                </a:solidFill>
              </a:rPr>
              <a:t>DigitalTwinSandbox runs loop detection + Batfish policy check</a:t>
            </a:r>
            <a:endParaRPr lang="en-US" sz="950" dirty="0"/>
          </a:p>
        </p:txBody>
      </p:sp>
      <p:sp>
        <p:nvSpPr>
          <p:cNvPr id="26" name="Shape 24"/>
          <p:cNvSpPr/>
          <p:nvPr/>
        </p:nvSpPr>
        <p:spPr>
          <a:xfrm>
            <a:off x="3739896" y="2286000"/>
            <a:ext cx="1627632" cy="1600200"/>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27" name="Shape 25"/>
          <p:cNvSpPr/>
          <p:nvPr/>
        </p:nvSpPr>
        <p:spPr>
          <a:xfrm>
            <a:off x="3739896" y="2286000"/>
            <a:ext cx="1627632" cy="64008"/>
          </a:xfrm>
          <a:prstGeom prst="rect">
            <a:avLst/>
          </a:prstGeom>
          <a:solidFill>
            <a:srgbClr val="02C39A"/>
          </a:solidFill>
          <a:ln/>
        </p:spPr>
      </p:sp>
      <p:sp>
        <p:nvSpPr>
          <p:cNvPr id="28" name="Shape 26"/>
          <p:cNvSpPr/>
          <p:nvPr/>
        </p:nvSpPr>
        <p:spPr>
          <a:xfrm>
            <a:off x="4306824" y="2395728"/>
            <a:ext cx="475488" cy="475488"/>
          </a:xfrm>
          <a:prstGeom prst="ellipse">
            <a:avLst/>
          </a:prstGeom>
          <a:solidFill>
            <a:srgbClr val="028090"/>
          </a:solidFill>
          <a:ln w="12700">
            <a:solidFill>
              <a:srgbClr val="028090"/>
            </a:solidFill>
            <a:prstDash val="solid"/>
          </a:ln>
        </p:spPr>
      </p:sp>
      <p:sp>
        <p:nvSpPr>
          <p:cNvPr id="29" name="Text 27"/>
          <p:cNvSpPr/>
          <p:nvPr/>
        </p:nvSpPr>
        <p:spPr>
          <a:xfrm>
            <a:off x="4306824"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30" name="Text 28"/>
          <p:cNvSpPr/>
          <p:nvPr/>
        </p:nvSpPr>
        <p:spPr>
          <a:xfrm>
            <a:off x="3785616" y="2944368"/>
            <a:ext cx="1536192" cy="347472"/>
          </a:xfrm>
          <a:prstGeom prst="rect">
            <a:avLst/>
          </a:prstGeom>
          <a:noFill/>
          <a:ln/>
        </p:spPr>
        <p:txBody>
          <a:bodyPr wrap="square" lIns="0" tIns="0" rIns="0" bIns="0" rtlCol="0" anchor="ctr"/>
          <a:lstStyle/>
          <a:p>
            <a:pPr algn="ctr" indent="0" marL="0">
              <a:buNone/>
            </a:pPr>
            <a:r>
              <a:rPr lang="en-US" sz="1000" b="1" dirty="0">
                <a:solidFill>
                  <a:srgbClr val="02C39A"/>
                </a:solidFill>
              </a:rPr>
              <a:t>Pre-Compute Flows</a:t>
            </a:r>
            <a:endParaRPr lang="en-US" sz="1000" dirty="0"/>
          </a:p>
        </p:txBody>
      </p:sp>
      <p:sp>
        <p:nvSpPr>
          <p:cNvPr id="31" name="Text 29"/>
          <p:cNvSpPr/>
          <p:nvPr/>
        </p:nvSpPr>
        <p:spPr>
          <a:xfrm>
            <a:off x="3785616" y="3310128"/>
            <a:ext cx="1536192" cy="548640"/>
          </a:xfrm>
          <a:prstGeom prst="rect">
            <a:avLst/>
          </a:prstGeom>
          <a:noFill/>
          <a:ln/>
        </p:spPr>
        <p:txBody>
          <a:bodyPr wrap="square" lIns="0" tIns="0" rIns="0" bIns="0" rtlCol="0" anchor="ctr"/>
          <a:lstStyle/>
          <a:p>
            <a:pPr algn="ctr" indent="0" marL="0">
              <a:buNone/>
            </a:pPr>
            <a:r>
              <a:rPr lang="en-US" sz="950" dirty="0">
                <a:solidFill>
                  <a:srgbClr val="E2E8F0"/>
                </a:solidFill>
              </a:rPr>
              <a:t>TrafficSteeringController calculates new flow table entries</a:t>
            </a:r>
            <a:endParaRPr lang="en-US" sz="950" dirty="0"/>
          </a:p>
        </p:txBody>
      </p:sp>
      <p:sp>
        <p:nvSpPr>
          <p:cNvPr id="32" name="Shape 30"/>
          <p:cNvSpPr/>
          <p:nvPr/>
        </p:nvSpPr>
        <p:spPr>
          <a:xfrm>
            <a:off x="5495544" y="2286000"/>
            <a:ext cx="1627632" cy="1600200"/>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33" name="Shape 31"/>
          <p:cNvSpPr/>
          <p:nvPr/>
        </p:nvSpPr>
        <p:spPr>
          <a:xfrm>
            <a:off x="5495544" y="2286000"/>
            <a:ext cx="1627632" cy="64008"/>
          </a:xfrm>
          <a:prstGeom prst="rect">
            <a:avLst/>
          </a:prstGeom>
          <a:solidFill>
            <a:srgbClr val="02C39A"/>
          </a:solidFill>
          <a:ln/>
        </p:spPr>
      </p:sp>
      <p:sp>
        <p:nvSpPr>
          <p:cNvPr id="34" name="Shape 32"/>
          <p:cNvSpPr/>
          <p:nvPr/>
        </p:nvSpPr>
        <p:spPr>
          <a:xfrm>
            <a:off x="6062472" y="2395728"/>
            <a:ext cx="475488" cy="475488"/>
          </a:xfrm>
          <a:prstGeom prst="ellipse">
            <a:avLst/>
          </a:prstGeom>
          <a:solidFill>
            <a:srgbClr val="028090"/>
          </a:solidFill>
          <a:ln w="12700">
            <a:solidFill>
              <a:srgbClr val="028090"/>
            </a:solidFill>
            <a:prstDash val="solid"/>
          </a:ln>
        </p:spPr>
      </p:sp>
      <p:sp>
        <p:nvSpPr>
          <p:cNvPr id="35" name="Text 33"/>
          <p:cNvSpPr/>
          <p:nvPr/>
        </p:nvSpPr>
        <p:spPr>
          <a:xfrm>
            <a:off x="6062472"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6" name="Text 34"/>
          <p:cNvSpPr/>
          <p:nvPr/>
        </p:nvSpPr>
        <p:spPr>
          <a:xfrm>
            <a:off x="5541264" y="2944368"/>
            <a:ext cx="1536192" cy="347472"/>
          </a:xfrm>
          <a:prstGeom prst="rect">
            <a:avLst/>
          </a:prstGeom>
          <a:noFill/>
          <a:ln/>
        </p:spPr>
        <p:txBody>
          <a:bodyPr wrap="square" lIns="0" tIns="0" rIns="0" bIns="0" rtlCol="0" anchor="ctr"/>
          <a:lstStyle/>
          <a:p>
            <a:pPr algn="ctr" indent="0" marL="0">
              <a:buNone/>
            </a:pPr>
            <a:r>
              <a:rPr lang="en-US" sz="1000" b="1" dirty="0">
                <a:solidFill>
                  <a:srgbClr val="02C39A"/>
                </a:solidFill>
              </a:rPr>
              <a:t>Atomic Switch</a:t>
            </a:r>
            <a:endParaRPr lang="en-US" sz="1000" dirty="0"/>
          </a:p>
        </p:txBody>
      </p:sp>
      <p:sp>
        <p:nvSpPr>
          <p:cNvPr id="37" name="Text 35"/>
          <p:cNvSpPr/>
          <p:nvPr/>
        </p:nvSpPr>
        <p:spPr>
          <a:xfrm>
            <a:off x="5541264" y="3310128"/>
            <a:ext cx="1536192" cy="548640"/>
          </a:xfrm>
          <a:prstGeom prst="rect">
            <a:avLst/>
          </a:prstGeom>
          <a:noFill/>
          <a:ln/>
        </p:spPr>
        <p:txBody>
          <a:bodyPr wrap="square" lIns="0" tIns="0" rIns="0" bIns="0" rtlCol="0" anchor="ctr"/>
          <a:lstStyle/>
          <a:p>
            <a:pPr algn="ctr" indent="0" marL="0">
              <a:buNone/>
            </a:pPr>
            <a:r>
              <a:rPr lang="en-US" sz="950" dirty="0">
                <a:solidFill>
                  <a:srgbClr val="E2E8F0"/>
                </a:solidFill>
              </a:rPr>
              <a:t>SDNControllerAdapter applies entries to OpenDaylight / ONOS</a:t>
            </a:r>
            <a:endParaRPr lang="en-US" sz="950" dirty="0"/>
          </a:p>
        </p:txBody>
      </p:sp>
      <p:sp>
        <p:nvSpPr>
          <p:cNvPr id="38" name="Shape 36"/>
          <p:cNvSpPr/>
          <p:nvPr/>
        </p:nvSpPr>
        <p:spPr>
          <a:xfrm>
            <a:off x="7251192" y="2286000"/>
            <a:ext cx="1627632" cy="1600200"/>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39" name="Shape 37"/>
          <p:cNvSpPr/>
          <p:nvPr/>
        </p:nvSpPr>
        <p:spPr>
          <a:xfrm>
            <a:off x="7251192" y="2286000"/>
            <a:ext cx="1627632" cy="64008"/>
          </a:xfrm>
          <a:prstGeom prst="rect">
            <a:avLst/>
          </a:prstGeom>
          <a:solidFill>
            <a:srgbClr val="02C39A"/>
          </a:solidFill>
          <a:ln/>
        </p:spPr>
      </p:sp>
      <p:sp>
        <p:nvSpPr>
          <p:cNvPr id="40" name="Shape 38"/>
          <p:cNvSpPr/>
          <p:nvPr/>
        </p:nvSpPr>
        <p:spPr>
          <a:xfrm>
            <a:off x="7818120" y="2395728"/>
            <a:ext cx="475488" cy="475488"/>
          </a:xfrm>
          <a:prstGeom prst="ellipse">
            <a:avLst/>
          </a:prstGeom>
          <a:solidFill>
            <a:srgbClr val="028090"/>
          </a:solidFill>
          <a:ln w="12700">
            <a:solidFill>
              <a:srgbClr val="028090"/>
            </a:solidFill>
            <a:prstDash val="solid"/>
          </a:ln>
        </p:spPr>
      </p:sp>
      <p:sp>
        <p:nvSpPr>
          <p:cNvPr id="41" name="Text 39"/>
          <p:cNvSpPr/>
          <p:nvPr/>
        </p:nvSpPr>
        <p:spPr>
          <a:xfrm>
            <a:off x="7818120"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42" name="Text 40"/>
          <p:cNvSpPr/>
          <p:nvPr/>
        </p:nvSpPr>
        <p:spPr>
          <a:xfrm>
            <a:off x="7296912" y="2944368"/>
            <a:ext cx="1536192" cy="347472"/>
          </a:xfrm>
          <a:prstGeom prst="rect">
            <a:avLst/>
          </a:prstGeom>
          <a:noFill/>
          <a:ln/>
        </p:spPr>
        <p:txBody>
          <a:bodyPr wrap="square" lIns="0" tIns="0" rIns="0" bIns="0" rtlCol="0" anchor="ctr"/>
          <a:lstStyle/>
          <a:p>
            <a:pPr algn="ctr" indent="0" marL="0">
              <a:buNone/>
            </a:pPr>
            <a:r>
              <a:rPr lang="en-US" sz="1000" b="1" dirty="0">
                <a:solidFill>
                  <a:srgbClr val="02C39A"/>
                </a:solidFill>
              </a:rPr>
              <a:t>Session Preserve</a:t>
            </a:r>
            <a:endParaRPr lang="en-US" sz="1000" dirty="0"/>
          </a:p>
        </p:txBody>
      </p:sp>
      <p:sp>
        <p:nvSpPr>
          <p:cNvPr id="43" name="Text 41"/>
          <p:cNvSpPr/>
          <p:nvPr/>
        </p:nvSpPr>
        <p:spPr>
          <a:xfrm>
            <a:off x="7296912" y="3310128"/>
            <a:ext cx="1536192" cy="548640"/>
          </a:xfrm>
          <a:prstGeom prst="rect">
            <a:avLst/>
          </a:prstGeom>
          <a:noFill/>
          <a:ln/>
        </p:spPr>
        <p:txBody>
          <a:bodyPr wrap="square" lIns="0" tIns="0" rIns="0" bIns="0" rtlCol="0" anchor="ctr"/>
          <a:lstStyle/>
          <a:p>
            <a:pPr algn="ctr" indent="0" marL="0">
              <a:buNone/>
            </a:pPr>
            <a:r>
              <a:rPr lang="en-US" sz="950" dirty="0">
                <a:solidFill>
                  <a:srgbClr val="E2E8F0"/>
                </a:solidFill>
              </a:rPr>
              <a:t>TCP &amp; VoIP sessions maintained throughout handoff</a:t>
            </a:r>
            <a:endParaRPr lang="en-US" sz="950" dirty="0"/>
          </a:p>
        </p:txBody>
      </p:sp>
      <p:sp>
        <p:nvSpPr>
          <p:cNvPr id="44" name="Shape 42"/>
          <p:cNvSpPr/>
          <p:nvPr/>
        </p:nvSpPr>
        <p:spPr>
          <a:xfrm>
            <a:off x="228600" y="4041648"/>
            <a:ext cx="8686800" cy="841248"/>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45" name="Text 43"/>
          <p:cNvSpPr/>
          <p:nvPr/>
        </p:nvSpPr>
        <p:spPr>
          <a:xfrm>
            <a:off x="365760" y="4114800"/>
            <a:ext cx="1828800" cy="320040"/>
          </a:xfrm>
          <a:prstGeom prst="rect">
            <a:avLst/>
          </a:prstGeom>
          <a:noFill/>
          <a:ln/>
        </p:spPr>
        <p:txBody>
          <a:bodyPr wrap="square" lIns="0" tIns="0" rIns="0" bIns="0" rtlCol="0" anchor="ctr"/>
          <a:lstStyle/>
          <a:p>
            <a:pPr indent="0" marL="0">
              <a:buNone/>
            </a:pPr>
            <a:r>
              <a:rPr lang="en-US" sz="1100" b="1" dirty="0">
                <a:solidFill>
                  <a:srgbClr val="02C39A"/>
                </a:solidFill>
              </a:rPr>
              <a:t>Priority Traffic Classes:</a:t>
            </a:r>
            <a:endParaRPr lang="en-US" sz="1100" dirty="0"/>
          </a:p>
        </p:txBody>
      </p:sp>
      <p:sp>
        <p:nvSpPr>
          <p:cNvPr id="46" name="Shape 44"/>
          <p:cNvSpPr/>
          <p:nvPr/>
        </p:nvSpPr>
        <p:spPr>
          <a:xfrm>
            <a:off x="2514600" y="4133088"/>
            <a:ext cx="1645920" cy="640080"/>
          </a:xfrm>
          <a:prstGeom prst="rect">
            <a:avLst/>
          </a:prstGeom>
          <a:solidFill>
            <a:srgbClr val="028090">
              <a:alpha val="60000"/>
            </a:srgbClr>
          </a:solidFill>
          <a:ln/>
        </p:spPr>
      </p:sp>
      <p:sp>
        <p:nvSpPr>
          <p:cNvPr id="47" name="Text 45"/>
          <p:cNvSpPr/>
          <p:nvPr/>
        </p:nvSpPr>
        <p:spPr>
          <a:xfrm>
            <a:off x="2514600" y="4133088"/>
            <a:ext cx="1645920" cy="640080"/>
          </a:xfrm>
          <a:prstGeom prst="rect">
            <a:avLst/>
          </a:prstGeom>
          <a:noFill/>
          <a:ln/>
        </p:spPr>
        <p:txBody>
          <a:bodyPr wrap="square" lIns="0" tIns="0" rIns="0" bIns="0" rtlCol="0" anchor="ctr"/>
          <a:lstStyle/>
          <a:p>
            <a:pPr algn="ctr" indent="0" marL="0">
              <a:buNone/>
            </a:pPr>
            <a:r>
              <a:rPr lang="en-US" sz="1100" dirty="0">
                <a:solidFill>
                  <a:srgbClr val="FFFFFF"/>
                </a:solidFill>
              </a:rPr>
              <a:t>VoIP / Voice</a:t>
            </a:r>
            <a:endParaRPr lang="en-US" sz="1100" dirty="0"/>
          </a:p>
        </p:txBody>
      </p:sp>
      <p:sp>
        <p:nvSpPr>
          <p:cNvPr id="48" name="Shape 46"/>
          <p:cNvSpPr/>
          <p:nvPr/>
        </p:nvSpPr>
        <p:spPr>
          <a:xfrm>
            <a:off x="4343400" y="4133088"/>
            <a:ext cx="1645920" cy="640080"/>
          </a:xfrm>
          <a:prstGeom prst="rect">
            <a:avLst/>
          </a:prstGeom>
          <a:solidFill>
            <a:srgbClr val="028090">
              <a:alpha val="60000"/>
            </a:srgbClr>
          </a:solidFill>
          <a:ln/>
        </p:spPr>
      </p:sp>
      <p:sp>
        <p:nvSpPr>
          <p:cNvPr id="49" name="Text 47"/>
          <p:cNvSpPr/>
          <p:nvPr/>
        </p:nvSpPr>
        <p:spPr>
          <a:xfrm>
            <a:off x="4343400" y="4133088"/>
            <a:ext cx="1645920" cy="640080"/>
          </a:xfrm>
          <a:prstGeom prst="rect">
            <a:avLst/>
          </a:prstGeom>
          <a:noFill/>
          <a:ln/>
        </p:spPr>
        <p:txBody>
          <a:bodyPr wrap="square" lIns="0" tIns="0" rIns="0" bIns="0" rtlCol="0" anchor="ctr"/>
          <a:lstStyle/>
          <a:p>
            <a:pPr algn="ctr" indent="0" marL="0">
              <a:buNone/>
            </a:pPr>
            <a:r>
              <a:rPr lang="en-US" sz="1100" dirty="0">
                <a:solidFill>
                  <a:srgbClr val="FFFFFF"/>
                </a:solidFill>
              </a:rPr>
              <a:t>Video Conferencing</a:t>
            </a:r>
            <a:endParaRPr lang="en-US" sz="1100" dirty="0"/>
          </a:p>
        </p:txBody>
      </p:sp>
      <p:sp>
        <p:nvSpPr>
          <p:cNvPr id="50" name="Shape 48"/>
          <p:cNvSpPr/>
          <p:nvPr/>
        </p:nvSpPr>
        <p:spPr>
          <a:xfrm>
            <a:off x="6309360" y="4133088"/>
            <a:ext cx="1645920" cy="640080"/>
          </a:xfrm>
          <a:prstGeom prst="rect">
            <a:avLst/>
          </a:prstGeom>
          <a:solidFill>
            <a:srgbClr val="028090">
              <a:alpha val="60000"/>
            </a:srgbClr>
          </a:solidFill>
          <a:ln/>
        </p:spPr>
      </p:sp>
      <p:sp>
        <p:nvSpPr>
          <p:cNvPr id="51" name="Text 49"/>
          <p:cNvSpPr/>
          <p:nvPr/>
        </p:nvSpPr>
        <p:spPr>
          <a:xfrm>
            <a:off x="6309360" y="4133088"/>
            <a:ext cx="1645920" cy="640080"/>
          </a:xfrm>
          <a:prstGeom prst="rect">
            <a:avLst/>
          </a:prstGeom>
          <a:noFill/>
          <a:ln/>
        </p:spPr>
        <p:txBody>
          <a:bodyPr wrap="square" lIns="0" tIns="0" rIns="0" bIns="0" rtlCol="0" anchor="ctr"/>
          <a:lstStyle/>
          <a:p>
            <a:pPr algn="ctr" indent="0" marL="0">
              <a:buNone/>
            </a:pPr>
            <a:r>
              <a:rPr lang="en-US" sz="1100" dirty="0">
                <a:solidFill>
                  <a:srgbClr val="FFFFFF"/>
                </a:solidFill>
              </a:rPr>
              <a:t>Financial Transactions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7772400" cy="685800"/>
          </a:xfrm>
          <a:prstGeom prst="rect">
            <a:avLst/>
          </a:prstGeom>
          <a:noFill/>
          <a:ln/>
        </p:spPr>
        <p:txBody>
          <a:bodyPr wrap="square" lIns="0" tIns="0" rIns="0" bIns="0" rtlCol="0" anchor="ctr"/>
          <a:lstStyle/>
          <a:p>
            <a:pPr indent="0" marL="0">
              <a:buNone/>
            </a:pPr>
            <a:r>
              <a:rPr lang="en-US" sz="2200" b="1" dirty="0">
                <a:solidFill>
                  <a:srgbClr val="FFFFFF"/>
                </a:solidFill>
              </a:rPr>
              <a:t>Feature 3 — Digital Twin Validation Sandbox</a:t>
            </a:r>
            <a:endParaRPr lang="en-US" sz="2200" dirty="0"/>
          </a:p>
        </p:txBody>
      </p:sp>
      <p:sp>
        <p:nvSpPr>
          <p:cNvPr id="4" name="Text 2"/>
          <p:cNvSpPr/>
          <p:nvPr/>
        </p:nvSpPr>
        <p:spPr>
          <a:xfrm>
            <a:off x="8138160" y="91440"/>
            <a:ext cx="822960" cy="502920"/>
          </a:xfrm>
          <a:prstGeom prst="rect">
            <a:avLst/>
          </a:prstGeom>
          <a:noFill/>
          <a:ln/>
        </p:spPr>
        <p:txBody>
          <a:bodyPr wrap="square" lIns="0" tIns="0" rIns="0" bIns="0" rtlCol="0" anchor="ctr"/>
          <a:lstStyle/>
          <a:p>
            <a:pPr algn="r" indent="0" marL="0">
              <a:buNone/>
            </a:pPr>
            <a:r>
              <a:rPr lang="en-US" sz="1600" b="1" dirty="0">
                <a:solidFill>
                  <a:srgbClr val="02C39A"/>
                </a:solidFill>
              </a:rPr>
              <a:t>03 / 05</a:t>
            </a:r>
            <a:endParaRPr lang="en-US" sz="1600" dirty="0"/>
          </a:p>
        </p:txBody>
      </p:sp>
      <p:sp>
        <p:nvSpPr>
          <p:cNvPr id="5" name="Shape 3"/>
          <p:cNvSpPr/>
          <p:nvPr/>
        </p:nvSpPr>
        <p:spPr>
          <a:xfrm>
            <a:off x="228600" y="804672"/>
            <a:ext cx="8686800" cy="594360"/>
          </a:xfrm>
          <a:prstGeom prst="rect">
            <a:avLst/>
          </a:prstGeom>
          <a:solidFill>
            <a:srgbClr val="F59E0B">
              <a:alpha val="85000"/>
            </a:srgbClr>
          </a:solidFill>
          <a:ln/>
        </p:spPr>
      </p:sp>
      <p:sp>
        <p:nvSpPr>
          <p:cNvPr id="6" name="Text 4"/>
          <p:cNvSpPr/>
          <p:nvPr/>
        </p:nvSpPr>
        <p:spPr>
          <a:xfrm>
            <a:off x="365760" y="822960"/>
            <a:ext cx="8412480" cy="548640"/>
          </a:xfrm>
          <a:prstGeom prst="rect">
            <a:avLst/>
          </a:prstGeom>
          <a:noFill/>
          <a:ln/>
        </p:spPr>
        <p:txBody>
          <a:bodyPr wrap="square" lIns="0" tIns="0" rIns="0" bIns="0" rtlCol="0" anchor="ctr"/>
          <a:lstStyle/>
          <a:p>
            <a:pPr indent="0" marL="0">
              <a:buNone/>
            </a:pPr>
            <a:r>
              <a:rPr lang="en-US" sz="1100" dirty="0">
                <a:solidFill>
                  <a:srgbClr val="0D1B2A"/>
                </a:solidFill>
              </a:rPr>
              <a:t>Why? Autonomous AI decisions are perceived as 'black box' — without pre-validation, a wrong routing change could introduce loops, crash the live network, or violate firewall policy.</a:t>
            </a:r>
            <a:endParaRPr lang="en-US" sz="1100" dirty="0"/>
          </a:p>
        </p:txBody>
      </p:sp>
      <p:sp>
        <p:nvSpPr>
          <p:cNvPr id="7" name="Shape 5"/>
          <p:cNvSpPr/>
          <p:nvPr/>
        </p:nvSpPr>
        <p:spPr>
          <a:xfrm>
            <a:off x="228600" y="1536192"/>
            <a:ext cx="8686800" cy="5486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8" name="Shape 6"/>
          <p:cNvSpPr/>
          <p:nvPr/>
        </p:nvSpPr>
        <p:spPr>
          <a:xfrm>
            <a:off x="228600" y="1536192"/>
            <a:ext cx="64008" cy="548640"/>
          </a:xfrm>
          <a:prstGeom prst="rect">
            <a:avLst/>
          </a:prstGeom>
          <a:solidFill>
            <a:srgbClr val="028090"/>
          </a:solidFill>
          <a:ln/>
        </p:spPr>
      </p:sp>
      <p:sp>
        <p:nvSpPr>
          <p:cNvPr id="9" name="Shape 7"/>
          <p:cNvSpPr/>
          <p:nvPr/>
        </p:nvSpPr>
        <p:spPr>
          <a:xfrm>
            <a:off x="347472" y="1627632"/>
            <a:ext cx="347472" cy="347472"/>
          </a:xfrm>
          <a:prstGeom prst="ellipse">
            <a:avLst/>
          </a:prstGeom>
          <a:solidFill>
            <a:srgbClr val="028090"/>
          </a:solidFill>
          <a:ln w="12700">
            <a:solidFill>
              <a:srgbClr val="028090"/>
            </a:solidFill>
            <a:prstDash val="solid"/>
          </a:ln>
        </p:spPr>
      </p:sp>
      <p:sp>
        <p:nvSpPr>
          <p:cNvPr id="10" name="Text 8"/>
          <p:cNvSpPr/>
          <p:nvPr/>
        </p:nvSpPr>
        <p:spPr>
          <a:xfrm>
            <a:off x="347472" y="16276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1" name="Text 9"/>
          <p:cNvSpPr/>
          <p:nvPr/>
        </p:nvSpPr>
        <p:spPr>
          <a:xfrm>
            <a:off x="804672" y="1591056"/>
            <a:ext cx="2286000" cy="256032"/>
          </a:xfrm>
          <a:prstGeom prst="rect">
            <a:avLst/>
          </a:prstGeom>
          <a:noFill/>
          <a:ln/>
        </p:spPr>
        <p:txBody>
          <a:bodyPr wrap="square" lIns="0" tIns="0" rIns="0" bIns="0" rtlCol="0" anchor="ctr"/>
          <a:lstStyle/>
          <a:p>
            <a:pPr indent="0" marL="0">
              <a:buNone/>
            </a:pPr>
            <a:r>
              <a:rPr lang="en-US" sz="1100" b="1" dirty="0">
                <a:solidFill>
                  <a:srgbClr val="0D1B2A"/>
                </a:solidFill>
              </a:rPr>
              <a:t>Mirror Topology</a:t>
            </a:r>
            <a:endParaRPr lang="en-US" sz="1100" dirty="0"/>
          </a:p>
        </p:txBody>
      </p:sp>
      <p:sp>
        <p:nvSpPr>
          <p:cNvPr id="12" name="Text 10"/>
          <p:cNvSpPr/>
          <p:nvPr/>
        </p:nvSpPr>
        <p:spPr>
          <a:xfrm>
            <a:off x="804672" y="1828800"/>
            <a:ext cx="7955280" cy="219456"/>
          </a:xfrm>
          <a:prstGeom prst="rect">
            <a:avLst/>
          </a:prstGeom>
          <a:noFill/>
          <a:ln/>
        </p:spPr>
        <p:txBody>
          <a:bodyPr wrap="square" lIns="0" tIns="0" rIns="0" bIns="0" rtlCol="0" anchor="ctr"/>
          <a:lstStyle/>
          <a:p>
            <a:pPr indent="0" marL="0">
              <a:buNone/>
            </a:pPr>
            <a:r>
              <a:rPr lang="en-US" sz="1000" dirty="0">
                <a:solidFill>
                  <a:srgbClr val="334155"/>
                </a:solidFill>
              </a:rPr>
              <a:t>MinimetBldr clones live network as virtual Mininet topology in WSL2</a:t>
            </a:r>
            <a:endParaRPr lang="en-US" sz="1000" dirty="0"/>
          </a:p>
        </p:txBody>
      </p:sp>
      <p:sp>
        <p:nvSpPr>
          <p:cNvPr id="13" name="Shape 11"/>
          <p:cNvSpPr/>
          <p:nvPr/>
        </p:nvSpPr>
        <p:spPr>
          <a:xfrm>
            <a:off x="228600" y="2157984"/>
            <a:ext cx="8686800" cy="5486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4" name="Shape 12"/>
          <p:cNvSpPr/>
          <p:nvPr/>
        </p:nvSpPr>
        <p:spPr>
          <a:xfrm>
            <a:off x="228600" y="2157984"/>
            <a:ext cx="64008" cy="548640"/>
          </a:xfrm>
          <a:prstGeom prst="rect">
            <a:avLst/>
          </a:prstGeom>
          <a:solidFill>
            <a:srgbClr val="028090"/>
          </a:solidFill>
          <a:ln/>
        </p:spPr>
      </p:sp>
      <p:sp>
        <p:nvSpPr>
          <p:cNvPr id="15" name="Shape 13"/>
          <p:cNvSpPr/>
          <p:nvPr/>
        </p:nvSpPr>
        <p:spPr>
          <a:xfrm>
            <a:off x="347472" y="2249424"/>
            <a:ext cx="347472" cy="347472"/>
          </a:xfrm>
          <a:prstGeom prst="ellipse">
            <a:avLst/>
          </a:prstGeom>
          <a:solidFill>
            <a:srgbClr val="028090"/>
          </a:solidFill>
          <a:ln w="12700">
            <a:solidFill>
              <a:srgbClr val="028090"/>
            </a:solidFill>
            <a:prstDash val="solid"/>
          </a:ln>
        </p:spPr>
      </p:sp>
      <p:sp>
        <p:nvSpPr>
          <p:cNvPr id="16" name="Text 14"/>
          <p:cNvSpPr/>
          <p:nvPr/>
        </p:nvSpPr>
        <p:spPr>
          <a:xfrm>
            <a:off x="347472" y="22494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7" name="Text 15"/>
          <p:cNvSpPr/>
          <p:nvPr/>
        </p:nvSpPr>
        <p:spPr>
          <a:xfrm>
            <a:off x="804672" y="2212848"/>
            <a:ext cx="2286000" cy="256032"/>
          </a:xfrm>
          <a:prstGeom prst="rect">
            <a:avLst/>
          </a:prstGeom>
          <a:noFill/>
          <a:ln/>
        </p:spPr>
        <p:txBody>
          <a:bodyPr wrap="square" lIns="0" tIns="0" rIns="0" bIns="0" rtlCol="0" anchor="ctr"/>
          <a:lstStyle/>
          <a:p>
            <a:pPr indent="0" marL="0">
              <a:buNone/>
            </a:pPr>
            <a:r>
              <a:rPr lang="en-US" sz="1100" b="1" dirty="0">
                <a:solidFill>
                  <a:srgbClr val="0D1B2A"/>
                </a:solidFill>
              </a:rPr>
              <a:t>Apply Change</a:t>
            </a:r>
            <a:endParaRPr lang="en-US" sz="1100" dirty="0"/>
          </a:p>
        </p:txBody>
      </p:sp>
      <p:sp>
        <p:nvSpPr>
          <p:cNvPr id="18" name="Text 16"/>
          <p:cNvSpPr/>
          <p:nvPr/>
        </p:nvSpPr>
        <p:spPr>
          <a:xfrm>
            <a:off x="804672" y="2450592"/>
            <a:ext cx="7955280" cy="219456"/>
          </a:xfrm>
          <a:prstGeom prst="rect">
            <a:avLst/>
          </a:prstGeom>
          <a:noFill/>
          <a:ln/>
        </p:spPr>
        <p:txBody>
          <a:bodyPr wrap="square" lIns="0" tIns="0" rIns="0" bIns="0" rtlCol="0" anchor="ctr"/>
          <a:lstStyle/>
          <a:p>
            <a:pPr indent="0" marL="0">
              <a:buNone/>
            </a:pPr>
            <a:r>
              <a:rPr lang="en-US" sz="1000" dirty="0">
                <a:solidFill>
                  <a:srgbClr val="334155"/>
                </a:solidFill>
              </a:rPr>
              <a:t>Proposed routing change applied to the virtual environment</a:t>
            </a:r>
            <a:endParaRPr lang="en-US" sz="1000" dirty="0"/>
          </a:p>
        </p:txBody>
      </p:sp>
      <p:sp>
        <p:nvSpPr>
          <p:cNvPr id="19" name="Shape 17"/>
          <p:cNvSpPr/>
          <p:nvPr/>
        </p:nvSpPr>
        <p:spPr>
          <a:xfrm>
            <a:off x="228600" y="2779776"/>
            <a:ext cx="8686800" cy="5486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0" name="Shape 18"/>
          <p:cNvSpPr/>
          <p:nvPr/>
        </p:nvSpPr>
        <p:spPr>
          <a:xfrm>
            <a:off x="228600" y="2779776"/>
            <a:ext cx="64008" cy="548640"/>
          </a:xfrm>
          <a:prstGeom prst="rect">
            <a:avLst/>
          </a:prstGeom>
          <a:solidFill>
            <a:srgbClr val="028090"/>
          </a:solidFill>
          <a:ln/>
        </p:spPr>
      </p:sp>
      <p:sp>
        <p:nvSpPr>
          <p:cNvPr id="21" name="Shape 19"/>
          <p:cNvSpPr/>
          <p:nvPr/>
        </p:nvSpPr>
        <p:spPr>
          <a:xfrm>
            <a:off x="347472" y="2871216"/>
            <a:ext cx="347472" cy="347472"/>
          </a:xfrm>
          <a:prstGeom prst="ellipse">
            <a:avLst/>
          </a:prstGeom>
          <a:solidFill>
            <a:srgbClr val="028090"/>
          </a:solidFill>
          <a:ln w="12700">
            <a:solidFill>
              <a:srgbClr val="028090"/>
            </a:solidFill>
            <a:prstDash val="solid"/>
          </a:ln>
        </p:spPr>
      </p:sp>
      <p:sp>
        <p:nvSpPr>
          <p:cNvPr id="22" name="Text 20"/>
          <p:cNvSpPr/>
          <p:nvPr/>
        </p:nvSpPr>
        <p:spPr>
          <a:xfrm>
            <a:off x="347472" y="28712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3" name="Text 21"/>
          <p:cNvSpPr/>
          <p:nvPr/>
        </p:nvSpPr>
        <p:spPr>
          <a:xfrm>
            <a:off x="804672" y="2834640"/>
            <a:ext cx="2286000" cy="256032"/>
          </a:xfrm>
          <a:prstGeom prst="rect">
            <a:avLst/>
          </a:prstGeom>
          <a:noFill/>
          <a:ln/>
        </p:spPr>
        <p:txBody>
          <a:bodyPr wrap="square" lIns="0" tIns="0" rIns="0" bIns="0" rtlCol="0" anchor="ctr"/>
          <a:lstStyle/>
          <a:p>
            <a:pPr indent="0" marL="0">
              <a:buNone/>
            </a:pPr>
            <a:r>
              <a:rPr lang="en-US" sz="1100" b="1" dirty="0">
                <a:solidFill>
                  <a:srgbClr val="0D1B2A"/>
                </a:solidFill>
              </a:rPr>
              <a:t>Loop Detection</a:t>
            </a:r>
            <a:endParaRPr lang="en-US" sz="1100" dirty="0"/>
          </a:p>
        </p:txBody>
      </p:sp>
      <p:sp>
        <p:nvSpPr>
          <p:cNvPr id="24" name="Text 22"/>
          <p:cNvSpPr/>
          <p:nvPr/>
        </p:nvSpPr>
        <p:spPr>
          <a:xfrm>
            <a:off x="804672" y="3072384"/>
            <a:ext cx="7955280" cy="219456"/>
          </a:xfrm>
          <a:prstGeom prst="rect">
            <a:avLst/>
          </a:prstGeom>
          <a:noFill/>
          <a:ln/>
        </p:spPr>
        <p:txBody>
          <a:bodyPr wrap="square" lIns="0" tIns="0" rIns="0" bIns="0" rtlCol="0" anchor="ctr"/>
          <a:lstStyle/>
          <a:p>
            <a:pPr indent="0" marL="0">
              <a:buNone/>
            </a:pPr>
            <a:r>
              <a:rPr lang="en-US" sz="1000" dirty="0">
                <a:solidFill>
                  <a:srgbClr val="334155"/>
                </a:solidFill>
              </a:rPr>
              <a:t>Routing loop analysis executed on virtual topology</a:t>
            </a:r>
            <a:endParaRPr lang="en-US" sz="1000" dirty="0"/>
          </a:p>
        </p:txBody>
      </p:sp>
      <p:sp>
        <p:nvSpPr>
          <p:cNvPr id="25" name="Shape 23"/>
          <p:cNvSpPr/>
          <p:nvPr/>
        </p:nvSpPr>
        <p:spPr>
          <a:xfrm>
            <a:off x="228600" y="3401568"/>
            <a:ext cx="8686800" cy="5486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6" name="Shape 24"/>
          <p:cNvSpPr/>
          <p:nvPr/>
        </p:nvSpPr>
        <p:spPr>
          <a:xfrm>
            <a:off x="228600" y="3401568"/>
            <a:ext cx="64008" cy="548640"/>
          </a:xfrm>
          <a:prstGeom prst="rect">
            <a:avLst/>
          </a:prstGeom>
          <a:solidFill>
            <a:srgbClr val="028090"/>
          </a:solidFill>
          <a:ln/>
        </p:spPr>
      </p:sp>
      <p:sp>
        <p:nvSpPr>
          <p:cNvPr id="27" name="Shape 25"/>
          <p:cNvSpPr/>
          <p:nvPr/>
        </p:nvSpPr>
        <p:spPr>
          <a:xfrm>
            <a:off x="347472" y="3493008"/>
            <a:ext cx="347472" cy="347472"/>
          </a:xfrm>
          <a:prstGeom prst="ellipse">
            <a:avLst/>
          </a:prstGeom>
          <a:solidFill>
            <a:srgbClr val="028090"/>
          </a:solidFill>
          <a:ln w="12700">
            <a:solidFill>
              <a:srgbClr val="028090"/>
            </a:solidFill>
            <a:prstDash val="solid"/>
          </a:ln>
        </p:spPr>
      </p:sp>
      <p:sp>
        <p:nvSpPr>
          <p:cNvPr id="28" name="Text 26"/>
          <p:cNvSpPr/>
          <p:nvPr/>
        </p:nvSpPr>
        <p:spPr>
          <a:xfrm>
            <a:off x="347472" y="3493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9" name="Text 27"/>
          <p:cNvSpPr/>
          <p:nvPr/>
        </p:nvSpPr>
        <p:spPr>
          <a:xfrm>
            <a:off x="804672" y="3456432"/>
            <a:ext cx="2286000" cy="256032"/>
          </a:xfrm>
          <a:prstGeom prst="rect">
            <a:avLst/>
          </a:prstGeom>
          <a:noFill/>
          <a:ln/>
        </p:spPr>
        <p:txBody>
          <a:bodyPr wrap="square" lIns="0" tIns="0" rIns="0" bIns="0" rtlCol="0" anchor="ctr"/>
          <a:lstStyle/>
          <a:p>
            <a:pPr indent="0" marL="0">
              <a:buNone/>
            </a:pPr>
            <a:r>
              <a:rPr lang="en-US" sz="1100" b="1" dirty="0">
                <a:solidFill>
                  <a:srgbClr val="0D1B2A"/>
                </a:solidFill>
              </a:rPr>
              <a:t>Batfish Analysis</a:t>
            </a:r>
            <a:endParaRPr lang="en-US" sz="1100" dirty="0"/>
          </a:p>
        </p:txBody>
      </p:sp>
      <p:sp>
        <p:nvSpPr>
          <p:cNvPr id="30" name="Text 28"/>
          <p:cNvSpPr/>
          <p:nvPr/>
        </p:nvSpPr>
        <p:spPr>
          <a:xfrm>
            <a:off x="804672" y="3694176"/>
            <a:ext cx="7955280" cy="219456"/>
          </a:xfrm>
          <a:prstGeom prst="rect">
            <a:avLst/>
          </a:prstGeom>
          <a:noFill/>
          <a:ln/>
        </p:spPr>
        <p:txBody>
          <a:bodyPr wrap="square" lIns="0" tIns="0" rIns="0" bIns="0" rtlCol="0" anchor="ctr"/>
          <a:lstStyle/>
          <a:p>
            <a:pPr indent="0" marL="0">
              <a:buNone/>
            </a:pPr>
            <a:r>
              <a:rPr lang="en-US" sz="1000" dirty="0">
                <a:solidFill>
                  <a:srgbClr val="334155"/>
                </a:solidFill>
              </a:rPr>
              <a:t>Firewall rules &amp; ACL compliance verified via Batfish</a:t>
            </a:r>
            <a:endParaRPr lang="en-US" sz="1000" dirty="0"/>
          </a:p>
        </p:txBody>
      </p:sp>
      <p:sp>
        <p:nvSpPr>
          <p:cNvPr id="31" name="Shape 29"/>
          <p:cNvSpPr/>
          <p:nvPr/>
        </p:nvSpPr>
        <p:spPr>
          <a:xfrm>
            <a:off x="228600" y="4023360"/>
            <a:ext cx="8686800" cy="5486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2" name="Shape 30"/>
          <p:cNvSpPr/>
          <p:nvPr/>
        </p:nvSpPr>
        <p:spPr>
          <a:xfrm>
            <a:off x="228600" y="4023360"/>
            <a:ext cx="64008" cy="548640"/>
          </a:xfrm>
          <a:prstGeom prst="rect">
            <a:avLst/>
          </a:prstGeom>
          <a:solidFill>
            <a:srgbClr val="10B981"/>
          </a:solidFill>
          <a:ln/>
        </p:spPr>
      </p:sp>
      <p:sp>
        <p:nvSpPr>
          <p:cNvPr id="33" name="Shape 31"/>
          <p:cNvSpPr/>
          <p:nvPr/>
        </p:nvSpPr>
        <p:spPr>
          <a:xfrm>
            <a:off x="347472" y="4114800"/>
            <a:ext cx="347472" cy="347472"/>
          </a:xfrm>
          <a:prstGeom prst="ellipse">
            <a:avLst/>
          </a:prstGeom>
          <a:solidFill>
            <a:srgbClr val="028090"/>
          </a:solidFill>
          <a:ln w="12700">
            <a:solidFill>
              <a:srgbClr val="028090"/>
            </a:solidFill>
            <a:prstDash val="solid"/>
          </a:ln>
        </p:spPr>
      </p:sp>
      <p:sp>
        <p:nvSpPr>
          <p:cNvPr id="34" name="Text 32"/>
          <p:cNvSpPr/>
          <p:nvPr/>
        </p:nvSpPr>
        <p:spPr>
          <a:xfrm>
            <a:off x="347472" y="41148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5" name="Text 33"/>
          <p:cNvSpPr/>
          <p:nvPr/>
        </p:nvSpPr>
        <p:spPr>
          <a:xfrm>
            <a:off x="804672" y="4078224"/>
            <a:ext cx="2286000" cy="256032"/>
          </a:xfrm>
          <a:prstGeom prst="rect">
            <a:avLst/>
          </a:prstGeom>
          <a:noFill/>
          <a:ln/>
        </p:spPr>
        <p:txBody>
          <a:bodyPr wrap="square" lIns="0" tIns="0" rIns="0" bIns="0" rtlCol="0" anchor="ctr"/>
          <a:lstStyle/>
          <a:p>
            <a:pPr indent="0" marL="0">
              <a:buNone/>
            </a:pPr>
            <a:r>
              <a:rPr lang="en-US" sz="1100" b="1" dirty="0">
                <a:solidFill>
                  <a:srgbClr val="0D1B2A"/>
                </a:solidFill>
              </a:rPr>
              <a:t>Pass / Reject</a:t>
            </a:r>
            <a:endParaRPr lang="en-US" sz="1100" dirty="0"/>
          </a:p>
        </p:txBody>
      </p:sp>
      <p:sp>
        <p:nvSpPr>
          <p:cNvPr id="36" name="Text 34"/>
          <p:cNvSpPr/>
          <p:nvPr/>
        </p:nvSpPr>
        <p:spPr>
          <a:xfrm>
            <a:off x="804672" y="4315968"/>
            <a:ext cx="7955280" cy="219456"/>
          </a:xfrm>
          <a:prstGeom prst="rect">
            <a:avLst/>
          </a:prstGeom>
          <a:noFill/>
          <a:ln/>
        </p:spPr>
        <p:txBody>
          <a:bodyPr wrap="square" lIns="0" tIns="0" rIns="0" bIns="0" rtlCol="0" anchor="ctr"/>
          <a:lstStyle/>
          <a:p>
            <a:pPr indent="0" marL="0">
              <a:buNone/>
            </a:pPr>
            <a:r>
              <a:rPr lang="en-US" sz="1000" dirty="0">
                <a:solidFill>
                  <a:srgbClr val="334155"/>
                </a:solidFill>
              </a:rPr>
              <a:t>Approved → TrafficSteeringController  |  Rejected → Admin alert + audit</a:t>
            </a:r>
            <a:endParaRPr lang="en-US" sz="1000" dirty="0"/>
          </a:p>
        </p:txBody>
      </p:sp>
      <p:sp>
        <p:nvSpPr>
          <p:cNvPr id="37" name="Shape 35"/>
          <p:cNvSpPr/>
          <p:nvPr/>
        </p:nvSpPr>
        <p:spPr>
          <a:xfrm>
            <a:off x="228600" y="4700016"/>
            <a:ext cx="8686800" cy="256032"/>
          </a:xfrm>
          <a:prstGeom prst="rect">
            <a:avLst/>
          </a:prstGeom>
          <a:solidFill>
            <a:srgbClr val="0D1B2A"/>
          </a:solidFill>
          <a:ln/>
        </p:spPr>
      </p:sp>
      <p:sp>
        <p:nvSpPr>
          <p:cNvPr id="38" name="Text 36"/>
          <p:cNvSpPr/>
          <p:nvPr/>
        </p:nvSpPr>
        <p:spPr>
          <a:xfrm>
            <a:off x="365760" y="4700016"/>
            <a:ext cx="8412480" cy="256032"/>
          </a:xfrm>
          <a:prstGeom prst="rect">
            <a:avLst/>
          </a:prstGeom>
          <a:noFill/>
          <a:ln/>
        </p:spPr>
        <p:txBody>
          <a:bodyPr wrap="square" lIns="0" tIns="0" rIns="0" bIns="0" rtlCol="0" anchor="ctr"/>
          <a:lstStyle/>
          <a:p>
            <a:pPr algn="ctr" indent="0" marL="0">
              <a:buNone/>
            </a:pPr>
            <a:r>
              <a:rPr lang="en-US" sz="1000" dirty="0">
                <a:solidFill>
                  <a:srgbClr val="02C39A"/>
                </a:solidFill>
              </a:rPr>
              <a:t>&lt;5 seconds total validation time  ·  100% of AI changes pre-validated  ·  Cryptographic audit trail for every decision  ·  HIPAA-compliant logging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7772400" cy="685800"/>
          </a:xfrm>
          <a:prstGeom prst="rect">
            <a:avLst/>
          </a:prstGeom>
          <a:noFill/>
          <a:ln/>
        </p:spPr>
        <p:txBody>
          <a:bodyPr wrap="square" lIns="0" tIns="0" rIns="0" bIns="0" rtlCol="0" anchor="ctr"/>
          <a:lstStyle/>
          <a:p>
            <a:pPr indent="0" marL="0">
              <a:buNone/>
            </a:pPr>
            <a:r>
              <a:rPr lang="en-US" sz="2200" b="1" dirty="0">
                <a:solidFill>
                  <a:srgbClr val="FFFFFF"/>
                </a:solidFill>
              </a:rPr>
              <a:t>Feature 4 — Intent-Based Management Interface (IBN)</a:t>
            </a:r>
            <a:endParaRPr lang="en-US" sz="2200" dirty="0"/>
          </a:p>
        </p:txBody>
      </p:sp>
      <p:sp>
        <p:nvSpPr>
          <p:cNvPr id="4" name="Text 2"/>
          <p:cNvSpPr/>
          <p:nvPr/>
        </p:nvSpPr>
        <p:spPr>
          <a:xfrm>
            <a:off x="8138160" y="91440"/>
            <a:ext cx="822960" cy="502920"/>
          </a:xfrm>
          <a:prstGeom prst="rect">
            <a:avLst/>
          </a:prstGeom>
          <a:noFill/>
          <a:ln/>
        </p:spPr>
        <p:txBody>
          <a:bodyPr wrap="square" lIns="0" tIns="0" rIns="0" bIns="0" rtlCol="0" anchor="ctr"/>
          <a:lstStyle/>
          <a:p>
            <a:pPr algn="r" indent="0" marL="0">
              <a:buNone/>
            </a:pPr>
            <a:r>
              <a:rPr lang="en-US" sz="1600" b="1" dirty="0">
                <a:solidFill>
                  <a:srgbClr val="02C39A"/>
                </a:solidFill>
              </a:rPr>
              <a:t>04 / 05</a:t>
            </a:r>
            <a:endParaRPr lang="en-US" sz="1600" dirty="0"/>
          </a:p>
        </p:txBody>
      </p:sp>
      <p:sp>
        <p:nvSpPr>
          <p:cNvPr id="5" name="Shape 3"/>
          <p:cNvSpPr/>
          <p:nvPr/>
        </p:nvSpPr>
        <p:spPr>
          <a:xfrm>
            <a:off x="228600" y="804672"/>
            <a:ext cx="4114800" cy="4041648"/>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6" name="Text 4"/>
          <p:cNvSpPr/>
          <p:nvPr/>
        </p:nvSpPr>
        <p:spPr>
          <a:xfrm>
            <a:off x="365760" y="896112"/>
            <a:ext cx="3840480" cy="320040"/>
          </a:xfrm>
          <a:prstGeom prst="rect">
            <a:avLst/>
          </a:prstGeom>
          <a:noFill/>
          <a:ln/>
        </p:spPr>
        <p:txBody>
          <a:bodyPr wrap="square" lIns="0" tIns="0" rIns="0" bIns="0" rtlCol="0" anchor="ctr"/>
          <a:lstStyle/>
          <a:p>
            <a:pPr indent="0" marL="0">
              <a:buNone/>
            </a:pPr>
            <a:r>
              <a:rPr lang="en-US" sz="1300" b="1" dirty="0">
                <a:solidFill>
                  <a:srgbClr val="02C39A"/>
                </a:solidFill>
              </a:rPr>
              <a:t>The CLI Barrier</a:t>
            </a:r>
            <a:endParaRPr lang="en-US" sz="1300" dirty="0"/>
          </a:p>
        </p:txBody>
      </p:sp>
      <p:sp>
        <p:nvSpPr>
          <p:cNvPr id="7" name="Shape 5"/>
          <p:cNvSpPr/>
          <p:nvPr/>
        </p:nvSpPr>
        <p:spPr>
          <a:xfrm>
            <a:off x="365760" y="1261872"/>
            <a:ext cx="3749040" cy="1051560"/>
          </a:xfrm>
          <a:prstGeom prst="rect">
            <a:avLst/>
          </a:prstGeom>
          <a:solidFill>
            <a:srgbClr val="1A1A2E"/>
          </a:solidFill>
          <a:ln/>
        </p:spPr>
      </p:sp>
      <p:sp>
        <p:nvSpPr>
          <p:cNvPr id="8" name="Text 6"/>
          <p:cNvSpPr/>
          <p:nvPr/>
        </p:nvSpPr>
        <p:spPr>
          <a:xfrm>
            <a:off x="457200" y="1298448"/>
            <a:ext cx="3566160" cy="987552"/>
          </a:xfrm>
          <a:prstGeom prst="rect">
            <a:avLst/>
          </a:prstGeom>
          <a:noFill/>
          <a:ln/>
        </p:spPr>
        <p:txBody>
          <a:bodyPr wrap="square" lIns="0" tIns="0" rIns="0" bIns="0" rtlCol="0" anchor="ctr"/>
          <a:lstStyle/>
          <a:p>
            <a:pPr indent="0" marL="0">
              <a:buNone/>
            </a:pPr>
            <a:r>
              <a:rPr lang="en-US" sz="900" dirty="0">
                <a:solidFill>
                  <a:srgbClr val="02C39A"/>
                </a:solidFill>
                <a:latin typeface="Courier New" pitchFamily="34" charset="0"/>
                <a:ea typeface="Courier New" pitchFamily="34" charset="-122"/>
                <a:cs typeface="Courier New" pitchFamily="34" charset="-120"/>
              </a:rPr>
              <a:t>$ netconf-console --host r1
</a:t>
            </a:r>
            <a:endParaRPr lang="en-US" sz="900" dirty="0"/>
          </a:p>
          <a:p>
            <a:pPr indent="0" marL="0">
              <a:buNone/>
            </a:pPr>
            <a:r>
              <a:rPr lang="en-US" sz="900" dirty="0">
                <a:solidFill>
                  <a:srgbClr val="02C39A"/>
                </a:solidFill>
                <a:latin typeface="Courier New" pitchFamily="34" charset="0"/>
                <a:ea typeface="Courier New" pitchFamily="34" charset="-122"/>
                <a:cs typeface="Courier New" pitchFamily="34" charset="-120"/>
              </a:rPr>
              <a:t>  &lt;edit-config&gt;
</a:t>
            </a:r>
            <a:endParaRPr lang="en-US" sz="900" dirty="0"/>
          </a:p>
          <a:p>
            <a:pPr indent="0" marL="0">
              <a:buNone/>
            </a:pPr>
            <a:r>
              <a:rPr lang="en-US" sz="900" dirty="0">
                <a:solidFill>
                  <a:srgbClr val="02C39A"/>
                </a:solidFill>
                <a:latin typeface="Courier New" pitchFamily="34" charset="0"/>
                <a:ea typeface="Courier New" pitchFamily="34" charset="-122"/>
                <a:cs typeface="Courier New" pitchFamily="34" charset="-120"/>
              </a:rPr>
              <a:t>    &lt;config xmlns:nc=...&gt;
</a:t>
            </a:r>
            <a:endParaRPr lang="en-US" sz="900" dirty="0"/>
          </a:p>
          <a:p>
            <a:pPr indent="0" marL="0">
              <a:buNone/>
            </a:pPr>
            <a:r>
              <a:rPr lang="en-US" sz="900" dirty="0">
                <a:solidFill>
                  <a:srgbClr val="02C39A"/>
                </a:solidFill>
                <a:latin typeface="Courier New" pitchFamily="34" charset="0"/>
                <a:ea typeface="Courier New" pitchFamily="34" charset="-122"/>
                <a:cs typeface="Courier New" pitchFamily="34" charset="-120"/>
              </a:rPr>
              <a:t>    &lt;policy-map&gt;...&lt;/policy-map&gt;</a:t>
            </a:r>
            <a:endParaRPr lang="en-US" sz="900" dirty="0"/>
          </a:p>
        </p:txBody>
      </p:sp>
      <p:sp>
        <p:nvSpPr>
          <p:cNvPr id="9" name="Text 7"/>
          <p:cNvSpPr/>
          <p:nvPr/>
        </p:nvSpPr>
        <p:spPr>
          <a:xfrm>
            <a:off x="365760" y="2395728"/>
            <a:ext cx="3749040" cy="320040"/>
          </a:xfrm>
          <a:prstGeom prst="rect">
            <a:avLst/>
          </a:prstGeom>
          <a:noFill/>
          <a:ln/>
        </p:spPr>
        <p:txBody>
          <a:bodyPr wrap="square" lIns="0" tIns="0" rIns="0" bIns="0" rtlCol="0" anchor="ctr"/>
          <a:lstStyle/>
          <a:p>
            <a:pPr indent="0" marL="0">
              <a:buNone/>
            </a:pPr>
            <a:r>
              <a:rPr lang="en-US" sz="1100" dirty="0">
                <a:solidFill>
                  <a:srgbClr val="E2E8F0"/>
                </a:solidFill>
              </a:rPr>
              <a:t>⬇  With PathWise AI IBN:</a:t>
            </a:r>
            <a:endParaRPr lang="en-US" sz="1100" dirty="0"/>
          </a:p>
        </p:txBody>
      </p:sp>
      <p:sp>
        <p:nvSpPr>
          <p:cNvPr id="10" name="Shape 8"/>
          <p:cNvSpPr/>
          <p:nvPr/>
        </p:nvSpPr>
        <p:spPr>
          <a:xfrm>
            <a:off x="365760" y="2761488"/>
            <a:ext cx="3749040" cy="621792"/>
          </a:xfrm>
          <a:prstGeom prst="rect">
            <a:avLst/>
          </a:prstGeom>
          <a:solidFill>
            <a:srgbClr val="1A1A2E"/>
          </a:solidFill>
          <a:ln/>
        </p:spPr>
      </p:sp>
      <p:sp>
        <p:nvSpPr>
          <p:cNvPr id="11" name="Text 9"/>
          <p:cNvSpPr/>
          <p:nvPr/>
        </p:nvSpPr>
        <p:spPr>
          <a:xfrm>
            <a:off x="457200" y="2798064"/>
            <a:ext cx="3566160" cy="548640"/>
          </a:xfrm>
          <a:prstGeom prst="rect">
            <a:avLst/>
          </a:prstGeom>
          <a:noFill/>
          <a:ln/>
        </p:spPr>
        <p:txBody>
          <a:bodyPr wrap="square" lIns="0" tIns="0" rIns="0" bIns="0" rtlCol="0" anchor="ctr"/>
          <a:lstStyle/>
          <a:p>
            <a:pPr indent="0" marL="0">
              <a:buNone/>
            </a:pPr>
            <a:r>
              <a:rPr lang="en-US" sz="1050" i="1" dirty="0">
                <a:solidFill>
                  <a:srgbClr val="00A896"/>
                </a:solidFill>
                <a:latin typeface="Georgia" pitchFamily="34" charset="0"/>
                <a:ea typeface="Georgia" pitchFamily="34" charset="-122"/>
                <a:cs typeface="Georgia" pitchFamily="34" charset="-120"/>
              </a:rPr>
              <a:t>"Prioritize VoIP over guest Wi-Fi on all sites during business hours"</a:t>
            </a:r>
            <a:endParaRPr lang="en-US" sz="1050" dirty="0"/>
          </a:p>
        </p:txBody>
      </p:sp>
      <p:sp>
        <p:nvSpPr>
          <p:cNvPr id="12" name="Text 10"/>
          <p:cNvSpPr/>
          <p:nvPr/>
        </p:nvSpPr>
        <p:spPr>
          <a:xfrm>
            <a:off x="365760" y="3456432"/>
            <a:ext cx="3749040" cy="320040"/>
          </a:xfrm>
          <a:prstGeom prst="rect">
            <a:avLst/>
          </a:prstGeom>
          <a:noFill/>
          <a:ln/>
        </p:spPr>
        <p:txBody>
          <a:bodyPr wrap="square" lIns="0" tIns="0" rIns="0" bIns="0" rtlCol="0" anchor="ctr"/>
          <a:lstStyle/>
          <a:p>
            <a:pPr indent="0" marL="0">
              <a:buNone/>
            </a:pPr>
            <a:r>
              <a:rPr lang="en-US" sz="1100" b="1" dirty="0">
                <a:solidFill>
                  <a:srgbClr val="02C39A"/>
                </a:solidFill>
              </a:rPr>
              <a:t>No CLI. No certifications required.</a:t>
            </a:r>
            <a:endParaRPr lang="en-US" sz="1100" dirty="0"/>
          </a:p>
        </p:txBody>
      </p:sp>
      <p:sp>
        <p:nvSpPr>
          <p:cNvPr id="13" name="Text 11"/>
          <p:cNvSpPr/>
          <p:nvPr/>
        </p:nvSpPr>
        <p:spPr>
          <a:xfrm>
            <a:off x="365760" y="3822192"/>
            <a:ext cx="3749040" cy="502920"/>
          </a:xfrm>
          <a:prstGeom prst="rect">
            <a:avLst/>
          </a:prstGeom>
          <a:noFill/>
          <a:ln/>
        </p:spPr>
        <p:txBody>
          <a:bodyPr wrap="square" lIns="0" tIns="0" rIns="0" bIns="0" rtlCol="0" anchor="ctr"/>
          <a:lstStyle/>
          <a:p>
            <a:pPr indent="0" marL="0">
              <a:buNone/>
            </a:pPr>
            <a:r>
              <a:rPr lang="en-US" sz="1050" dirty="0">
                <a:solidFill>
                  <a:srgbClr val="E2E8F0"/>
                </a:solidFill>
              </a:rPr>
              <a:t>Generalist IT staff can manage advanced</a:t>
            </a:r>
            <a:endParaRPr lang="en-US" sz="1050" dirty="0"/>
          </a:p>
          <a:p>
            <a:pPr indent="0" marL="0">
              <a:buNone/>
            </a:pPr>
            <a:r>
              <a:rPr lang="en-US" sz="1050" dirty="0">
                <a:solidFill>
                  <a:srgbClr val="E2E8F0"/>
                </a:solidFill>
              </a:rPr>
              <a:t>SD-WAN policies in plain English.</a:t>
            </a:r>
            <a:endParaRPr lang="en-US" sz="1050" dirty="0"/>
          </a:p>
        </p:txBody>
      </p:sp>
      <p:sp>
        <p:nvSpPr>
          <p:cNvPr id="14" name="Shape 12"/>
          <p:cNvSpPr/>
          <p:nvPr/>
        </p:nvSpPr>
        <p:spPr>
          <a:xfrm>
            <a:off x="4572000" y="841248"/>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5" name="Shape 13"/>
          <p:cNvSpPr/>
          <p:nvPr/>
        </p:nvSpPr>
        <p:spPr>
          <a:xfrm>
            <a:off x="4572000" y="841248"/>
            <a:ext cx="64008" cy="640080"/>
          </a:xfrm>
          <a:prstGeom prst="rect">
            <a:avLst/>
          </a:prstGeom>
          <a:solidFill>
            <a:srgbClr val="00A896"/>
          </a:solidFill>
          <a:ln/>
        </p:spPr>
      </p:sp>
      <p:sp>
        <p:nvSpPr>
          <p:cNvPr id="16" name="Shape 14"/>
          <p:cNvSpPr/>
          <p:nvPr/>
        </p:nvSpPr>
        <p:spPr>
          <a:xfrm>
            <a:off x="4681728" y="950976"/>
            <a:ext cx="384048" cy="384048"/>
          </a:xfrm>
          <a:prstGeom prst="ellipse">
            <a:avLst/>
          </a:prstGeom>
          <a:solidFill>
            <a:srgbClr val="0D1B2A"/>
          </a:solidFill>
          <a:ln w="12700">
            <a:solidFill>
              <a:srgbClr val="0D1B2A"/>
            </a:solidFill>
            <a:prstDash val="solid"/>
          </a:ln>
        </p:spPr>
      </p:sp>
      <p:sp>
        <p:nvSpPr>
          <p:cNvPr id="17" name="Text 15"/>
          <p:cNvSpPr/>
          <p:nvPr/>
        </p:nvSpPr>
        <p:spPr>
          <a:xfrm>
            <a:off x="4681728" y="9509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8" name="Text 16"/>
          <p:cNvSpPr/>
          <p:nvPr/>
        </p:nvSpPr>
        <p:spPr>
          <a:xfrm>
            <a:off x="5166360" y="896112"/>
            <a:ext cx="3611880" cy="256032"/>
          </a:xfrm>
          <a:prstGeom prst="rect">
            <a:avLst/>
          </a:prstGeom>
          <a:noFill/>
          <a:ln/>
        </p:spPr>
        <p:txBody>
          <a:bodyPr wrap="square" lIns="0" tIns="0" rIns="0" bIns="0" rtlCol="0" anchor="ctr"/>
          <a:lstStyle/>
          <a:p>
            <a:pPr indent="0" marL="0">
              <a:buNone/>
            </a:pPr>
            <a:r>
              <a:rPr lang="en-US" sz="1100" b="1" dirty="0">
                <a:solidFill>
                  <a:srgbClr val="0D1B2A"/>
                </a:solidFill>
              </a:rPr>
              <a:t>Parse Command</a:t>
            </a:r>
            <a:endParaRPr lang="en-US" sz="1100" dirty="0"/>
          </a:p>
        </p:txBody>
      </p:sp>
      <p:sp>
        <p:nvSpPr>
          <p:cNvPr id="19" name="Text 17"/>
          <p:cNvSpPr/>
          <p:nvPr/>
        </p:nvSpPr>
        <p:spPr>
          <a:xfrm>
            <a:off x="5166360" y="1170432"/>
            <a:ext cx="3611880" cy="256032"/>
          </a:xfrm>
          <a:prstGeom prst="rect">
            <a:avLst/>
          </a:prstGeom>
          <a:noFill/>
          <a:ln/>
        </p:spPr>
        <p:txBody>
          <a:bodyPr wrap="square" lIns="0" tIns="0" rIns="0" bIns="0" rtlCol="0" anchor="ctr"/>
          <a:lstStyle/>
          <a:p>
            <a:pPr indent="0" marL="0">
              <a:buNone/>
            </a:pPr>
            <a:r>
              <a:rPr lang="en-US" sz="1000" dirty="0">
                <a:solidFill>
                  <a:srgbClr val="334155"/>
                </a:solidFill>
              </a:rPr>
              <a:t>IBNPolicyTranslator maps natural language to controlled vocabulary patterns</a:t>
            </a:r>
            <a:endParaRPr lang="en-US" sz="1000" dirty="0"/>
          </a:p>
        </p:txBody>
      </p:sp>
      <p:sp>
        <p:nvSpPr>
          <p:cNvPr id="20" name="Shape 18"/>
          <p:cNvSpPr/>
          <p:nvPr/>
        </p:nvSpPr>
        <p:spPr>
          <a:xfrm>
            <a:off x="4572000" y="1591056"/>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1" name="Shape 19"/>
          <p:cNvSpPr/>
          <p:nvPr/>
        </p:nvSpPr>
        <p:spPr>
          <a:xfrm>
            <a:off x="4572000" y="1591056"/>
            <a:ext cx="64008" cy="640080"/>
          </a:xfrm>
          <a:prstGeom prst="rect">
            <a:avLst/>
          </a:prstGeom>
          <a:solidFill>
            <a:srgbClr val="00A896"/>
          </a:solidFill>
          <a:ln/>
        </p:spPr>
      </p:sp>
      <p:sp>
        <p:nvSpPr>
          <p:cNvPr id="22" name="Shape 20"/>
          <p:cNvSpPr/>
          <p:nvPr/>
        </p:nvSpPr>
        <p:spPr>
          <a:xfrm>
            <a:off x="4681728" y="1700784"/>
            <a:ext cx="384048" cy="384048"/>
          </a:xfrm>
          <a:prstGeom prst="ellipse">
            <a:avLst/>
          </a:prstGeom>
          <a:solidFill>
            <a:srgbClr val="0D1B2A"/>
          </a:solidFill>
          <a:ln w="12700">
            <a:solidFill>
              <a:srgbClr val="0D1B2A"/>
            </a:solidFill>
            <a:prstDash val="solid"/>
          </a:ln>
        </p:spPr>
      </p:sp>
      <p:sp>
        <p:nvSpPr>
          <p:cNvPr id="23" name="Text 21"/>
          <p:cNvSpPr/>
          <p:nvPr/>
        </p:nvSpPr>
        <p:spPr>
          <a:xfrm>
            <a:off x="4681728" y="170078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4" name="Text 22"/>
          <p:cNvSpPr/>
          <p:nvPr/>
        </p:nvSpPr>
        <p:spPr>
          <a:xfrm>
            <a:off x="5166360" y="1645920"/>
            <a:ext cx="3611880" cy="256032"/>
          </a:xfrm>
          <a:prstGeom prst="rect">
            <a:avLst/>
          </a:prstGeom>
          <a:noFill/>
          <a:ln/>
        </p:spPr>
        <p:txBody>
          <a:bodyPr wrap="square" lIns="0" tIns="0" rIns="0" bIns="0" rtlCol="0" anchor="ctr"/>
          <a:lstStyle/>
          <a:p>
            <a:pPr indent="0" marL="0">
              <a:buNone/>
            </a:pPr>
            <a:r>
              <a:rPr lang="en-US" sz="1100" b="1" dirty="0">
                <a:solidFill>
                  <a:srgbClr val="0D1B2A"/>
                </a:solidFill>
              </a:rPr>
              <a:t>Validate Intent</a:t>
            </a:r>
            <a:endParaRPr lang="en-US" sz="1100" dirty="0"/>
          </a:p>
        </p:txBody>
      </p:sp>
      <p:sp>
        <p:nvSpPr>
          <p:cNvPr id="25" name="Text 23"/>
          <p:cNvSpPr/>
          <p:nvPr/>
        </p:nvSpPr>
        <p:spPr>
          <a:xfrm>
            <a:off x="5166360" y="1920240"/>
            <a:ext cx="3611880" cy="256032"/>
          </a:xfrm>
          <a:prstGeom prst="rect">
            <a:avLst/>
          </a:prstGeom>
          <a:noFill/>
          <a:ln/>
        </p:spPr>
        <p:txBody>
          <a:bodyPr wrap="square" lIns="0" tIns="0" rIns="0" bIns="0" rtlCol="0" anchor="ctr"/>
          <a:lstStyle/>
          <a:p>
            <a:pPr indent="0" marL="0">
              <a:buNone/>
            </a:pPr>
            <a:r>
              <a:rPr lang="en-US" sz="1000" dirty="0">
                <a:solidFill>
                  <a:srgbClr val="334155"/>
                </a:solidFill>
              </a:rPr>
              <a:t>Pattern matched against policy template library with confidence scoring</a:t>
            </a:r>
            <a:endParaRPr lang="en-US" sz="1000" dirty="0"/>
          </a:p>
        </p:txBody>
      </p:sp>
      <p:sp>
        <p:nvSpPr>
          <p:cNvPr id="26" name="Shape 24"/>
          <p:cNvSpPr/>
          <p:nvPr/>
        </p:nvSpPr>
        <p:spPr>
          <a:xfrm>
            <a:off x="4572000" y="2340864"/>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7" name="Shape 25"/>
          <p:cNvSpPr/>
          <p:nvPr/>
        </p:nvSpPr>
        <p:spPr>
          <a:xfrm>
            <a:off x="4572000" y="2340864"/>
            <a:ext cx="64008" cy="640080"/>
          </a:xfrm>
          <a:prstGeom prst="rect">
            <a:avLst/>
          </a:prstGeom>
          <a:solidFill>
            <a:srgbClr val="00A896"/>
          </a:solidFill>
          <a:ln/>
        </p:spPr>
      </p:sp>
      <p:sp>
        <p:nvSpPr>
          <p:cNvPr id="28" name="Shape 26"/>
          <p:cNvSpPr/>
          <p:nvPr/>
        </p:nvSpPr>
        <p:spPr>
          <a:xfrm>
            <a:off x="4681728" y="2450592"/>
            <a:ext cx="384048" cy="384048"/>
          </a:xfrm>
          <a:prstGeom prst="ellipse">
            <a:avLst/>
          </a:prstGeom>
          <a:solidFill>
            <a:srgbClr val="0D1B2A"/>
          </a:solidFill>
          <a:ln w="12700">
            <a:solidFill>
              <a:srgbClr val="0D1B2A"/>
            </a:solidFill>
            <a:prstDash val="solid"/>
          </a:ln>
        </p:spPr>
      </p:sp>
      <p:sp>
        <p:nvSpPr>
          <p:cNvPr id="29" name="Text 27"/>
          <p:cNvSpPr/>
          <p:nvPr/>
        </p:nvSpPr>
        <p:spPr>
          <a:xfrm>
            <a:off x="4681728" y="24505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0" name="Text 28"/>
          <p:cNvSpPr/>
          <p:nvPr/>
        </p:nvSpPr>
        <p:spPr>
          <a:xfrm>
            <a:off x="5166360" y="2395728"/>
            <a:ext cx="3611880" cy="256032"/>
          </a:xfrm>
          <a:prstGeom prst="rect">
            <a:avLst/>
          </a:prstGeom>
          <a:noFill/>
          <a:ln/>
        </p:spPr>
        <p:txBody>
          <a:bodyPr wrap="square" lIns="0" tIns="0" rIns="0" bIns="0" rtlCol="0" anchor="ctr"/>
          <a:lstStyle/>
          <a:p>
            <a:pPr indent="0" marL="0">
              <a:buNone/>
            </a:pPr>
            <a:r>
              <a:rPr lang="en-US" sz="1100" b="1" dirty="0">
                <a:solidFill>
                  <a:srgbClr val="0D1B2A"/>
                </a:solidFill>
              </a:rPr>
              <a:t>Translate → YANG</a:t>
            </a:r>
            <a:endParaRPr lang="en-US" sz="1100" dirty="0"/>
          </a:p>
        </p:txBody>
      </p:sp>
      <p:sp>
        <p:nvSpPr>
          <p:cNvPr id="31" name="Text 29"/>
          <p:cNvSpPr/>
          <p:nvPr/>
        </p:nvSpPr>
        <p:spPr>
          <a:xfrm>
            <a:off x="5166360" y="2670048"/>
            <a:ext cx="3611880" cy="256032"/>
          </a:xfrm>
          <a:prstGeom prst="rect">
            <a:avLst/>
          </a:prstGeom>
          <a:noFill/>
          <a:ln/>
        </p:spPr>
        <p:txBody>
          <a:bodyPr wrap="square" lIns="0" tIns="0" rIns="0" bIns="0" rtlCol="0" anchor="ctr"/>
          <a:lstStyle/>
          <a:p>
            <a:pPr indent="0" marL="0">
              <a:buNone/>
            </a:pPr>
            <a:r>
              <a:rPr lang="en-US" sz="1000" dirty="0">
                <a:solidFill>
                  <a:srgbClr val="334155"/>
                </a:solidFill>
              </a:rPr>
              <a:t>Verified intent converted to YANG/NETCONF configuration payload</a:t>
            </a:r>
            <a:endParaRPr lang="en-US" sz="1000" dirty="0"/>
          </a:p>
        </p:txBody>
      </p:sp>
      <p:sp>
        <p:nvSpPr>
          <p:cNvPr id="32" name="Shape 30"/>
          <p:cNvSpPr/>
          <p:nvPr/>
        </p:nvSpPr>
        <p:spPr>
          <a:xfrm>
            <a:off x="4572000" y="3090672"/>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31"/>
          <p:cNvSpPr/>
          <p:nvPr/>
        </p:nvSpPr>
        <p:spPr>
          <a:xfrm>
            <a:off x="4572000" y="3090672"/>
            <a:ext cx="64008" cy="640080"/>
          </a:xfrm>
          <a:prstGeom prst="rect">
            <a:avLst/>
          </a:prstGeom>
          <a:solidFill>
            <a:srgbClr val="00A896"/>
          </a:solidFill>
          <a:ln/>
        </p:spPr>
      </p:sp>
      <p:sp>
        <p:nvSpPr>
          <p:cNvPr id="34" name="Shape 32"/>
          <p:cNvSpPr/>
          <p:nvPr/>
        </p:nvSpPr>
        <p:spPr>
          <a:xfrm>
            <a:off x="4681728" y="3200400"/>
            <a:ext cx="384048" cy="384048"/>
          </a:xfrm>
          <a:prstGeom prst="ellipse">
            <a:avLst/>
          </a:prstGeom>
          <a:solidFill>
            <a:srgbClr val="0D1B2A"/>
          </a:solidFill>
          <a:ln w="12700">
            <a:solidFill>
              <a:srgbClr val="0D1B2A"/>
            </a:solidFill>
            <a:prstDash val="solid"/>
          </a:ln>
        </p:spPr>
      </p:sp>
      <p:sp>
        <p:nvSpPr>
          <p:cNvPr id="35" name="Text 33"/>
          <p:cNvSpPr/>
          <p:nvPr/>
        </p:nvSpPr>
        <p:spPr>
          <a:xfrm>
            <a:off x="4681728"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6" name="Text 34"/>
          <p:cNvSpPr/>
          <p:nvPr/>
        </p:nvSpPr>
        <p:spPr>
          <a:xfrm>
            <a:off x="5166360" y="3145536"/>
            <a:ext cx="3611880" cy="256032"/>
          </a:xfrm>
          <a:prstGeom prst="rect">
            <a:avLst/>
          </a:prstGeom>
          <a:noFill/>
          <a:ln/>
        </p:spPr>
        <p:txBody>
          <a:bodyPr wrap="square" lIns="0" tIns="0" rIns="0" bIns="0" rtlCol="0" anchor="ctr"/>
          <a:lstStyle/>
          <a:p>
            <a:pPr indent="0" marL="0">
              <a:buNone/>
            </a:pPr>
            <a:r>
              <a:rPr lang="en-US" sz="1100" b="1" dirty="0">
                <a:solidFill>
                  <a:srgbClr val="0D1B2A"/>
                </a:solidFill>
              </a:rPr>
              <a:t>Sandbox Pre-check</a:t>
            </a:r>
            <a:endParaRPr lang="en-US" sz="1100" dirty="0"/>
          </a:p>
        </p:txBody>
      </p:sp>
      <p:sp>
        <p:nvSpPr>
          <p:cNvPr id="37" name="Text 35"/>
          <p:cNvSpPr/>
          <p:nvPr/>
        </p:nvSpPr>
        <p:spPr>
          <a:xfrm>
            <a:off x="5166360" y="3419856"/>
            <a:ext cx="3611880" cy="256032"/>
          </a:xfrm>
          <a:prstGeom prst="rect">
            <a:avLst/>
          </a:prstGeom>
          <a:noFill/>
          <a:ln/>
        </p:spPr>
        <p:txBody>
          <a:bodyPr wrap="square" lIns="0" tIns="0" rIns="0" bIns="0" rtlCol="0" anchor="ctr"/>
          <a:lstStyle/>
          <a:p>
            <a:pPr indent="0" marL="0">
              <a:buNone/>
            </a:pPr>
            <a:r>
              <a:rPr lang="en-US" sz="1000" dirty="0">
                <a:solidFill>
                  <a:srgbClr val="334155"/>
                </a:solidFill>
              </a:rPr>
              <a:t>Generated config routed through Digital Twin before SDN deployment</a:t>
            </a:r>
            <a:endParaRPr lang="en-US" sz="1000" dirty="0"/>
          </a:p>
        </p:txBody>
      </p:sp>
      <p:sp>
        <p:nvSpPr>
          <p:cNvPr id="38" name="Shape 36"/>
          <p:cNvSpPr/>
          <p:nvPr/>
        </p:nvSpPr>
        <p:spPr>
          <a:xfrm>
            <a:off x="4572000" y="3840480"/>
            <a:ext cx="4297680" cy="640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9" name="Shape 37"/>
          <p:cNvSpPr/>
          <p:nvPr/>
        </p:nvSpPr>
        <p:spPr>
          <a:xfrm>
            <a:off x="4572000" y="3840480"/>
            <a:ext cx="64008" cy="640080"/>
          </a:xfrm>
          <a:prstGeom prst="rect">
            <a:avLst/>
          </a:prstGeom>
          <a:solidFill>
            <a:srgbClr val="00A896"/>
          </a:solidFill>
          <a:ln/>
        </p:spPr>
      </p:sp>
      <p:sp>
        <p:nvSpPr>
          <p:cNvPr id="40" name="Shape 38"/>
          <p:cNvSpPr/>
          <p:nvPr/>
        </p:nvSpPr>
        <p:spPr>
          <a:xfrm>
            <a:off x="4681728" y="3950208"/>
            <a:ext cx="384048" cy="384048"/>
          </a:xfrm>
          <a:prstGeom prst="ellipse">
            <a:avLst/>
          </a:prstGeom>
          <a:solidFill>
            <a:srgbClr val="0D1B2A"/>
          </a:solidFill>
          <a:ln w="12700">
            <a:solidFill>
              <a:srgbClr val="0D1B2A"/>
            </a:solidFill>
            <a:prstDash val="solid"/>
          </a:ln>
        </p:spPr>
      </p:sp>
      <p:sp>
        <p:nvSpPr>
          <p:cNvPr id="41" name="Text 39"/>
          <p:cNvSpPr/>
          <p:nvPr/>
        </p:nvSpPr>
        <p:spPr>
          <a:xfrm>
            <a:off x="4681728" y="39502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42" name="Text 40"/>
          <p:cNvSpPr/>
          <p:nvPr/>
        </p:nvSpPr>
        <p:spPr>
          <a:xfrm>
            <a:off x="5166360" y="3895344"/>
            <a:ext cx="3611880" cy="256032"/>
          </a:xfrm>
          <a:prstGeom prst="rect">
            <a:avLst/>
          </a:prstGeom>
          <a:noFill/>
          <a:ln/>
        </p:spPr>
        <p:txBody>
          <a:bodyPr wrap="square" lIns="0" tIns="0" rIns="0" bIns="0" rtlCol="0" anchor="ctr"/>
          <a:lstStyle/>
          <a:p>
            <a:pPr indent="0" marL="0">
              <a:buNone/>
            </a:pPr>
            <a:r>
              <a:rPr lang="en-US" sz="1100" b="1" dirty="0">
                <a:solidFill>
                  <a:srgbClr val="0D1B2A"/>
                </a:solidFill>
              </a:rPr>
              <a:t>User Review &amp; Apply</a:t>
            </a:r>
            <a:endParaRPr lang="en-US" sz="1100" dirty="0"/>
          </a:p>
        </p:txBody>
      </p:sp>
      <p:sp>
        <p:nvSpPr>
          <p:cNvPr id="43" name="Text 41"/>
          <p:cNvSpPr/>
          <p:nvPr/>
        </p:nvSpPr>
        <p:spPr>
          <a:xfrm>
            <a:off x="5166360" y="4169664"/>
            <a:ext cx="3611880" cy="256032"/>
          </a:xfrm>
          <a:prstGeom prst="rect">
            <a:avLst/>
          </a:prstGeom>
          <a:noFill/>
          <a:ln/>
        </p:spPr>
        <p:txBody>
          <a:bodyPr wrap="square" lIns="0" tIns="0" rIns="0" bIns="0" rtlCol="0" anchor="ctr"/>
          <a:lstStyle/>
          <a:p>
            <a:pPr indent="0" marL="0">
              <a:buNone/>
            </a:pPr>
            <a:r>
              <a:rPr lang="en-US" sz="1000" dirty="0">
                <a:solidFill>
                  <a:srgbClr val="334155"/>
                </a:solidFill>
              </a:rPr>
              <a:t>Policy summary shown to admin; user approves → deployed to controller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7772400" cy="685800"/>
          </a:xfrm>
          <a:prstGeom prst="rect">
            <a:avLst/>
          </a:prstGeom>
          <a:noFill/>
          <a:ln/>
        </p:spPr>
        <p:txBody>
          <a:bodyPr wrap="square" lIns="0" tIns="0" rIns="0" bIns="0" rtlCol="0" anchor="ctr"/>
          <a:lstStyle/>
          <a:p>
            <a:pPr indent="0" marL="0">
              <a:buNone/>
            </a:pPr>
            <a:r>
              <a:rPr lang="en-US" sz="2200" b="1" dirty="0">
                <a:solidFill>
                  <a:srgbClr val="FFFFFF"/>
                </a:solidFill>
              </a:rPr>
              <a:t>Feature 5 — Multi-Link Health Scoreboard</a:t>
            </a:r>
            <a:endParaRPr lang="en-US" sz="2200" dirty="0"/>
          </a:p>
        </p:txBody>
      </p:sp>
      <p:sp>
        <p:nvSpPr>
          <p:cNvPr id="4" name="Text 2"/>
          <p:cNvSpPr/>
          <p:nvPr/>
        </p:nvSpPr>
        <p:spPr>
          <a:xfrm>
            <a:off x="8138160" y="91440"/>
            <a:ext cx="822960" cy="502920"/>
          </a:xfrm>
          <a:prstGeom prst="rect">
            <a:avLst/>
          </a:prstGeom>
          <a:noFill/>
          <a:ln/>
        </p:spPr>
        <p:txBody>
          <a:bodyPr wrap="square" lIns="0" tIns="0" rIns="0" bIns="0" rtlCol="0" anchor="ctr"/>
          <a:lstStyle/>
          <a:p>
            <a:pPr algn="r" indent="0" marL="0">
              <a:buNone/>
            </a:pPr>
            <a:r>
              <a:rPr lang="en-US" sz="1600" b="1" dirty="0">
                <a:solidFill>
                  <a:srgbClr val="02C39A"/>
                </a:solidFill>
              </a:rPr>
              <a:t>05 / 05</a:t>
            </a:r>
            <a:endParaRPr lang="en-US" sz="1600" dirty="0"/>
          </a:p>
        </p:txBody>
      </p:sp>
      <p:sp>
        <p:nvSpPr>
          <p:cNvPr id="5" name="Shape 3"/>
          <p:cNvSpPr/>
          <p:nvPr/>
        </p:nvSpPr>
        <p:spPr>
          <a:xfrm>
            <a:off x="228600" y="804672"/>
            <a:ext cx="2011680" cy="18288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6" name="Shape 4"/>
          <p:cNvSpPr/>
          <p:nvPr/>
        </p:nvSpPr>
        <p:spPr>
          <a:xfrm>
            <a:off x="228600" y="804672"/>
            <a:ext cx="2011680" cy="54864"/>
          </a:xfrm>
          <a:prstGeom prst="rect">
            <a:avLst/>
          </a:prstGeom>
          <a:solidFill>
            <a:srgbClr val="10B981"/>
          </a:solidFill>
          <a:ln/>
        </p:spPr>
      </p:sp>
      <p:sp>
        <p:nvSpPr>
          <p:cNvPr id="7" name="Text 5"/>
          <p:cNvSpPr/>
          <p:nvPr/>
        </p:nvSpPr>
        <p:spPr>
          <a:xfrm>
            <a:off x="274320" y="877824"/>
            <a:ext cx="1920240" cy="292608"/>
          </a:xfrm>
          <a:prstGeom prst="rect">
            <a:avLst/>
          </a:prstGeom>
          <a:noFill/>
          <a:ln/>
        </p:spPr>
        <p:txBody>
          <a:bodyPr wrap="square" lIns="0" tIns="0" rIns="0" bIns="0" rtlCol="0" anchor="ctr"/>
          <a:lstStyle/>
          <a:p>
            <a:pPr algn="ctr" indent="0" marL="0">
              <a:buNone/>
            </a:pPr>
            <a:r>
              <a:rPr lang="en-US" sz="1100" b="1" dirty="0">
                <a:solidFill>
                  <a:srgbClr val="0D1B2A"/>
                </a:solidFill>
              </a:rPr>
              <a:t>Fiber Link</a:t>
            </a:r>
            <a:endParaRPr lang="en-US" sz="1100" dirty="0"/>
          </a:p>
        </p:txBody>
      </p:sp>
      <p:sp>
        <p:nvSpPr>
          <p:cNvPr id="8" name="Text 6"/>
          <p:cNvSpPr/>
          <p:nvPr/>
        </p:nvSpPr>
        <p:spPr>
          <a:xfrm>
            <a:off x="274320" y="1207008"/>
            <a:ext cx="1920240" cy="594360"/>
          </a:xfrm>
          <a:prstGeom prst="rect">
            <a:avLst/>
          </a:prstGeom>
          <a:noFill/>
          <a:ln/>
        </p:spPr>
        <p:txBody>
          <a:bodyPr wrap="square" lIns="0" tIns="0" rIns="0" bIns="0" rtlCol="0" anchor="ctr"/>
          <a:lstStyle/>
          <a:p>
            <a:pPr algn="ctr" indent="0" marL="0">
              <a:buNone/>
            </a:pPr>
            <a:r>
              <a:rPr lang="en-US" sz="3800" b="1" dirty="0">
                <a:solidFill>
                  <a:srgbClr val="10B981"/>
                </a:solidFill>
              </a:rPr>
              <a:t>94</a:t>
            </a:r>
            <a:endParaRPr lang="en-US" sz="3800" dirty="0"/>
          </a:p>
        </p:txBody>
      </p:sp>
      <p:sp>
        <p:nvSpPr>
          <p:cNvPr id="9" name="Text 7"/>
          <p:cNvSpPr/>
          <p:nvPr/>
        </p:nvSpPr>
        <p:spPr>
          <a:xfrm>
            <a:off x="274320" y="1810512"/>
            <a:ext cx="1920240" cy="256032"/>
          </a:xfrm>
          <a:prstGeom prst="rect">
            <a:avLst/>
          </a:prstGeom>
          <a:noFill/>
          <a:ln/>
        </p:spPr>
        <p:txBody>
          <a:bodyPr wrap="square" lIns="0" tIns="0" rIns="0" bIns="0" rtlCol="0" anchor="ctr"/>
          <a:lstStyle/>
          <a:p>
            <a:pPr algn="ctr" indent="0" marL="0">
              <a:buNone/>
            </a:pPr>
            <a:r>
              <a:rPr lang="en-US" sz="1100" b="1" dirty="0">
                <a:solidFill>
                  <a:srgbClr val="10B981"/>
                </a:solidFill>
              </a:rPr>
              <a:t>HEALTHY</a:t>
            </a:r>
            <a:endParaRPr lang="en-US" sz="1100" dirty="0"/>
          </a:p>
        </p:txBody>
      </p:sp>
      <p:sp>
        <p:nvSpPr>
          <p:cNvPr id="10" name="Text 8"/>
          <p:cNvSpPr/>
          <p:nvPr/>
        </p:nvSpPr>
        <p:spPr>
          <a:xfrm>
            <a:off x="274320" y="2103120"/>
            <a:ext cx="1920240" cy="411480"/>
          </a:xfrm>
          <a:prstGeom prst="rect">
            <a:avLst/>
          </a:prstGeom>
          <a:noFill/>
          <a:ln/>
        </p:spPr>
        <p:txBody>
          <a:bodyPr wrap="square" lIns="0" tIns="0" rIns="0" bIns="0" rtlCol="0" anchor="ctr"/>
          <a:lstStyle/>
          <a:p>
            <a:pPr algn="ctr" indent="0" marL="0">
              <a:buNone/>
            </a:pPr>
            <a:r>
              <a:rPr lang="en-US" sz="900" dirty="0">
                <a:solidFill>
                  <a:srgbClr val="94A3B8"/>
                </a:solidFill>
              </a:rPr>
              <a:t>Lat: 8ms | Loss: 0.01%</a:t>
            </a:r>
            <a:endParaRPr lang="en-US" sz="900" dirty="0"/>
          </a:p>
          <a:p>
            <a:pPr algn="ctr" indent="0" marL="0">
              <a:buNone/>
            </a:pPr>
            <a:r>
              <a:rPr lang="en-US" sz="900" dirty="0">
                <a:solidFill>
                  <a:srgbClr val="94A3B8"/>
                </a:solidFill>
              </a:rPr>
              <a:t>Jitter: 1.2ms</a:t>
            </a:r>
            <a:endParaRPr lang="en-US" sz="900" dirty="0"/>
          </a:p>
        </p:txBody>
      </p:sp>
      <p:sp>
        <p:nvSpPr>
          <p:cNvPr id="11" name="Shape 9"/>
          <p:cNvSpPr/>
          <p:nvPr/>
        </p:nvSpPr>
        <p:spPr>
          <a:xfrm>
            <a:off x="2423160" y="804672"/>
            <a:ext cx="2011680" cy="18288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2" name="Shape 10"/>
          <p:cNvSpPr/>
          <p:nvPr/>
        </p:nvSpPr>
        <p:spPr>
          <a:xfrm>
            <a:off x="2423160" y="804672"/>
            <a:ext cx="2011680" cy="54864"/>
          </a:xfrm>
          <a:prstGeom prst="rect">
            <a:avLst/>
          </a:prstGeom>
          <a:solidFill>
            <a:srgbClr val="F59E0B"/>
          </a:solidFill>
          <a:ln/>
        </p:spPr>
      </p:sp>
      <p:sp>
        <p:nvSpPr>
          <p:cNvPr id="13" name="Text 11"/>
          <p:cNvSpPr/>
          <p:nvPr/>
        </p:nvSpPr>
        <p:spPr>
          <a:xfrm>
            <a:off x="2468880" y="877824"/>
            <a:ext cx="1920240" cy="292608"/>
          </a:xfrm>
          <a:prstGeom prst="rect">
            <a:avLst/>
          </a:prstGeom>
          <a:noFill/>
          <a:ln/>
        </p:spPr>
        <p:txBody>
          <a:bodyPr wrap="square" lIns="0" tIns="0" rIns="0" bIns="0" rtlCol="0" anchor="ctr"/>
          <a:lstStyle/>
          <a:p>
            <a:pPr algn="ctr" indent="0" marL="0">
              <a:buNone/>
            </a:pPr>
            <a:r>
              <a:rPr lang="en-US" sz="1100" b="1" dirty="0">
                <a:solidFill>
                  <a:srgbClr val="0D1B2A"/>
                </a:solidFill>
              </a:rPr>
              <a:t>5G Link</a:t>
            </a:r>
            <a:endParaRPr lang="en-US" sz="1100" dirty="0"/>
          </a:p>
        </p:txBody>
      </p:sp>
      <p:sp>
        <p:nvSpPr>
          <p:cNvPr id="14" name="Text 12"/>
          <p:cNvSpPr/>
          <p:nvPr/>
        </p:nvSpPr>
        <p:spPr>
          <a:xfrm>
            <a:off x="2468880" y="1207008"/>
            <a:ext cx="1920240" cy="594360"/>
          </a:xfrm>
          <a:prstGeom prst="rect">
            <a:avLst/>
          </a:prstGeom>
          <a:noFill/>
          <a:ln/>
        </p:spPr>
        <p:txBody>
          <a:bodyPr wrap="square" lIns="0" tIns="0" rIns="0" bIns="0" rtlCol="0" anchor="ctr"/>
          <a:lstStyle/>
          <a:p>
            <a:pPr algn="ctr" indent="0" marL="0">
              <a:buNone/>
            </a:pPr>
            <a:r>
              <a:rPr lang="en-US" sz="3800" b="1" dirty="0">
                <a:solidFill>
                  <a:srgbClr val="F59E0B"/>
                </a:solidFill>
              </a:rPr>
              <a:t>61</a:t>
            </a:r>
            <a:endParaRPr lang="en-US" sz="3800" dirty="0"/>
          </a:p>
        </p:txBody>
      </p:sp>
      <p:sp>
        <p:nvSpPr>
          <p:cNvPr id="15" name="Text 13"/>
          <p:cNvSpPr/>
          <p:nvPr/>
        </p:nvSpPr>
        <p:spPr>
          <a:xfrm>
            <a:off x="2468880" y="1810512"/>
            <a:ext cx="1920240" cy="256032"/>
          </a:xfrm>
          <a:prstGeom prst="rect">
            <a:avLst/>
          </a:prstGeom>
          <a:noFill/>
          <a:ln/>
        </p:spPr>
        <p:txBody>
          <a:bodyPr wrap="square" lIns="0" tIns="0" rIns="0" bIns="0" rtlCol="0" anchor="ctr"/>
          <a:lstStyle/>
          <a:p>
            <a:pPr algn="ctr" indent="0" marL="0">
              <a:buNone/>
            </a:pPr>
            <a:r>
              <a:rPr lang="en-US" sz="1100" b="1" dirty="0">
                <a:solidFill>
                  <a:srgbClr val="F59E0B"/>
                </a:solidFill>
              </a:rPr>
              <a:t>DEGRADING</a:t>
            </a:r>
            <a:endParaRPr lang="en-US" sz="1100" dirty="0"/>
          </a:p>
        </p:txBody>
      </p:sp>
      <p:sp>
        <p:nvSpPr>
          <p:cNvPr id="16" name="Text 14"/>
          <p:cNvSpPr/>
          <p:nvPr/>
        </p:nvSpPr>
        <p:spPr>
          <a:xfrm>
            <a:off x="2468880" y="2103120"/>
            <a:ext cx="1920240" cy="411480"/>
          </a:xfrm>
          <a:prstGeom prst="rect">
            <a:avLst/>
          </a:prstGeom>
          <a:noFill/>
          <a:ln/>
        </p:spPr>
        <p:txBody>
          <a:bodyPr wrap="square" lIns="0" tIns="0" rIns="0" bIns="0" rtlCol="0" anchor="ctr"/>
          <a:lstStyle/>
          <a:p>
            <a:pPr algn="ctr" indent="0" marL="0">
              <a:buNone/>
            </a:pPr>
            <a:r>
              <a:rPr lang="en-US" sz="900" dirty="0">
                <a:solidFill>
                  <a:srgbClr val="94A3B8"/>
                </a:solidFill>
              </a:rPr>
              <a:t>Lat: 42ms | Loss: 1.9%</a:t>
            </a:r>
            <a:endParaRPr lang="en-US" sz="900" dirty="0"/>
          </a:p>
          <a:p>
            <a:pPr algn="ctr" indent="0" marL="0">
              <a:buNone/>
            </a:pPr>
            <a:r>
              <a:rPr lang="en-US" sz="900" dirty="0">
                <a:solidFill>
                  <a:srgbClr val="94A3B8"/>
                </a:solidFill>
              </a:rPr>
              <a:t>Jitter: 8.7ms</a:t>
            </a:r>
            <a:endParaRPr lang="en-US" sz="900" dirty="0"/>
          </a:p>
        </p:txBody>
      </p:sp>
      <p:sp>
        <p:nvSpPr>
          <p:cNvPr id="17" name="Shape 15"/>
          <p:cNvSpPr/>
          <p:nvPr/>
        </p:nvSpPr>
        <p:spPr>
          <a:xfrm>
            <a:off x="4617720" y="804672"/>
            <a:ext cx="2011680" cy="18288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8" name="Shape 16"/>
          <p:cNvSpPr/>
          <p:nvPr/>
        </p:nvSpPr>
        <p:spPr>
          <a:xfrm>
            <a:off x="4617720" y="804672"/>
            <a:ext cx="2011680" cy="54864"/>
          </a:xfrm>
          <a:prstGeom prst="rect">
            <a:avLst/>
          </a:prstGeom>
          <a:solidFill>
            <a:srgbClr val="10B981"/>
          </a:solidFill>
          <a:ln/>
        </p:spPr>
      </p:sp>
      <p:sp>
        <p:nvSpPr>
          <p:cNvPr id="19" name="Text 17"/>
          <p:cNvSpPr/>
          <p:nvPr/>
        </p:nvSpPr>
        <p:spPr>
          <a:xfrm>
            <a:off x="4663440" y="877824"/>
            <a:ext cx="1920240" cy="292608"/>
          </a:xfrm>
          <a:prstGeom prst="rect">
            <a:avLst/>
          </a:prstGeom>
          <a:noFill/>
          <a:ln/>
        </p:spPr>
        <p:txBody>
          <a:bodyPr wrap="square" lIns="0" tIns="0" rIns="0" bIns="0" rtlCol="0" anchor="ctr"/>
          <a:lstStyle/>
          <a:p>
            <a:pPr algn="ctr" indent="0" marL="0">
              <a:buNone/>
            </a:pPr>
            <a:r>
              <a:rPr lang="en-US" sz="1100" b="1" dirty="0">
                <a:solidFill>
                  <a:srgbClr val="0D1B2A"/>
                </a:solidFill>
              </a:rPr>
              <a:t>Satellite</a:t>
            </a:r>
            <a:endParaRPr lang="en-US" sz="1100" dirty="0"/>
          </a:p>
        </p:txBody>
      </p:sp>
      <p:sp>
        <p:nvSpPr>
          <p:cNvPr id="20" name="Text 18"/>
          <p:cNvSpPr/>
          <p:nvPr/>
        </p:nvSpPr>
        <p:spPr>
          <a:xfrm>
            <a:off x="4663440" y="1207008"/>
            <a:ext cx="1920240" cy="594360"/>
          </a:xfrm>
          <a:prstGeom prst="rect">
            <a:avLst/>
          </a:prstGeom>
          <a:noFill/>
          <a:ln/>
        </p:spPr>
        <p:txBody>
          <a:bodyPr wrap="square" lIns="0" tIns="0" rIns="0" bIns="0" rtlCol="0" anchor="ctr"/>
          <a:lstStyle/>
          <a:p>
            <a:pPr algn="ctr" indent="0" marL="0">
              <a:buNone/>
            </a:pPr>
            <a:r>
              <a:rPr lang="en-US" sz="3800" b="1" dirty="0">
                <a:solidFill>
                  <a:srgbClr val="10B981"/>
                </a:solidFill>
              </a:rPr>
              <a:t>78</a:t>
            </a:r>
            <a:endParaRPr lang="en-US" sz="3800" dirty="0"/>
          </a:p>
        </p:txBody>
      </p:sp>
      <p:sp>
        <p:nvSpPr>
          <p:cNvPr id="21" name="Text 19"/>
          <p:cNvSpPr/>
          <p:nvPr/>
        </p:nvSpPr>
        <p:spPr>
          <a:xfrm>
            <a:off x="4663440" y="1810512"/>
            <a:ext cx="1920240" cy="256032"/>
          </a:xfrm>
          <a:prstGeom prst="rect">
            <a:avLst/>
          </a:prstGeom>
          <a:noFill/>
          <a:ln/>
        </p:spPr>
        <p:txBody>
          <a:bodyPr wrap="square" lIns="0" tIns="0" rIns="0" bIns="0" rtlCol="0" anchor="ctr"/>
          <a:lstStyle/>
          <a:p>
            <a:pPr algn="ctr" indent="0" marL="0">
              <a:buNone/>
            </a:pPr>
            <a:r>
              <a:rPr lang="en-US" sz="1100" b="1" dirty="0">
                <a:solidFill>
                  <a:srgbClr val="10B981"/>
                </a:solidFill>
              </a:rPr>
              <a:t>HEALTHY</a:t>
            </a:r>
            <a:endParaRPr lang="en-US" sz="1100" dirty="0"/>
          </a:p>
        </p:txBody>
      </p:sp>
      <p:sp>
        <p:nvSpPr>
          <p:cNvPr id="22" name="Text 20"/>
          <p:cNvSpPr/>
          <p:nvPr/>
        </p:nvSpPr>
        <p:spPr>
          <a:xfrm>
            <a:off x="4663440" y="2103120"/>
            <a:ext cx="1920240" cy="411480"/>
          </a:xfrm>
          <a:prstGeom prst="rect">
            <a:avLst/>
          </a:prstGeom>
          <a:noFill/>
          <a:ln/>
        </p:spPr>
        <p:txBody>
          <a:bodyPr wrap="square" lIns="0" tIns="0" rIns="0" bIns="0" rtlCol="0" anchor="ctr"/>
          <a:lstStyle/>
          <a:p>
            <a:pPr algn="ctr" indent="0" marL="0">
              <a:buNone/>
            </a:pPr>
            <a:r>
              <a:rPr lang="en-US" sz="900" dirty="0">
                <a:solidFill>
                  <a:srgbClr val="94A3B8"/>
                </a:solidFill>
              </a:rPr>
              <a:t>Lat: 590ms | Loss: 0.3%</a:t>
            </a:r>
            <a:endParaRPr lang="en-US" sz="900" dirty="0"/>
          </a:p>
          <a:p>
            <a:pPr algn="ctr" indent="0" marL="0">
              <a:buNone/>
            </a:pPr>
            <a:r>
              <a:rPr lang="en-US" sz="900" dirty="0">
                <a:solidFill>
                  <a:srgbClr val="94A3B8"/>
                </a:solidFill>
              </a:rPr>
              <a:t>Jitter: 3.1ms</a:t>
            </a:r>
            <a:endParaRPr lang="en-US" sz="900" dirty="0"/>
          </a:p>
        </p:txBody>
      </p:sp>
      <p:sp>
        <p:nvSpPr>
          <p:cNvPr id="23" name="Shape 21"/>
          <p:cNvSpPr/>
          <p:nvPr/>
        </p:nvSpPr>
        <p:spPr>
          <a:xfrm>
            <a:off x="6812280" y="804672"/>
            <a:ext cx="2011680" cy="18288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4" name="Shape 22"/>
          <p:cNvSpPr/>
          <p:nvPr/>
        </p:nvSpPr>
        <p:spPr>
          <a:xfrm>
            <a:off x="6812280" y="804672"/>
            <a:ext cx="2011680" cy="54864"/>
          </a:xfrm>
          <a:prstGeom prst="rect">
            <a:avLst/>
          </a:prstGeom>
          <a:solidFill>
            <a:srgbClr val="EF4444"/>
          </a:solidFill>
          <a:ln/>
        </p:spPr>
      </p:sp>
      <p:sp>
        <p:nvSpPr>
          <p:cNvPr id="25" name="Text 23"/>
          <p:cNvSpPr/>
          <p:nvPr/>
        </p:nvSpPr>
        <p:spPr>
          <a:xfrm>
            <a:off x="6858000" y="877824"/>
            <a:ext cx="1920240" cy="292608"/>
          </a:xfrm>
          <a:prstGeom prst="rect">
            <a:avLst/>
          </a:prstGeom>
          <a:noFill/>
          <a:ln/>
        </p:spPr>
        <p:txBody>
          <a:bodyPr wrap="square" lIns="0" tIns="0" rIns="0" bIns="0" rtlCol="0" anchor="ctr"/>
          <a:lstStyle/>
          <a:p>
            <a:pPr algn="ctr" indent="0" marL="0">
              <a:buNone/>
            </a:pPr>
            <a:r>
              <a:rPr lang="en-US" sz="1100" b="1" dirty="0">
                <a:solidFill>
                  <a:srgbClr val="0D1B2A"/>
                </a:solidFill>
              </a:rPr>
              <a:t>Broadband</a:t>
            </a:r>
            <a:endParaRPr lang="en-US" sz="1100" dirty="0"/>
          </a:p>
        </p:txBody>
      </p:sp>
      <p:sp>
        <p:nvSpPr>
          <p:cNvPr id="26" name="Text 24"/>
          <p:cNvSpPr/>
          <p:nvPr/>
        </p:nvSpPr>
        <p:spPr>
          <a:xfrm>
            <a:off x="6858000" y="1207008"/>
            <a:ext cx="1920240" cy="594360"/>
          </a:xfrm>
          <a:prstGeom prst="rect">
            <a:avLst/>
          </a:prstGeom>
          <a:noFill/>
          <a:ln/>
        </p:spPr>
        <p:txBody>
          <a:bodyPr wrap="square" lIns="0" tIns="0" rIns="0" bIns="0" rtlCol="0" anchor="ctr"/>
          <a:lstStyle/>
          <a:p>
            <a:pPr algn="ctr" indent="0" marL="0">
              <a:buNone/>
            </a:pPr>
            <a:r>
              <a:rPr lang="en-US" sz="3800" b="1" dirty="0">
                <a:solidFill>
                  <a:srgbClr val="EF4444"/>
                </a:solidFill>
              </a:rPr>
              <a:t>28</a:t>
            </a:r>
            <a:endParaRPr lang="en-US" sz="3800" dirty="0"/>
          </a:p>
        </p:txBody>
      </p:sp>
      <p:sp>
        <p:nvSpPr>
          <p:cNvPr id="27" name="Text 25"/>
          <p:cNvSpPr/>
          <p:nvPr/>
        </p:nvSpPr>
        <p:spPr>
          <a:xfrm>
            <a:off x="6858000" y="1810512"/>
            <a:ext cx="1920240" cy="256032"/>
          </a:xfrm>
          <a:prstGeom prst="rect">
            <a:avLst/>
          </a:prstGeom>
          <a:noFill/>
          <a:ln/>
        </p:spPr>
        <p:txBody>
          <a:bodyPr wrap="square" lIns="0" tIns="0" rIns="0" bIns="0" rtlCol="0" anchor="ctr"/>
          <a:lstStyle/>
          <a:p>
            <a:pPr algn="ctr" indent="0" marL="0">
              <a:buNone/>
            </a:pPr>
            <a:r>
              <a:rPr lang="en-US" sz="1100" b="1" dirty="0">
                <a:solidFill>
                  <a:srgbClr val="EF4444"/>
                </a:solidFill>
              </a:rPr>
              <a:t>CRITICAL</a:t>
            </a:r>
            <a:endParaRPr lang="en-US" sz="1100" dirty="0"/>
          </a:p>
        </p:txBody>
      </p:sp>
      <p:sp>
        <p:nvSpPr>
          <p:cNvPr id="28" name="Text 26"/>
          <p:cNvSpPr/>
          <p:nvPr/>
        </p:nvSpPr>
        <p:spPr>
          <a:xfrm>
            <a:off x="6858000" y="2103120"/>
            <a:ext cx="1920240" cy="411480"/>
          </a:xfrm>
          <a:prstGeom prst="rect">
            <a:avLst/>
          </a:prstGeom>
          <a:noFill/>
          <a:ln/>
        </p:spPr>
        <p:txBody>
          <a:bodyPr wrap="square" lIns="0" tIns="0" rIns="0" bIns="0" rtlCol="0" anchor="ctr"/>
          <a:lstStyle/>
          <a:p>
            <a:pPr algn="ctr" indent="0" marL="0">
              <a:buNone/>
            </a:pPr>
            <a:r>
              <a:rPr lang="en-US" sz="900" dirty="0">
                <a:solidFill>
                  <a:srgbClr val="94A3B8"/>
                </a:solidFill>
              </a:rPr>
              <a:t>Lat: 210ms | Loss: 9.2%</a:t>
            </a:r>
            <a:endParaRPr lang="en-US" sz="900" dirty="0"/>
          </a:p>
          <a:p>
            <a:pPr algn="ctr" indent="0" marL="0">
              <a:buNone/>
            </a:pPr>
            <a:r>
              <a:rPr lang="en-US" sz="900" dirty="0">
                <a:solidFill>
                  <a:srgbClr val="94A3B8"/>
                </a:solidFill>
              </a:rPr>
              <a:t>Jitter: 41ms</a:t>
            </a:r>
            <a:endParaRPr lang="en-US" sz="900" dirty="0"/>
          </a:p>
        </p:txBody>
      </p:sp>
      <p:sp>
        <p:nvSpPr>
          <p:cNvPr id="29" name="Shape 27"/>
          <p:cNvSpPr/>
          <p:nvPr/>
        </p:nvSpPr>
        <p:spPr>
          <a:xfrm>
            <a:off x="228600" y="2788920"/>
            <a:ext cx="8686800" cy="438912"/>
          </a:xfrm>
          <a:prstGeom prst="rect">
            <a:avLst/>
          </a:prstGeom>
          <a:solidFill>
            <a:srgbClr val="F59E0B">
              <a:alpha val="80000"/>
            </a:srgbClr>
          </a:solidFill>
          <a:ln/>
        </p:spPr>
      </p:sp>
      <p:sp>
        <p:nvSpPr>
          <p:cNvPr id="30" name="Text 28"/>
          <p:cNvSpPr/>
          <p:nvPr/>
        </p:nvSpPr>
        <p:spPr>
          <a:xfrm>
            <a:off x="365760" y="2798064"/>
            <a:ext cx="8321040" cy="402336"/>
          </a:xfrm>
          <a:prstGeom prst="rect">
            <a:avLst/>
          </a:prstGeom>
          <a:noFill/>
          <a:ln/>
        </p:spPr>
        <p:txBody>
          <a:bodyPr wrap="square" lIns="0" tIns="0" rIns="0" bIns="0" rtlCol="0" anchor="ctr"/>
          <a:lstStyle/>
          <a:p>
            <a:pPr indent="0" marL="0">
              <a:buNone/>
            </a:pPr>
            <a:r>
              <a:rPr lang="en-US" sz="1050" dirty="0">
                <a:solidFill>
                  <a:srgbClr val="0D1B2A"/>
                </a:solidFill>
              </a:rPr>
              <a:t>⚠  PREDICTIVE ALERT: 5G Link predicted to fall below threshold in 38 seconds | LSTM Confidence: 91% | Auto-reroute pending sandbox validation</a:t>
            </a:r>
            <a:endParaRPr lang="en-US" sz="1050" dirty="0"/>
          </a:p>
        </p:txBody>
      </p:sp>
      <p:sp>
        <p:nvSpPr>
          <p:cNvPr id="31" name="Shape 29"/>
          <p:cNvSpPr/>
          <p:nvPr/>
        </p:nvSpPr>
        <p:spPr>
          <a:xfrm>
            <a:off x="228600" y="3364992"/>
            <a:ext cx="2011680" cy="1508760"/>
          </a:xfrm>
          <a:prstGeom prst="rect">
            <a:avLst/>
          </a:prstGeom>
          <a:solidFill>
            <a:srgbClr val="0D1B2A"/>
          </a:solidFill>
          <a:ln/>
          <a:effectLst>
            <a:outerShdw sx="100000" sy="100000" kx="0" ky="0" algn="bl" rotWithShape="0" blurRad="101600" dist="38100" dir="8100000">
              <a:srgbClr val="000000">
                <a:alpha val="18000"/>
              </a:srgbClr>
            </a:outerShdw>
          </a:effectLst>
        </p:spPr>
      </p:sp>
      <p:pic>
        <p:nvPicPr>
          <p:cNvPr id="32" name="Image 0" descr="preencoded.png">    </p:cNvPr>
          <p:cNvPicPr>
            <a:picLocks noChangeAspect="1"/>
          </p:cNvPicPr>
          <p:nvPr/>
        </p:nvPicPr>
        <p:blipFill>
          <a:blip r:embed="rId1"/>
          <a:stretch>
            <a:fillRect/>
          </a:stretch>
        </p:blipFill>
        <p:spPr>
          <a:xfrm>
            <a:off x="978408" y="3456432"/>
            <a:ext cx="502920" cy="502920"/>
          </a:xfrm>
          <a:prstGeom prst="rect">
            <a:avLst/>
          </a:prstGeom>
        </p:spPr>
      </p:pic>
      <p:sp>
        <p:nvSpPr>
          <p:cNvPr id="33" name="Text 30"/>
          <p:cNvSpPr/>
          <p:nvPr/>
        </p:nvSpPr>
        <p:spPr>
          <a:xfrm>
            <a:off x="274320" y="4005072"/>
            <a:ext cx="1920240" cy="274320"/>
          </a:xfrm>
          <a:prstGeom prst="rect">
            <a:avLst/>
          </a:prstGeom>
          <a:noFill/>
          <a:ln/>
        </p:spPr>
        <p:txBody>
          <a:bodyPr wrap="square" lIns="0" tIns="0" rIns="0" bIns="0" rtlCol="0" anchor="ctr"/>
          <a:lstStyle/>
          <a:p>
            <a:pPr algn="ctr" indent="0" marL="0">
              <a:buNone/>
            </a:pPr>
            <a:r>
              <a:rPr lang="en-US" sz="1200" b="1" dirty="0">
                <a:solidFill>
                  <a:srgbClr val="02C39A"/>
                </a:solidFill>
              </a:rPr>
              <a:t>Real-Time</a:t>
            </a:r>
            <a:endParaRPr lang="en-US" sz="1200" dirty="0"/>
          </a:p>
        </p:txBody>
      </p:sp>
      <p:sp>
        <p:nvSpPr>
          <p:cNvPr id="34" name="Text 31"/>
          <p:cNvSpPr/>
          <p:nvPr/>
        </p:nvSpPr>
        <p:spPr>
          <a:xfrm>
            <a:off x="274320" y="4315968"/>
            <a:ext cx="1920240" cy="502920"/>
          </a:xfrm>
          <a:prstGeom prst="rect">
            <a:avLst/>
          </a:prstGeom>
          <a:noFill/>
          <a:ln/>
        </p:spPr>
        <p:txBody>
          <a:bodyPr wrap="square" lIns="0" tIns="0" rIns="0" bIns="0" rtlCol="0" anchor="ctr"/>
          <a:lstStyle/>
          <a:p>
            <a:pPr algn="ctr" indent="0" marL="0">
              <a:buNone/>
            </a:pPr>
            <a:r>
              <a:rPr lang="en-US" sz="950" dirty="0">
                <a:solidFill>
                  <a:srgbClr val="E2E8F0"/>
                </a:solidFill>
              </a:rPr>
              <a:t>1-second refresh with server-sent events to React dashboard</a:t>
            </a:r>
            <a:endParaRPr lang="en-US" sz="950" dirty="0"/>
          </a:p>
        </p:txBody>
      </p:sp>
      <p:sp>
        <p:nvSpPr>
          <p:cNvPr id="35" name="Shape 32"/>
          <p:cNvSpPr/>
          <p:nvPr/>
        </p:nvSpPr>
        <p:spPr>
          <a:xfrm>
            <a:off x="2404872" y="3364992"/>
            <a:ext cx="2011680" cy="1508760"/>
          </a:xfrm>
          <a:prstGeom prst="rect">
            <a:avLst/>
          </a:prstGeom>
          <a:solidFill>
            <a:srgbClr val="0D1B2A"/>
          </a:solidFill>
          <a:ln/>
          <a:effectLst>
            <a:outerShdw sx="100000" sy="100000" kx="0" ky="0" algn="bl" rotWithShape="0" blurRad="101600" dist="38100" dir="8100000">
              <a:srgbClr val="000000">
                <a:alpha val="18000"/>
              </a:srgbClr>
            </a:outerShdw>
          </a:effectLst>
        </p:spPr>
      </p:sp>
      <p:pic>
        <p:nvPicPr>
          <p:cNvPr id="36" name="Image 1" descr="preencoded.png">    </p:cNvPr>
          <p:cNvPicPr>
            <a:picLocks noChangeAspect="1"/>
          </p:cNvPicPr>
          <p:nvPr/>
        </p:nvPicPr>
        <p:blipFill>
          <a:blip r:embed="rId2"/>
          <a:stretch>
            <a:fillRect/>
          </a:stretch>
        </p:blipFill>
        <p:spPr>
          <a:xfrm>
            <a:off x="3154680" y="3456432"/>
            <a:ext cx="502920" cy="502920"/>
          </a:xfrm>
          <a:prstGeom prst="rect">
            <a:avLst/>
          </a:prstGeom>
        </p:spPr>
      </p:pic>
      <p:sp>
        <p:nvSpPr>
          <p:cNvPr id="37" name="Text 33"/>
          <p:cNvSpPr/>
          <p:nvPr/>
        </p:nvSpPr>
        <p:spPr>
          <a:xfrm>
            <a:off x="2450592" y="4005072"/>
            <a:ext cx="1920240" cy="274320"/>
          </a:xfrm>
          <a:prstGeom prst="rect">
            <a:avLst/>
          </a:prstGeom>
          <a:noFill/>
          <a:ln/>
        </p:spPr>
        <p:txBody>
          <a:bodyPr wrap="square" lIns="0" tIns="0" rIns="0" bIns="0" rtlCol="0" anchor="ctr"/>
          <a:lstStyle/>
          <a:p>
            <a:pPr algn="ctr" indent="0" marL="0">
              <a:buNone/>
            </a:pPr>
            <a:r>
              <a:rPr lang="en-US" sz="1200" b="1" dirty="0">
                <a:solidFill>
                  <a:srgbClr val="02C39A"/>
                </a:solidFill>
              </a:rPr>
              <a:t>Transparency</a:t>
            </a:r>
            <a:endParaRPr lang="en-US" sz="1200" dirty="0"/>
          </a:p>
        </p:txBody>
      </p:sp>
      <p:sp>
        <p:nvSpPr>
          <p:cNvPr id="38" name="Text 34"/>
          <p:cNvSpPr/>
          <p:nvPr/>
        </p:nvSpPr>
        <p:spPr>
          <a:xfrm>
            <a:off x="2450592" y="4315968"/>
            <a:ext cx="1920240" cy="502920"/>
          </a:xfrm>
          <a:prstGeom prst="rect">
            <a:avLst/>
          </a:prstGeom>
          <a:noFill/>
          <a:ln/>
        </p:spPr>
        <p:txBody>
          <a:bodyPr wrap="square" lIns="0" tIns="0" rIns="0" bIns="0" rtlCol="0" anchor="ctr"/>
          <a:lstStyle/>
          <a:p>
            <a:pPr algn="ctr" indent="0" marL="0">
              <a:buNone/>
            </a:pPr>
            <a:r>
              <a:rPr lang="en-US" sz="950" dirty="0">
                <a:solidFill>
                  <a:srgbClr val="E2E8F0"/>
                </a:solidFill>
              </a:rPr>
              <a:t>Every AI decision explained in plain language on demand</a:t>
            </a:r>
            <a:endParaRPr lang="en-US" sz="950" dirty="0"/>
          </a:p>
        </p:txBody>
      </p:sp>
      <p:sp>
        <p:nvSpPr>
          <p:cNvPr id="39" name="Shape 35"/>
          <p:cNvSpPr/>
          <p:nvPr/>
        </p:nvSpPr>
        <p:spPr>
          <a:xfrm>
            <a:off x="4581144" y="3364992"/>
            <a:ext cx="2011680" cy="1508760"/>
          </a:xfrm>
          <a:prstGeom prst="rect">
            <a:avLst/>
          </a:prstGeom>
          <a:solidFill>
            <a:srgbClr val="0D1B2A"/>
          </a:solidFill>
          <a:ln/>
          <a:effectLst>
            <a:outerShdw sx="100000" sy="100000" kx="0" ky="0" algn="bl" rotWithShape="0" blurRad="101600" dist="38100" dir="8100000">
              <a:srgbClr val="000000">
                <a:alpha val="18000"/>
              </a:srgbClr>
            </a:outerShdw>
          </a:effectLst>
        </p:spPr>
      </p:sp>
      <p:pic>
        <p:nvPicPr>
          <p:cNvPr id="40" name="Image 2" descr="preencoded.png">    </p:cNvPr>
          <p:cNvPicPr>
            <a:picLocks noChangeAspect="1"/>
          </p:cNvPicPr>
          <p:nvPr/>
        </p:nvPicPr>
        <p:blipFill>
          <a:blip r:embed="rId3"/>
          <a:stretch>
            <a:fillRect/>
          </a:stretch>
        </p:blipFill>
        <p:spPr>
          <a:xfrm>
            <a:off x="5330952" y="3456432"/>
            <a:ext cx="502920" cy="502920"/>
          </a:xfrm>
          <a:prstGeom prst="rect">
            <a:avLst/>
          </a:prstGeom>
        </p:spPr>
      </p:pic>
      <p:sp>
        <p:nvSpPr>
          <p:cNvPr id="41" name="Text 36"/>
          <p:cNvSpPr/>
          <p:nvPr/>
        </p:nvSpPr>
        <p:spPr>
          <a:xfrm>
            <a:off x="4626864" y="4005072"/>
            <a:ext cx="1920240" cy="274320"/>
          </a:xfrm>
          <a:prstGeom prst="rect">
            <a:avLst/>
          </a:prstGeom>
          <a:noFill/>
          <a:ln/>
        </p:spPr>
        <p:txBody>
          <a:bodyPr wrap="square" lIns="0" tIns="0" rIns="0" bIns="0" rtlCol="0" anchor="ctr"/>
          <a:lstStyle/>
          <a:p>
            <a:pPr algn="ctr" indent="0" marL="0">
              <a:buNone/>
            </a:pPr>
            <a:r>
              <a:rPr lang="en-US" sz="1200" b="1" dirty="0">
                <a:solidFill>
                  <a:srgbClr val="02C39A"/>
                </a:solidFill>
              </a:rPr>
              <a:t>Multi-Site</a:t>
            </a:r>
            <a:endParaRPr lang="en-US" sz="1200" dirty="0"/>
          </a:p>
        </p:txBody>
      </p:sp>
      <p:sp>
        <p:nvSpPr>
          <p:cNvPr id="42" name="Text 37"/>
          <p:cNvSpPr/>
          <p:nvPr/>
        </p:nvSpPr>
        <p:spPr>
          <a:xfrm>
            <a:off x="4626864" y="4315968"/>
            <a:ext cx="1920240" cy="502920"/>
          </a:xfrm>
          <a:prstGeom prst="rect">
            <a:avLst/>
          </a:prstGeom>
          <a:noFill/>
          <a:ln/>
        </p:spPr>
        <p:txBody>
          <a:bodyPr wrap="square" lIns="0" tIns="0" rIns="0" bIns="0" rtlCol="0" anchor="ctr"/>
          <a:lstStyle/>
          <a:p>
            <a:pPr algn="ctr" indent="0" marL="0">
              <a:buNone/>
            </a:pPr>
            <a:r>
              <a:rPr lang="en-US" sz="950" dirty="0">
                <a:solidFill>
                  <a:srgbClr val="E2E8F0"/>
                </a:solidFill>
              </a:rPr>
              <a:t>Unified view of all 100+ managed sites from single pane</a:t>
            </a:r>
            <a:endParaRPr lang="en-US" sz="950" dirty="0"/>
          </a:p>
        </p:txBody>
      </p:sp>
      <p:sp>
        <p:nvSpPr>
          <p:cNvPr id="43" name="Shape 38"/>
          <p:cNvSpPr/>
          <p:nvPr/>
        </p:nvSpPr>
        <p:spPr>
          <a:xfrm>
            <a:off x="6757416" y="3364992"/>
            <a:ext cx="2011680" cy="1508760"/>
          </a:xfrm>
          <a:prstGeom prst="rect">
            <a:avLst/>
          </a:prstGeom>
          <a:solidFill>
            <a:srgbClr val="0D1B2A"/>
          </a:solidFill>
          <a:ln/>
          <a:effectLst>
            <a:outerShdw sx="100000" sy="100000" kx="0" ky="0" algn="bl" rotWithShape="0" blurRad="101600" dist="38100" dir="8100000">
              <a:srgbClr val="000000">
                <a:alpha val="18000"/>
              </a:srgbClr>
            </a:outerShdw>
          </a:effectLst>
        </p:spPr>
      </p:sp>
      <p:pic>
        <p:nvPicPr>
          <p:cNvPr id="44" name="Image 3" descr="preencoded.png">    </p:cNvPr>
          <p:cNvPicPr>
            <a:picLocks noChangeAspect="1"/>
          </p:cNvPicPr>
          <p:nvPr/>
        </p:nvPicPr>
        <p:blipFill>
          <a:blip r:embed="rId4"/>
          <a:stretch>
            <a:fillRect/>
          </a:stretch>
        </p:blipFill>
        <p:spPr>
          <a:xfrm>
            <a:off x="7507224" y="3456432"/>
            <a:ext cx="502920" cy="502920"/>
          </a:xfrm>
          <a:prstGeom prst="rect">
            <a:avLst/>
          </a:prstGeom>
        </p:spPr>
      </p:pic>
      <p:sp>
        <p:nvSpPr>
          <p:cNvPr id="45" name="Text 39"/>
          <p:cNvSpPr/>
          <p:nvPr/>
        </p:nvSpPr>
        <p:spPr>
          <a:xfrm>
            <a:off x="6803136" y="4005072"/>
            <a:ext cx="1920240" cy="274320"/>
          </a:xfrm>
          <a:prstGeom prst="rect">
            <a:avLst/>
          </a:prstGeom>
          <a:noFill/>
          <a:ln/>
        </p:spPr>
        <p:txBody>
          <a:bodyPr wrap="square" lIns="0" tIns="0" rIns="0" bIns="0" rtlCol="0" anchor="ctr"/>
          <a:lstStyle/>
          <a:p>
            <a:pPr algn="ctr" indent="0" marL="0">
              <a:buNone/>
            </a:pPr>
            <a:r>
              <a:rPr lang="en-US" sz="1200" b="1" dirty="0">
                <a:solidFill>
                  <a:srgbClr val="02C39A"/>
                </a:solidFill>
              </a:rPr>
              <a:t>Export</a:t>
            </a:r>
            <a:endParaRPr lang="en-US" sz="1200" dirty="0"/>
          </a:p>
        </p:txBody>
      </p:sp>
      <p:sp>
        <p:nvSpPr>
          <p:cNvPr id="46" name="Text 40"/>
          <p:cNvSpPr/>
          <p:nvPr/>
        </p:nvSpPr>
        <p:spPr>
          <a:xfrm>
            <a:off x="6803136" y="4315968"/>
            <a:ext cx="1920240" cy="502920"/>
          </a:xfrm>
          <a:prstGeom prst="rect">
            <a:avLst/>
          </a:prstGeom>
          <a:noFill/>
          <a:ln/>
        </p:spPr>
        <p:txBody>
          <a:bodyPr wrap="square" lIns="0" tIns="0" rIns="0" bIns="0" rtlCol="0" anchor="ctr"/>
          <a:lstStyle/>
          <a:p>
            <a:pPr algn="ctr" indent="0" marL="0">
              <a:buNone/>
            </a:pPr>
            <a:r>
              <a:rPr lang="en-US" sz="950" dirty="0">
                <a:solidFill>
                  <a:srgbClr val="E2E8F0"/>
                </a:solidFill>
              </a:rPr>
              <a:t>PDF/CSV performance reports for compliance &amp; audit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200" b="1" dirty="0">
                <a:solidFill>
                  <a:srgbClr val="FFFFFF"/>
                </a:solidFill>
              </a:rPr>
              <a:t>Technology Stack</a:t>
            </a:r>
            <a:endParaRPr lang="en-US" sz="2200" dirty="0"/>
          </a:p>
        </p:txBody>
      </p:sp>
      <p:sp>
        <p:nvSpPr>
          <p:cNvPr id="4" name="Shape 2"/>
          <p:cNvSpPr/>
          <p:nvPr/>
        </p:nvSpPr>
        <p:spPr>
          <a:xfrm>
            <a:off x="228600" y="841248"/>
            <a:ext cx="2724912" cy="187452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5" name="Shape 3"/>
          <p:cNvSpPr/>
          <p:nvPr/>
        </p:nvSpPr>
        <p:spPr>
          <a:xfrm>
            <a:off x="228600" y="841248"/>
            <a:ext cx="2724912" cy="54864"/>
          </a:xfrm>
          <a:prstGeom prst="rect">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325880" y="932688"/>
            <a:ext cx="502920" cy="502920"/>
          </a:xfrm>
          <a:prstGeom prst="rect">
            <a:avLst/>
          </a:prstGeom>
        </p:spPr>
      </p:pic>
      <p:sp>
        <p:nvSpPr>
          <p:cNvPr id="7" name="Text 4"/>
          <p:cNvSpPr/>
          <p:nvPr/>
        </p:nvSpPr>
        <p:spPr>
          <a:xfrm>
            <a:off x="274320" y="1499616"/>
            <a:ext cx="2633472" cy="292608"/>
          </a:xfrm>
          <a:prstGeom prst="rect">
            <a:avLst/>
          </a:prstGeom>
          <a:noFill/>
          <a:ln/>
        </p:spPr>
        <p:txBody>
          <a:bodyPr wrap="square" lIns="0" tIns="0" rIns="0" bIns="0" rtlCol="0" anchor="ctr"/>
          <a:lstStyle/>
          <a:p>
            <a:pPr algn="ctr" indent="0" marL="0">
              <a:buNone/>
            </a:pPr>
            <a:r>
              <a:rPr lang="en-US" sz="1300" b="1" dirty="0">
                <a:solidFill>
                  <a:srgbClr val="0D1B2A"/>
                </a:solidFill>
              </a:rPr>
              <a:t>AI / ML</a:t>
            </a:r>
            <a:endParaRPr lang="en-US" sz="1300" dirty="0"/>
          </a:p>
        </p:txBody>
      </p:sp>
      <p:sp>
        <p:nvSpPr>
          <p:cNvPr id="8" name="Text 5"/>
          <p:cNvSpPr/>
          <p:nvPr/>
        </p:nvSpPr>
        <p:spPr>
          <a:xfrm>
            <a:off x="338328" y="184708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PyTorch (LSTM + Attention)</a:t>
            </a:r>
            <a:endParaRPr lang="en-US" sz="1000" dirty="0"/>
          </a:p>
        </p:txBody>
      </p:sp>
      <p:sp>
        <p:nvSpPr>
          <p:cNvPr id="9" name="Text 6"/>
          <p:cNvSpPr/>
          <p:nvPr/>
        </p:nvSpPr>
        <p:spPr>
          <a:xfrm>
            <a:off x="338328" y="212140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TimescaleDB (time-series)</a:t>
            </a:r>
            <a:endParaRPr lang="en-US" sz="1000" dirty="0"/>
          </a:p>
        </p:txBody>
      </p:sp>
      <p:sp>
        <p:nvSpPr>
          <p:cNvPr id="10" name="Text 7"/>
          <p:cNvSpPr/>
          <p:nvPr/>
        </p:nvSpPr>
        <p:spPr>
          <a:xfrm>
            <a:off x="338328" y="239572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Scikit-learn (validation)</a:t>
            </a:r>
            <a:endParaRPr lang="en-US" sz="1000" dirty="0"/>
          </a:p>
        </p:txBody>
      </p:sp>
      <p:sp>
        <p:nvSpPr>
          <p:cNvPr id="11" name="Shape 8"/>
          <p:cNvSpPr/>
          <p:nvPr/>
        </p:nvSpPr>
        <p:spPr>
          <a:xfrm>
            <a:off x="3154680" y="841248"/>
            <a:ext cx="2724912" cy="187452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2" name="Shape 9"/>
          <p:cNvSpPr/>
          <p:nvPr/>
        </p:nvSpPr>
        <p:spPr>
          <a:xfrm>
            <a:off x="3154680" y="841248"/>
            <a:ext cx="2724912" cy="54864"/>
          </a:xfrm>
          <a:prstGeom prst="rect">
            <a:avLst/>
          </a:prstGeom>
          <a:solidFill>
            <a:srgbClr val="028090"/>
          </a:solidFill>
          <a:ln/>
        </p:spPr>
      </p:sp>
      <p:pic>
        <p:nvPicPr>
          <p:cNvPr id="13" name="Image 1" descr="preencoded.png">    </p:cNvPr>
          <p:cNvPicPr>
            <a:picLocks noChangeAspect="1"/>
          </p:cNvPicPr>
          <p:nvPr/>
        </p:nvPicPr>
        <p:blipFill>
          <a:blip r:embed="rId2"/>
          <a:stretch>
            <a:fillRect/>
          </a:stretch>
        </p:blipFill>
        <p:spPr>
          <a:xfrm>
            <a:off x="4251960" y="932688"/>
            <a:ext cx="502920" cy="502920"/>
          </a:xfrm>
          <a:prstGeom prst="rect">
            <a:avLst/>
          </a:prstGeom>
        </p:spPr>
      </p:pic>
      <p:sp>
        <p:nvSpPr>
          <p:cNvPr id="14" name="Text 10"/>
          <p:cNvSpPr/>
          <p:nvPr/>
        </p:nvSpPr>
        <p:spPr>
          <a:xfrm>
            <a:off x="3200400" y="1499616"/>
            <a:ext cx="2633472" cy="292608"/>
          </a:xfrm>
          <a:prstGeom prst="rect">
            <a:avLst/>
          </a:prstGeom>
          <a:noFill/>
          <a:ln/>
        </p:spPr>
        <p:txBody>
          <a:bodyPr wrap="square" lIns="0" tIns="0" rIns="0" bIns="0" rtlCol="0" anchor="ctr"/>
          <a:lstStyle/>
          <a:p>
            <a:pPr algn="ctr" indent="0" marL="0">
              <a:buNone/>
            </a:pPr>
            <a:r>
              <a:rPr lang="en-US" sz="1300" b="1" dirty="0">
                <a:solidFill>
                  <a:srgbClr val="0D1B2A"/>
                </a:solidFill>
              </a:rPr>
              <a:t>Backend</a:t>
            </a:r>
            <a:endParaRPr lang="en-US" sz="1300" dirty="0"/>
          </a:p>
        </p:txBody>
      </p:sp>
      <p:sp>
        <p:nvSpPr>
          <p:cNvPr id="15" name="Text 11"/>
          <p:cNvSpPr/>
          <p:nvPr/>
        </p:nvSpPr>
        <p:spPr>
          <a:xfrm>
            <a:off x="3264408" y="184708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FastAPI (Python async)</a:t>
            </a:r>
            <a:endParaRPr lang="en-US" sz="1000" dirty="0"/>
          </a:p>
        </p:txBody>
      </p:sp>
      <p:sp>
        <p:nvSpPr>
          <p:cNvPr id="16" name="Text 12"/>
          <p:cNvSpPr/>
          <p:nvPr/>
        </p:nvSpPr>
        <p:spPr>
          <a:xfrm>
            <a:off x="3264408" y="212140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Redis pub/sub messaging</a:t>
            </a:r>
            <a:endParaRPr lang="en-US" sz="1000" dirty="0"/>
          </a:p>
        </p:txBody>
      </p:sp>
      <p:sp>
        <p:nvSpPr>
          <p:cNvPr id="17" name="Text 13"/>
          <p:cNvSpPr/>
          <p:nvPr/>
        </p:nvSpPr>
        <p:spPr>
          <a:xfrm>
            <a:off x="3264408" y="239572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PostgreSQL / TimescaleDB</a:t>
            </a:r>
            <a:endParaRPr lang="en-US" sz="1000" dirty="0"/>
          </a:p>
        </p:txBody>
      </p:sp>
      <p:sp>
        <p:nvSpPr>
          <p:cNvPr id="18" name="Shape 14"/>
          <p:cNvSpPr/>
          <p:nvPr/>
        </p:nvSpPr>
        <p:spPr>
          <a:xfrm>
            <a:off x="6080760" y="841248"/>
            <a:ext cx="2724912" cy="187452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5"/>
          <p:cNvSpPr/>
          <p:nvPr/>
        </p:nvSpPr>
        <p:spPr>
          <a:xfrm>
            <a:off x="6080760" y="841248"/>
            <a:ext cx="2724912" cy="54864"/>
          </a:xfrm>
          <a:prstGeom prst="rect">
            <a:avLst/>
          </a:prstGeom>
          <a:solidFill>
            <a:srgbClr val="028090"/>
          </a:solidFill>
          <a:ln/>
        </p:spPr>
      </p:sp>
      <p:pic>
        <p:nvPicPr>
          <p:cNvPr id="20" name="Image 2" descr="preencoded.png">    </p:cNvPr>
          <p:cNvPicPr>
            <a:picLocks noChangeAspect="1"/>
          </p:cNvPicPr>
          <p:nvPr/>
        </p:nvPicPr>
        <p:blipFill>
          <a:blip r:embed="rId3"/>
          <a:stretch>
            <a:fillRect/>
          </a:stretch>
        </p:blipFill>
        <p:spPr>
          <a:xfrm>
            <a:off x="7178040" y="932688"/>
            <a:ext cx="502920" cy="502920"/>
          </a:xfrm>
          <a:prstGeom prst="rect">
            <a:avLst/>
          </a:prstGeom>
        </p:spPr>
      </p:pic>
      <p:sp>
        <p:nvSpPr>
          <p:cNvPr id="21" name="Text 16"/>
          <p:cNvSpPr/>
          <p:nvPr/>
        </p:nvSpPr>
        <p:spPr>
          <a:xfrm>
            <a:off x="6126480" y="1499616"/>
            <a:ext cx="2633472" cy="292608"/>
          </a:xfrm>
          <a:prstGeom prst="rect">
            <a:avLst/>
          </a:prstGeom>
          <a:noFill/>
          <a:ln/>
        </p:spPr>
        <p:txBody>
          <a:bodyPr wrap="square" lIns="0" tIns="0" rIns="0" bIns="0" rtlCol="0" anchor="ctr"/>
          <a:lstStyle/>
          <a:p>
            <a:pPr algn="ctr" indent="0" marL="0">
              <a:buNone/>
            </a:pPr>
            <a:r>
              <a:rPr lang="en-US" sz="1300" b="1" dirty="0">
                <a:solidFill>
                  <a:srgbClr val="0D1B2A"/>
                </a:solidFill>
              </a:rPr>
              <a:t>SDN &amp; Network</a:t>
            </a:r>
            <a:endParaRPr lang="en-US" sz="1300" dirty="0"/>
          </a:p>
        </p:txBody>
      </p:sp>
      <p:sp>
        <p:nvSpPr>
          <p:cNvPr id="22" name="Text 17"/>
          <p:cNvSpPr/>
          <p:nvPr/>
        </p:nvSpPr>
        <p:spPr>
          <a:xfrm>
            <a:off x="6190488" y="184708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OpenDaylight / ONOS</a:t>
            </a:r>
            <a:endParaRPr lang="en-US" sz="1000" dirty="0"/>
          </a:p>
        </p:txBody>
      </p:sp>
      <p:sp>
        <p:nvSpPr>
          <p:cNvPr id="23" name="Text 18"/>
          <p:cNvSpPr/>
          <p:nvPr/>
        </p:nvSpPr>
        <p:spPr>
          <a:xfrm>
            <a:off x="6190488" y="212140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OpenFlow 1.3+</a:t>
            </a:r>
            <a:endParaRPr lang="en-US" sz="1000" dirty="0"/>
          </a:p>
        </p:txBody>
      </p:sp>
      <p:sp>
        <p:nvSpPr>
          <p:cNvPr id="24" name="Text 19"/>
          <p:cNvSpPr/>
          <p:nvPr/>
        </p:nvSpPr>
        <p:spPr>
          <a:xfrm>
            <a:off x="6190488" y="239572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NETCONF / YANG / SNMP</a:t>
            </a:r>
            <a:endParaRPr lang="en-US" sz="1000" dirty="0"/>
          </a:p>
        </p:txBody>
      </p:sp>
      <p:sp>
        <p:nvSpPr>
          <p:cNvPr id="25" name="Shape 20"/>
          <p:cNvSpPr/>
          <p:nvPr/>
        </p:nvSpPr>
        <p:spPr>
          <a:xfrm>
            <a:off x="228600" y="2852928"/>
            <a:ext cx="2724912" cy="187452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6" name="Shape 21"/>
          <p:cNvSpPr/>
          <p:nvPr/>
        </p:nvSpPr>
        <p:spPr>
          <a:xfrm>
            <a:off x="228600" y="2852928"/>
            <a:ext cx="2724912" cy="54864"/>
          </a:xfrm>
          <a:prstGeom prst="rect">
            <a:avLst/>
          </a:prstGeom>
          <a:solidFill>
            <a:srgbClr val="028090"/>
          </a:solidFill>
          <a:ln/>
        </p:spPr>
      </p:sp>
      <p:pic>
        <p:nvPicPr>
          <p:cNvPr id="27" name="Image 3" descr="preencoded.png">    </p:cNvPr>
          <p:cNvPicPr>
            <a:picLocks noChangeAspect="1"/>
          </p:cNvPicPr>
          <p:nvPr/>
        </p:nvPicPr>
        <p:blipFill>
          <a:blip r:embed="rId4"/>
          <a:stretch>
            <a:fillRect/>
          </a:stretch>
        </p:blipFill>
        <p:spPr>
          <a:xfrm>
            <a:off x="1325880" y="2944368"/>
            <a:ext cx="502920" cy="502920"/>
          </a:xfrm>
          <a:prstGeom prst="rect">
            <a:avLst/>
          </a:prstGeom>
        </p:spPr>
      </p:pic>
      <p:sp>
        <p:nvSpPr>
          <p:cNvPr id="28" name="Text 22"/>
          <p:cNvSpPr/>
          <p:nvPr/>
        </p:nvSpPr>
        <p:spPr>
          <a:xfrm>
            <a:off x="274320" y="3511296"/>
            <a:ext cx="2633472" cy="292608"/>
          </a:xfrm>
          <a:prstGeom prst="rect">
            <a:avLst/>
          </a:prstGeom>
          <a:noFill/>
          <a:ln/>
        </p:spPr>
        <p:txBody>
          <a:bodyPr wrap="square" lIns="0" tIns="0" rIns="0" bIns="0" rtlCol="0" anchor="ctr"/>
          <a:lstStyle/>
          <a:p>
            <a:pPr algn="ctr" indent="0" marL="0">
              <a:buNone/>
            </a:pPr>
            <a:r>
              <a:rPr lang="en-US" sz="1300" b="1" dirty="0">
                <a:solidFill>
                  <a:srgbClr val="0D1B2A"/>
                </a:solidFill>
              </a:rPr>
              <a:t>Digital Twin</a:t>
            </a:r>
            <a:endParaRPr lang="en-US" sz="1300" dirty="0"/>
          </a:p>
        </p:txBody>
      </p:sp>
      <p:sp>
        <p:nvSpPr>
          <p:cNvPr id="29" name="Text 23"/>
          <p:cNvSpPr/>
          <p:nvPr/>
        </p:nvSpPr>
        <p:spPr>
          <a:xfrm>
            <a:off x="338328" y="385876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Mininet (WSL2)</a:t>
            </a:r>
            <a:endParaRPr lang="en-US" sz="1000" dirty="0"/>
          </a:p>
        </p:txBody>
      </p:sp>
      <p:sp>
        <p:nvSpPr>
          <p:cNvPr id="30" name="Text 24"/>
          <p:cNvSpPr/>
          <p:nvPr/>
        </p:nvSpPr>
        <p:spPr>
          <a:xfrm>
            <a:off x="338328" y="413308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Batfish policy analysis</a:t>
            </a:r>
            <a:endParaRPr lang="en-US" sz="1000" dirty="0"/>
          </a:p>
        </p:txBody>
      </p:sp>
      <p:sp>
        <p:nvSpPr>
          <p:cNvPr id="31" name="Text 25"/>
          <p:cNvSpPr/>
          <p:nvPr/>
        </p:nvSpPr>
        <p:spPr>
          <a:xfrm>
            <a:off x="338328" y="440740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Docker containerization</a:t>
            </a:r>
            <a:endParaRPr lang="en-US" sz="1000" dirty="0"/>
          </a:p>
        </p:txBody>
      </p:sp>
      <p:sp>
        <p:nvSpPr>
          <p:cNvPr id="32" name="Shape 26"/>
          <p:cNvSpPr/>
          <p:nvPr/>
        </p:nvSpPr>
        <p:spPr>
          <a:xfrm>
            <a:off x="3154680" y="2852928"/>
            <a:ext cx="2724912" cy="187452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27"/>
          <p:cNvSpPr/>
          <p:nvPr/>
        </p:nvSpPr>
        <p:spPr>
          <a:xfrm>
            <a:off x="3154680" y="2852928"/>
            <a:ext cx="2724912" cy="54864"/>
          </a:xfrm>
          <a:prstGeom prst="rect">
            <a:avLst/>
          </a:prstGeom>
          <a:solidFill>
            <a:srgbClr val="028090"/>
          </a:solidFill>
          <a:ln/>
        </p:spPr>
      </p:sp>
      <p:pic>
        <p:nvPicPr>
          <p:cNvPr id="34" name="Image 4" descr="preencoded.png">    </p:cNvPr>
          <p:cNvPicPr>
            <a:picLocks noChangeAspect="1"/>
          </p:cNvPicPr>
          <p:nvPr/>
        </p:nvPicPr>
        <p:blipFill>
          <a:blip r:embed="rId5"/>
          <a:stretch>
            <a:fillRect/>
          </a:stretch>
        </p:blipFill>
        <p:spPr>
          <a:xfrm>
            <a:off x="4251960" y="2944368"/>
            <a:ext cx="502920" cy="502920"/>
          </a:xfrm>
          <a:prstGeom prst="rect">
            <a:avLst/>
          </a:prstGeom>
        </p:spPr>
      </p:pic>
      <p:sp>
        <p:nvSpPr>
          <p:cNvPr id="35" name="Text 28"/>
          <p:cNvSpPr/>
          <p:nvPr/>
        </p:nvSpPr>
        <p:spPr>
          <a:xfrm>
            <a:off x="3200400" y="3511296"/>
            <a:ext cx="2633472" cy="292608"/>
          </a:xfrm>
          <a:prstGeom prst="rect">
            <a:avLst/>
          </a:prstGeom>
          <a:noFill/>
          <a:ln/>
        </p:spPr>
        <p:txBody>
          <a:bodyPr wrap="square" lIns="0" tIns="0" rIns="0" bIns="0" rtlCol="0" anchor="ctr"/>
          <a:lstStyle/>
          <a:p>
            <a:pPr algn="ctr" indent="0" marL="0">
              <a:buNone/>
            </a:pPr>
            <a:r>
              <a:rPr lang="en-US" sz="1300" b="1" dirty="0">
                <a:solidFill>
                  <a:srgbClr val="0D1B2A"/>
                </a:solidFill>
              </a:rPr>
              <a:t>Frontend</a:t>
            </a:r>
            <a:endParaRPr lang="en-US" sz="1300" dirty="0"/>
          </a:p>
        </p:txBody>
      </p:sp>
      <p:sp>
        <p:nvSpPr>
          <p:cNvPr id="36" name="Text 29"/>
          <p:cNvSpPr/>
          <p:nvPr/>
        </p:nvSpPr>
        <p:spPr>
          <a:xfrm>
            <a:off x="3264408" y="385876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React + TypeScript</a:t>
            </a:r>
            <a:endParaRPr lang="en-US" sz="1000" dirty="0"/>
          </a:p>
        </p:txBody>
      </p:sp>
      <p:sp>
        <p:nvSpPr>
          <p:cNvPr id="37" name="Text 30"/>
          <p:cNvSpPr/>
          <p:nvPr/>
        </p:nvSpPr>
        <p:spPr>
          <a:xfrm>
            <a:off x="3264408" y="413308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D3.js visualizations</a:t>
            </a:r>
            <a:endParaRPr lang="en-US" sz="1000" dirty="0"/>
          </a:p>
        </p:txBody>
      </p:sp>
      <p:sp>
        <p:nvSpPr>
          <p:cNvPr id="38" name="Text 31"/>
          <p:cNvSpPr/>
          <p:nvPr/>
        </p:nvSpPr>
        <p:spPr>
          <a:xfrm>
            <a:off x="3264408" y="440740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WebSocket / SSE live data</a:t>
            </a:r>
            <a:endParaRPr lang="en-US" sz="1000" dirty="0"/>
          </a:p>
        </p:txBody>
      </p:sp>
      <p:sp>
        <p:nvSpPr>
          <p:cNvPr id="39" name="Shape 32"/>
          <p:cNvSpPr/>
          <p:nvPr/>
        </p:nvSpPr>
        <p:spPr>
          <a:xfrm>
            <a:off x="6080760" y="2852928"/>
            <a:ext cx="2724912" cy="187452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40" name="Shape 33"/>
          <p:cNvSpPr/>
          <p:nvPr/>
        </p:nvSpPr>
        <p:spPr>
          <a:xfrm>
            <a:off x="6080760" y="2852928"/>
            <a:ext cx="2724912" cy="54864"/>
          </a:xfrm>
          <a:prstGeom prst="rect">
            <a:avLst/>
          </a:prstGeom>
          <a:solidFill>
            <a:srgbClr val="028090"/>
          </a:solidFill>
          <a:ln/>
        </p:spPr>
      </p:sp>
      <p:pic>
        <p:nvPicPr>
          <p:cNvPr id="41" name="Image 5" descr="preencoded.png">    </p:cNvPr>
          <p:cNvPicPr>
            <a:picLocks noChangeAspect="1"/>
          </p:cNvPicPr>
          <p:nvPr/>
        </p:nvPicPr>
        <p:blipFill>
          <a:blip r:embed="rId6"/>
          <a:stretch>
            <a:fillRect/>
          </a:stretch>
        </p:blipFill>
        <p:spPr>
          <a:xfrm>
            <a:off x="7178040" y="2944368"/>
            <a:ext cx="502920" cy="502920"/>
          </a:xfrm>
          <a:prstGeom prst="rect">
            <a:avLst/>
          </a:prstGeom>
        </p:spPr>
      </p:pic>
      <p:sp>
        <p:nvSpPr>
          <p:cNvPr id="42" name="Text 34"/>
          <p:cNvSpPr/>
          <p:nvPr/>
        </p:nvSpPr>
        <p:spPr>
          <a:xfrm>
            <a:off x="6126480" y="3511296"/>
            <a:ext cx="2633472" cy="292608"/>
          </a:xfrm>
          <a:prstGeom prst="rect">
            <a:avLst/>
          </a:prstGeom>
          <a:noFill/>
          <a:ln/>
        </p:spPr>
        <p:txBody>
          <a:bodyPr wrap="square" lIns="0" tIns="0" rIns="0" bIns="0" rtlCol="0" anchor="ctr"/>
          <a:lstStyle/>
          <a:p>
            <a:pPr algn="ctr" indent="0" marL="0">
              <a:buNone/>
            </a:pPr>
            <a:r>
              <a:rPr lang="en-US" sz="1300" b="1" dirty="0">
                <a:solidFill>
                  <a:srgbClr val="0D1B2A"/>
                </a:solidFill>
              </a:rPr>
              <a:t>DevOps / Security</a:t>
            </a:r>
            <a:endParaRPr lang="en-US" sz="1300" dirty="0"/>
          </a:p>
        </p:txBody>
      </p:sp>
      <p:sp>
        <p:nvSpPr>
          <p:cNvPr id="43" name="Text 35"/>
          <p:cNvSpPr/>
          <p:nvPr/>
        </p:nvSpPr>
        <p:spPr>
          <a:xfrm>
            <a:off x="6190488" y="385876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GitHub CI/CD pipeline</a:t>
            </a:r>
            <a:endParaRPr lang="en-US" sz="1000" dirty="0"/>
          </a:p>
        </p:txBody>
      </p:sp>
      <p:sp>
        <p:nvSpPr>
          <p:cNvPr id="44" name="Text 36"/>
          <p:cNvSpPr/>
          <p:nvPr/>
        </p:nvSpPr>
        <p:spPr>
          <a:xfrm>
            <a:off x="6190488" y="413308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bcrypt (work factor 12)</a:t>
            </a:r>
            <a:endParaRPr lang="en-US" sz="1000" dirty="0"/>
          </a:p>
        </p:txBody>
      </p:sp>
      <p:sp>
        <p:nvSpPr>
          <p:cNvPr id="45" name="Text 37"/>
          <p:cNvSpPr/>
          <p:nvPr/>
        </p:nvSpPr>
        <p:spPr>
          <a:xfrm>
            <a:off x="6190488" y="4407408"/>
            <a:ext cx="2514600" cy="256032"/>
          </a:xfrm>
          <a:prstGeom prst="rect">
            <a:avLst/>
          </a:prstGeom>
          <a:noFill/>
          <a:ln/>
        </p:spPr>
        <p:txBody>
          <a:bodyPr wrap="square" lIns="0" tIns="0" rIns="0" bIns="0" rtlCol="0" anchor="ctr"/>
          <a:lstStyle/>
          <a:p>
            <a:pPr indent="0" marL="0">
              <a:buNone/>
            </a:pPr>
            <a:r>
              <a:rPr lang="en-US" sz="1000" dirty="0">
                <a:solidFill>
                  <a:srgbClr val="334155"/>
                </a:solidFill>
              </a:rPr>
              <a:t>▸  TLS 1.3 all transit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lIns="0" tIns="0" rIns="0" bIns="0" rtlCol="0" anchor="ctr"/>
          <a:lstStyle/>
          <a:p>
            <a:pPr indent="0" marL="0">
              <a:buNone/>
            </a:pPr>
            <a:r>
              <a:rPr lang="en-US" sz="2200" b="1" dirty="0">
                <a:solidFill>
                  <a:srgbClr val="FFFFFF"/>
                </a:solidFill>
              </a:rPr>
              <a:t>User Interface Highlights</a:t>
            </a:r>
            <a:endParaRPr lang="en-US" sz="2200" dirty="0"/>
          </a:p>
        </p:txBody>
      </p:sp>
      <p:sp>
        <p:nvSpPr>
          <p:cNvPr id="3" name="Text 1"/>
          <p:cNvSpPr/>
          <p:nvPr/>
        </p:nvSpPr>
        <p:spPr>
          <a:xfrm>
            <a:off x="365760" y="594360"/>
            <a:ext cx="8412480" cy="274320"/>
          </a:xfrm>
          <a:prstGeom prst="rect">
            <a:avLst/>
          </a:prstGeom>
          <a:noFill/>
          <a:ln/>
        </p:spPr>
        <p:txBody>
          <a:bodyPr wrap="square" lIns="0" tIns="0" rIns="0" bIns="0" rtlCol="0" anchor="ctr"/>
          <a:lstStyle/>
          <a:p>
            <a:pPr indent="0" marL="0">
              <a:buNone/>
            </a:pPr>
            <a:r>
              <a:rPr lang="en-US" sz="1200" i="1" dirty="0">
                <a:solidFill>
                  <a:srgbClr val="00A896"/>
                </a:solidFill>
              </a:rPr>
              <a:t>Six purpose-built screens for Network Administrators and Generalist IT Staff</a:t>
            </a:r>
            <a:endParaRPr lang="en-US" sz="1200" dirty="0"/>
          </a:p>
        </p:txBody>
      </p:sp>
      <p:sp>
        <p:nvSpPr>
          <p:cNvPr id="4" name="Shape 2"/>
          <p:cNvSpPr/>
          <p:nvPr/>
        </p:nvSpPr>
        <p:spPr>
          <a:xfrm>
            <a:off x="228600" y="1005840"/>
            <a:ext cx="2743200" cy="1755648"/>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5" name="Shape 3"/>
          <p:cNvSpPr/>
          <p:nvPr/>
        </p:nvSpPr>
        <p:spPr>
          <a:xfrm>
            <a:off x="228600" y="1005840"/>
            <a:ext cx="2743200" cy="411480"/>
          </a:xfrm>
          <a:prstGeom prst="rect">
            <a:avLst/>
          </a:prstGeom>
          <a:solidFill>
            <a:srgbClr val="028090"/>
          </a:solidFill>
          <a:ln/>
        </p:spPr>
      </p:sp>
      <p:sp>
        <p:nvSpPr>
          <p:cNvPr id="6" name="Shape 4"/>
          <p:cNvSpPr/>
          <p:nvPr/>
        </p:nvSpPr>
        <p:spPr>
          <a:xfrm>
            <a:off x="320040" y="1133856"/>
            <a:ext cx="146304" cy="146304"/>
          </a:xfrm>
          <a:prstGeom prst="ellipse">
            <a:avLst/>
          </a:prstGeom>
          <a:solidFill>
            <a:srgbClr val="EF4444"/>
          </a:solidFill>
          <a:ln w="12700">
            <a:solidFill>
              <a:srgbClr val="EF4444"/>
            </a:solidFill>
            <a:prstDash val="solid"/>
          </a:ln>
        </p:spPr>
      </p:sp>
      <p:sp>
        <p:nvSpPr>
          <p:cNvPr id="7" name="Shape 5"/>
          <p:cNvSpPr/>
          <p:nvPr/>
        </p:nvSpPr>
        <p:spPr>
          <a:xfrm>
            <a:off x="502920" y="1133856"/>
            <a:ext cx="146304" cy="146304"/>
          </a:xfrm>
          <a:prstGeom prst="ellipse">
            <a:avLst/>
          </a:prstGeom>
          <a:solidFill>
            <a:srgbClr val="F59E0B"/>
          </a:solidFill>
          <a:ln w="12700">
            <a:solidFill>
              <a:srgbClr val="F59E0B"/>
            </a:solidFill>
            <a:prstDash val="solid"/>
          </a:ln>
        </p:spPr>
      </p:sp>
      <p:sp>
        <p:nvSpPr>
          <p:cNvPr id="8" name="Shape 6"/>
          <p:cNvSpPr/>
          <p:nvPr/>
        </p:nvSpPr>
        <p:spPr>
          <a:xfrm>
            <a:off x="685800" y="1133856"/>
            <a:ext cx="146304" cy="146304"/>
          </a:xfrm>
          <a:prstGeom prst="ellipse">
            <a:avLst/>
          </a:prstGeom>
          <a:solidFill>
            <a:srgbClr val="10B981"/>
          </a:solidFill>
          <a:ln w="12700">
            <a:solidFill>
              <a:srgbClr val="10B981"/>
            </a:solidFill>
            <a:prstDash val="solid"/>
          </a:ln>
        </p:spPr>
      </p:sp>
      <p:sp>
        <p:nvSpPr>
          <p:cNvPr id="9" name="Text 7"/>
          <p:cNvSpPr/>
          <p:nvPr/>
        </p:nvSpPr>
        <p:spPr>
          <a:xfrm>
            <a:off x="886968" y="1078992"/>
            <a:ext cx="1828800" cy="256032"/>
          </a:xfrm>
          <a:prstGeom prst="rect">
            <a:avLst/>
          </a:prstGeom>
          <a:noFill/>
          <a:ln/>
        </p:spPr>
        <p:txBody>
          <a:bodyPr wrap="square" lIns="0" tIns="0" rIns="0" bIns="0" rtlCol="0" anchor="ctr"/>
          <a:lstStyle/>
          <a:p>
            <a:pPr indent="0" marL="0">
              <a:buNone/>
            </a:pPr>
            <a:r>
              <a:rPr lang="en-US" sz="900" dirty="0">
                <a:solidFill>
                  <a:srgbClr val="FFFFFF"/>
                </a:solidFill>
              </a:rPr>
              <a:t>UI-1</a:t>
            </a:r>
            <a:endParaRPr lang="en-US" sz="900" dirty="0"/>
          </a:p>
        </p:txBody>
      </p:sp>
      <p:sp>
        <p:nvSpPr>
          <p:cNvPr id="10" name="Text 8"/>
          <p:cNvSpPr/>
          <p:nvPr/>
        </p:nvSpPr>
        <p:spPr>
          <a:xfrm>
            <a:off x="320040" y="1463040"/>
            <a:ext cx="2560320" cy="292608"/>
          </a:xfrm>
          <a:prstGeom prst="rect">
            <a:avLst/>
          </a:prstGeom>
          <a:noFill/>
          <a:ln/>
        </p:spPr>
        <p:txBody>
          <a:bodyPr wrap="square" lIns="0" tIns="0" rIns="0" bIns="0" rtlCol="0" anchor="ctr"/>
          <a:lstStyle/>
          <a:p>
            <a:pPr indent="0" marL="0">
              <a:buNone/>
            </a:pPr>
            <a:r>
              <a:rPr lang="en-US" sz="1200" b="1" dirty="0">
                <a:solidFill>
                  <a:srgbClr val="02C39A"/>
                </a:solidFill>
              </a:rPr>
              <a:t>Login Screen</a:t>
            </a:r>
            <a:endParaRPr lang="en-US" sz="1200" dirty="0"/>
          </a:p>
        </p:txBody>
      </p:sp>
      <p:sp>
        <p:nvSpPr>
          <p:cNvPr id="11" name="Text 9"/>
          <p:cNvSpPr/>
          <p:nvPr/>
        </p:nvSpPr>
        <p:spPr>
          <a:xfrm>
            <a:off x="320040" y="1792224"/>
            <a:ext cx="2560320" cy="914400"/>
          </a:xfrm>
          <a:prstGeom prst="rect">
            <a:avLst/>
          </a:prstGeom>
          <a:noFill/>
          <a:ln/>
        </p:spPr>
        <p:txBody>
          <a:bodyPr wrap="square" lIns="0" tIns="0" rIns="0" bIns="0" rtlCol="0" anchor="ctr"/>
          <a:lstStyle/>
          <a:p>
            <a:pPr indent="0" marL="0">
              <a:buNone/>
            </a:pPr>
            <a:r>
              <a:rPr lang="en-US" sz="950" dirty="0">
                <a:solidFill>
                  <a:srgbClr val="E2E8F0"/>
                </a:solidFill>
              </a:rPr>
              <a:t>TLS 1.3 indicator · Generic error messages · RBAC roles shown · 5-attempt lockout warning</a:t>
            </a:r>
            <a:endParaRPr lang="en-US" sz="950" dirty="0"/>
          </a:p>
        </p:txBody>
      </p:sp>
      <p:sp>
        <p:nvSpPr>
          <p:cNvPr id="12" name="Shape 10"/>
          <p:cNvSpPr/>
          <p:nvPr/>
        </p:nvSpPr>
        <p:spPr>
          <a:xfrm>
            <a:off x="3172968" y="1005840"/>
            <a:ext cx="2743200" cy="1755648"/>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13" name="Shape 11"/>
          <p:cNvSpPr/>
          <p:nvPr/>
        </p:nvSpPr>
        <p:spPr>
          <a:xfrm>
            <a:off x="3172968" y="1005840"/>
            <a:ext cx="2743200" cy="411480"/>
          </a:xfrm>
          <a:prstGeom prst="rect">
            <a:avLst/>
          </a:prstGeom>
          <a:solidFill>
            <a:srgbClr val="028090"/>
          </a:solidFill>
          <a:ln/>
        </p:spPr>
      </p:sp>
      <p:sp>
        <p:nvSpPr>
          <p:cNvPr id="14" name="Shape 12"/>
          <p:cNvSpPr/>
          <p:nvPr/>
        </p:nvSpPr>
        <p:spPr>
          <a:xfrm>
            <a:off x="3264408" y="1133856"/>
            <a:ext cx="146304" cy="146304"/>
          </a:xfrm>
          <a:prstGeom prst="ellipse">
            <a:avLst/>
          </a:prstGeom>
          <a:solidFill>
            <a:srgbClr val="EF4444"/>
          </a:solidFill>
          <a:ln w="12700">
            <a:solidFill>
              <a:srgbClr val="EF4444"/>
            </a:solidFill>
            <a:prstDash val="solid"/>
          </a:ln>
        </p:spPr>
      </p:sp>
      <p:sp>
        <p:nvSpPr>
          <p:cNvPr id="15" name="Shape 13"/>
          <p:cNvSpPr/>
          <p:nvPr/>
        </p:nvSpPr>
        <p:spPr>
          <a:xfrm>
            <a:off x="3447288" y="1133856"/>
            <a:ext cx="146304" cy="146304"/>
          </a:xfrm>
          <a:prstGeom prst="ellipse">
            <a:avLst/>
          </a:prstGeom>
          <a:solidFill>
            <a:srgbClr val="F59E0B"/>
          </a:solidFill>
          <a:ln w="12700">
            <a:solidFill>
              <a:srgbClr val="F59E0B"/>
            </a:solidFill>
            <a:prstDash val="solid"/>
          </a:ln>
        </p:spPr>
      </p:sp>
      <p:sp>
        <p:nvSpPr>
          <p:cNvPr id="16" name="Shape 14"/>
          <p:cNvSpPr/>
          <p:nvPr/>
        </p:nvSpPr>
        <p:spPr>
          <a:xfrm>
            <a:off x="3630168" y="1133856"/>
            <a:ext cx="146304" cy="146304"/>
          </a:xfrm>
          <a:prstGeom prst="ellipse">
            <a:avLst/>
          </a:prstGeom>
          <a:solidFill>
            <a:srgbClr val="10B981"/>
          </a:solidFill>
          <a:ln w="12700">
            <a:solidFill>
              <a:srgbClr val="10B981"/>
            </a:solidFill>
            <a:prstDash val="solid"/>
          </a:ln>
        </p:spPr>
      </p:sp>
      <p:sp>
        <p:nvSpPr>
          <p:cNvPr id="17" name="Text 15"/>
          <p:cNvSpPr/>
          <p:nvPr/>
        </p:nvSpPr>
        <p:spPr>
          <a:xfrm>
            <a:off x="3831336" y="1078992"/>
            <a:ext cx="1828800" cy="256032"/>
          </a:xfrm>
          <a:prstGeom prst="rect">
            <a:avLst/>
          </a:prstGeom>
          <a:noFill/>
          <a:ln/>
        </p:spPr>
        <p:txBody>
          <a:bodyPr wrap="square" lIns="0" tIns="0" rIns="0" bIns="0" rtlCol="0" anchor="ctr"/>
          <a:lstStyle/>
          <a:p>
            <a:pPr indent="0" marL="0">
              <a:buNone/>
            </a:pPr>
            <a:r>
              <a:rPr lang="en-US" sz="900" dirty="0">
                <a:solidFill>
                  <a:srgbClr val="FFFFFF"/>
                </a:solidFill>
              </a:rPr>
              <a:t>UI-2</a:t>
            </a:r>
            <a:endParaRPr lang="en-US" sz="900" dirty="0"/>
          </a:p>
        </p:txBody>
      </p:sp>
      <p:sp>
        <p:nvSpPr>
          <p:cNvPr id="18" name="Text 16"/>
          <p:cNvSpPr/>
          <p:nvPr/>
        </p:nvSpPr>
        <p:spPr>
          <a:xfrm>
            <a:off x="3264408" y="1463040"/>
            <a:ext cx="2560320" cy="292608"/>
          </a:xfrm>
          <a:prstGeom prst="rect">
            <a:avLst/>
          </a:prstGeom>
          <a:noFill/>
          <a:ln/>
        </p:spPr>
        <p:txBody>
          <a:bodyPr wrap="square" lIns="0" tIns="0" rIns="0" bIns="0" rtlCol="0" anchor="ctr"/>
          <a:lstStyle/>
          <a:p>
            <a:pPr indent="0" marL="0">
              <a:buNone/>
            </a:pPr>
            <a:r>
              <a:rPr lang="en-US" sz="1200" b="1" dirty="0">
                <a:solidFill>
                  <a:srgbClr val="02C39A"/>
                </a:solidFill>
              </a:rPr>
              <a:t>Main Dashboard</a:t>
            </a:r>
            <a:endParaRPr lang="en-US" sz="1200" dirty="0"/>
          </a:p>
        </p:txBody>
      </p:sp>
      <p:sp>
        <p:nvSpPr>
          <p:cNvPr id="19" name="Text 17"/>
          <p:cNvSpPr/>
          <p:nvPr/>
        </p:nvSpPr>
        <p:spPr>
          <a:xfrm>
            <a:off x="3264408" y="1792224"/>
            <a:ext cx="2560320" cy="914400"/>
          </a:xfrm>
          <a:prstGeom prst="rect">
            <a:avLst/>
          </a:prstGeom>
          <a:noFill/>
          <a:ln/>
        </p:spPr>
        <p:txBody>
          <a:bodyPr wrap="square" lIns="0" tIns="0" rIns="0" bIns="0" rtlCol="0" anchor="ctr"/>
          <a:lstStyle/>
          <a:p>
            <a:pPr indent="0" marL="0">
              <a:buNone/>
            </a:pPr>
            <a:r>
              <a:rPr lang="en-US" sz="950" dirty="0">
                <a:solidFill>
                  <a:srgbClr val="E2E8F0"/>
                </a:solidFill>
              </a:rPr>
              <a:t>4 WAN health score cards · Predictive alert banner · LSTM timeline · AI routing events</a:t>
            </a:r>
            <a:endParaRPr lang="en-US" sz="950" dirty="0"/>
          </a:p>
        </p:txBody>
      </p:sp>
      <p:sp>
        <p:nvSpPr>
          <p:cNvPr id="20" name="Shape 18"/>
          <p:cNvSpPr/>
          <p:nvPr/>
        </p:nvSpPr>
        <p:spPr>
          <a:xfrm>
            <a:off x="6117336" y="1005840"/>
            <a:ext cx="2743200" cy="1755648"/>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21" name="Shape 19"/>
          <p:cNvSpPr/>
          <p:nvPr/>
        </p:nvSpPr>
        <p:spPr>
          <a:xfrm>
            <a:off x="6117336" y="1005840"/>
            <a:ext cx="2743200" cy="411480"/>
          </a:xfrm>
          <a:prstGeom prst="rect">
            <a:avLst/>
          </a:prstGeom>
          <a:solidFill>
            <a:srgbClr val="028090"/>
          </a:solidFill>
          <a:ln/>
        </p:spPr>
      </p:sp>
      <p:sp>
        <p:nvSpPr>
          <p:cNvPr id="22" name="Shape 20"/>
          <p:cNvSpPr/>
          <p:nvPr/>
        </p:nvSpPr>
        <p:spPr>
          <a:xfrm>
            <a:off x="6208776" y="1133856"/>
            <a:ext cx="146304" cy="146304"/>
          </a:xfrm>
          <a:prstGeom prst="ellipse">
            <a:avLst/>
          </a:prstGeom>
          <a:solidFill>
            <a:srgbClr val="EF4444"/>
          </a:solidFill>
          <a:ln w="12700">
            <a:solidFill>
              <a:srgbClr val="EF4444"/>
            </a:solidFill>
            <a:prstDash val="solid"/>
          </a:ln>
        </p:spPr>
      </p:sp>
      <p:sp>
        <p:nvSpPr>
          <p:cNvPr id="23" name="Shape 21"/>
          <p:cNvSpPr/>
          <p:nvPr/>
        </p:nvSpPr>
        <p:spPr>
          <a:xfrm>
            <a:off x="6391656" y="1133856"/>
            <a:ext cx="146304" cy="146304"/>
          </a:xfrm>
          <a:prstGeom prst="ellipse">
            <a:avLst/>
          </a:prstGeom>
          <a:solidFill>
            <a:srgbClr val="F59E0B"/>
          </a:solidFill>
          <a:ln w="12700">
            <a:solidFill>
              <a:srgbClr val="F59E0B"/>
            </a:solidFill>
            <a:prstDash val="solid"/>
          </a:ln>
        </p:spPr>
      </p:sp>
      <p:sp>
        <p:nvSpPr>
          <p:cNvPr id="24" name="Shape 22"/>
          <p:cNvSpPr/>
          <p:nvPr/>
        </p:nvSpPr>
        <p:spPr>
          <a:xfrm>
            <a:off x="6574536" y="1133856"/>
            <a:ext cx="146304" cy="146304"/>
          </a:xfrm>
          <a:prstGeom prst="ellipse">
            <a:avLst/>
          </a:prstGeom>
          <a:solidFill>
            <a:srgbClr val="10B981"/>
          </a:solidFill>
          <a:ln w="12700">
            <a:solidFill>
              <a:srgbClr val="10B981"/>
            </a:solidFill>
            <a:prstDash val="solid"/>
          </a:ln>
        </p:spPr>
      </p:sp>
      <p:sp>
        <p:nvSpPr>
          <p:cNvPr id="25" name="Text 23"/>
          <p:cNvSpPr/>
          <p:nvPr/>
        </p:nvSpPr>
        <p:spPr>
          <a:xfrm>
            <a:off x="6775704" y="1078992"/>
            <a:ext cx="1828800" cy="256032"/>
          </a:xfrm>
          <a:prstGeom prst="rect">
            <a:avLst/>
          </a:prstGeom>
          <a:noFill/>
          <a:ln/>
        </p:spPr>
        <p:txBody>
          <a:bodyPr wrap="square" lIns="0" tIns="0" rIns="0" bIns="0" rtlCol="0" anchor="ctr"/>
          <a:lstStyle/>
          <a:p>
            <a:pPr indent="0" marL="0">
              <a:buNone/>
            </a:pPr>
            <a:r>
              <a:rPr lang="en-US" sz="900" dirty="0">
                <a:solidFill>
                  <a:srgbClr val="FFFFFF"/>
                </a:solidFill>
              </a:rPr>
              <a:t>UI-3</a:t>
            </a:r>
            <a:endParaRPr lang="en-US" sz="900" dirty="0"/>
          </a:p>
        </p:txBody>
      </p:sp>
      <p:sp>
        <p:nvSpPr>
          <p:cNvPr id="26" name="Text 24"/>
          <p:cNvSpPr/>
          <p:nvPr/>
        </p:nvSpPr>
        <p:spPr>
          <a:xfrm>
            <a:off x="6208776" y="1463040"/>
            <a:ext cx="2560320" cy="292608"/>
          </a:xfrm>
          <a:prstGeom prst="rect">
            <a:avLst/>
          </a:prstGeom>
          <a:noFill/>
          <a:ln/>
        </p:spPr>
        <p:txBody>
          <a:bodyPr wrap="square" lIns="0" tIns="0" rIns="0" bIns="0" rtlCol="0" anchor="ctr"/>
          <a:lstStyle/>
          <a:p>
            <a:pPr indent="0" marL="0">
              <a:buNone/>
            </a:pPr>
            <a:r>
              <a:rPr lang="en-US" sz="1200" b="1" dirty="0">
                <a:solidFill>
                  <a:srgbClr val="02C39A"/>
                </a:solidFill>
              </a:rPr>
              <a:t>Telemetry View</a:t>
            </a:r>
            <a:endParaRPr lang="en-US" sz="1200" dirty="0"/>
          </a:p>
        </p:txBody>
      </p:sp>
      <p:sp>
        <p:nvSpPr>
          <p:cNvPr id="27" name="Text 25"/>
          <p:cNvSpPr/>
          <p:nvPr/>
        </p:nvSpPr>
        <p:spPr>
          <a:xfrm>
            <a:off x="6208776" y="1792224"/>
            <a:ext cx="2560320" cy="914400"/>
          </a:xfrm>
          <a:prstGeom prst="rect">
            <a:avLst/>
          </a:prstGeom>
          <a:noFill/>
          <a:ln/>
        </p:spPr>
        <p:txBody>
          <a:bodyPr wrap="square" lIns="0" tIns="0" rIns="0" bIns="0" rtlCol="0" anchor="ctr"/>
          <a:lstStyle/>
          <a:p>
            <a:pPr indent="0" marL="0">
              <a:buNone/>
            </a:pPr>
            <a:r>
              <a:rPr lang="en-US" sz="950" dirty="0">
                <a:solidFill>
                  <a:srgbClr val="E2E8F0"/>
                </a:solidFill>
              </a:rPr>
              <a:t>Per-link metric charts (latency/jitter/loss) · Solid vs dashed LSTM forecast line</a:t>
            </a:r>
            <a:endParaRPr lang="en-US" sz="950" dirty="0"/>
          </a:p>
        </p:txBody>
      </p:sp>
      <p:sp>
        <p:nvSpPr>
          <p:cNvPr id="28" name="Shape 26"/>
          <p:cNvSpPr/>
          <p:nvPr/>
        </p:nvSpPr>
        <p:spPr>
          <a:xfrm>
            <a:off x="228600" y="2926080"/>
            <a:ext cx="2743200" cy="1755648"/>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29" name="Shape 27"/>
          <p:cNvSpPr/>
          <p:nvPr/>
        </p:nvSpPr>
        <p:spPr>
          <a:xfrm>
            <a:off x="228600" y="2926080"/>
            <a:ext cx="2743200" cy="411480"/>
          </a:xfrm>
          <a:prstGeom prst="rect">
            <a:avLst/>
          </a:prstGeom>
          <a:solidFill>
            <a:srgbClr val="028090"/>
          </a:solidFill>
          <a:ln/>
        </p:spPr>
      </p:sp>
      <p:sp>
        <p:nvSpPr>
          <p:cNvPr id="30" name="Shape 28"/>
          <p:cNvSpPr/>
          <p:nvPr/>
        </p:nvSpPr>
        <p:spPr>
          <a:xfrm>
            <a:off x="320040" y="3054096"/>
            <a:ext cx="146304" cy="146304"/>
          </a:xfrm>
          <a:prstGeom prst="ellipse">
            <a:avLst/>
          </a:prstGeom>
          <a:solidFill>
            <a:srgbClr val="EF4444"/>
          </a:solidFill>
          <a:ln w="12700">
            <a:solidFill>
              <a:srgbClr val="EF4444"/>
            </a:solidFill>
            <a:prstDash val="solid"/>
          </a:ln>
        </p:spPr>
      </p:sp>
      <p:sp>
        <p:nvSpPr>
          <p:cNvPr id="31" name="Shape 29"/>
          <p:cNvSpPr/>
          <p:nvPr/>
        </p:nvSpPr>
        <p:spPr>
          <a:xfrm>
            <a:off x="502920" y="3054096"/>
            <a:ext cx="146304" cy="146304"/>
          </a:xfrm>
          <a:prstGeom prst="ellipse">
            <a:avLst/>
          </a:prstGeom>
          <a:solidFill>
            <a:srgbClr val="F59E0B"/>
          </a:solidFill>
          <a:ln w="12700">
            <a:solidFill>
              <a:srgbClr val="F59E0B"/>
            </a:solidFill>
            <a:prstDash val="solid"/>
          </a:ln>
        </p:spPr>
      </p:sp>
      <p:sp>
        <p:nvSpPr>
          <p:cNvPr id="32" name="Shape 30"/>
          <p:cNvSpPr/>
          <p:nvPr/>
        </p:nvSpPr>
        <p:spPr>
          <a:xfrm>
            <a:off x="685800" y="3054096"/>
            <a:ext cx="146304" cy="146304"/>
          </a:xfrm>
          <a:prstGeom prst="ellipse">
            <a:avLst/>
          </a:prstGeom>
          <a:solidFill>
            <a:srgbClr val="10B981"/>
          </a:solidFill>
          <a:ln w="12700">
            <a:solidFill>
              <a:srgbClr val="10B981"/>
            </a:solidFill>
            <a:prstDash val="solid"/>
          </a:ln>
        </p:spPr>
      </p:sp>
      <p:sp>
        <p:nvSpPr>
          <p:cNvPr id="33" name="Text 31"/>
          <p:cNvSpPr/>
          <p:nvPr/>
        </p:nvSpPr>
        <p:spPr>
          <a:xfrm>
            <a:off x="886968" y="2999232"/>
            <a:ext cx="1828800" cy="256032"/>
          </a:xfrm>
          <a:prstGeom prst="rect">
            <a:avLst/>
          </a:prstGeom>
          <a:noFill/>
          <a:ln/>
        </p:spPr>
        <p:txBody>
          <a:bodyPr wrap="square" lIns="0" tIns="0" rIns="0" bIns="0" rtlCol="0" anchor="ctr"/>
          <a:lstStyle/>
          <a:p>
            <a:pPr indent="0" marL="0">
              <a:buNone/>
            </a:pPr>
            <a:r>
              <a:rPr lang="en-US" sz="900" dirty="0">
                <a:solidFill>
                  <a:srgbClr val="FFFFFF"/>
                </a:solidFill>
              </a:rPr>
              <a:t>UI-4</a:t>
            </a:r>
            <a:endParaRPr lang="en-US" sz="900" dirty="0"/>
          </a:p>
        </p:txBody>
      </p:sp>
      <p:sp>
        <p:nvSpPr>
          <p:cNvPr id="34" name="Text 32"/>
          <p:cNvSpPr/>
          <p:nvPr/>
        </p:nvSpPr>
        <p:spPr>
          <a:xfrm>
            <a:off x="320040" y="3383280"/>
            <a:ext cx="2560320" cy="292608"/>
          </a:xfrm>
          <a:prstGeom prst="rect">
            <a:avLst/>
          </a:prstGeom>
          <a:noFill/>
          <a:ln/>
        </p:spPr>
        <p:txBody>
          <a:bodyPr wrap="square" lIns="0" tIns="0" rIns="0" bIns="0" rtlCol="0" anchor="ctr"/>
          <a:lstStyle/>
          <a:p>
            <a:pPr indent="0" marL="0">
              <a:buNone/>
            </a:pPr>
            <a:r>
              <a:rPr lang="en-US" sz="1200" b="1" dirty="0">
                <a:solidFill>
                  <a:srgbClr val="02C39A"/>
                </a:solidFill>
              </a:rPr>
              <a:t>IBN Policy Manager</a:t>
            </a:r>
            <a:endParaRPr lang="en-US" sz="1200" dirty="0"/>
          </a:p>
        </p:txBody>
      </p:sp>
      <p:sp>
        <p:nvSpPr>
          <p:cNvPr id="35" name="Text 33"/>
          <p:cNvSpPr/>
          <p:nvPr/>
        </p:nvSpPr>
        <p:spPr>
          <a:xfrm>
            <a:off x="320040" y="3712464"/>
            <a:ext cx="2560320" cy="914400"/>
          </a:xfrm>
          <a:prstGeom prst="rect">
            <a:avLst/>
          </a:prstGeom>
          <a:noFill/>
          <a:ln/>
        </p:spPr>
        <p:txBody>
          <a:bodyPr wrap="square" lIns="0" tIns="0" rIns="0" bIns="0" rtlCol="0" anchor="ctr"/>
          <a:lstStyle/>
          <a:p>
            <a:pPr indent="0" marL="0">
              <a:buNone/>
            </a:pPr>
            <a:r>
              <a:rPr lang="en-US" sz="950" dirty="0">
                <a:solidFill>
                  <a:srgbClr val="E2E8F0"/>
                </a:solidFill>
              </a:rPr>
              <a:t>Natural language input · Policy review panel · Active policy table · Digital Twin safety note</a:t>
            </a:r>
            <a:endParaRPr lang="en-US" sz="950" dirty="0"/>
          </a:p>
        </p:txBody>
      </p:sp>
      <p:sp>
        <p:nvSpPr>
          <p:cNvPr id="36" name="Shape 34"/>
          <p:cNvSpPr/>
          <p:nvPr/>
        </p:nvSpPr>
        <p:spPr>
          <a:xfrm>
            <a:off x="3172968" y="2926080"/>
            <a:ext cx="2743200" cy="1755648"/>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37" name="Shape 35"/>
          <p:cNvSpPr/>
          <p:nvPr/>
        </p:nvSpPr>
        <p:spPr>
          <a:xfrm>
            <a:off x="3172968" y="2926080"/>
            <a:ext cx="2743200" cy="411480"/>
          </a:xfrm>
          <a:prstGeom prst="rect">
            <a:avLst/>
          </a:prstGeom>
          <a:solidFill>
            <a:srgbClr val="028090"/>
          </a:solidFill>
          <a:ln/>
        </p:spPr>
      </p:sp>
      <p:sp>
        <p:nvSpPr>
          <p:cNvPr id="38" name="Shape 36"/>
          <p:cNvSpPr/>
          <p:nvPr/>
        </p:nvSpPr>
        <p:spPr>
          <a:xfrm>
            <a:off x="3264408" y="3054096"/>
            <a:ext cx="146304" cy="146304"/>
          </a:xfrm>
          <a:prstGeom prst="ellipse">
            <a:avLst/>
          </a:prstGeom>
          <a:solidFill>
            <a:srgbClr val="EF4444"/>
          </a:solidFill>
          <a:ln w="12700">
            <a:solidFill>
              <a:srgbClr val="EF4444"/>
            </a:solidFill>
            <a:prstDash val="solid"/>
          </a:ln>
        </p:spPr>
      </p:sp>
      <p:sp>
        <p:nvSpPr>
          <p:cNvPr id="39" name="Shape 37"/>
          <p:cNvSpPr/>
          <p:nvPr/>
        </p:nvSpPr>
        <p:spPr>
          <a:xfrm>
            <a:off x="3447288" y="3054096"/>
            <a:ext cx="146304" cy="146304"/>
          </a:xfrm>
          <a:prstGeom prst="ellipse">
            <a:avLst/>
          </a:prstGeom>
          <a:solidFill>
            <a:srgbClr val="F59E0B"/>
          </a:solidFill>
          <a:ln w="12700">
            <a:solidFill>
              <a:srgbClr val="F59E0B"/>
            </a:solidFill>
            <a:prstDash val="solid"/>
          </a:ln>
        </p:spPr>
      </p:sp>
      <p:sp>
        <p:nvSpPr>
          <p:cNvPr id="40" name="Shape 38"/>
          <p:cNvSpPr/>
          <p:nvPr/>
        </p:nvSpPr>
        <p:spPr>
          <a:xfrm>
            <a:off x="3630168" y="3054096"/>
            <a:ext cx="146304" cy="146304"/>
          </a:xfrm>
          <a:prstGeom prst="ellipse">
            <a:avLst/>
          </a:prstGeom>
          <a:solidFill>
            <a:srgbClr val="10B981"/>
          </a:solidFill>
          <a:ln w="12700">
            <a:solidFill>
              <a:srgbClr val="10B981"/>
            </a:solidFill>
            <a:prstDash val="solid"/>
          </a:ln>
        </p:spPr>
      </p:sp>
      <p:sp>
        <p:nvSpPr>
          <p:cNvPr id="41" name="Text 39"/>
          <p:cNvSpPr/>
          <p:nvPr/>
        </p:nvSpPr>
        <p:spPr>
          <a:xfrm>
            <a:off x="3831336" y="2999232"/>
            <a:ext cx="1828800" cy="256032"/>
          </a:xfrm>
          <a:prstGeom prst="rect">
            <a:avLst/>
          </a:prstGeom>
          <a:noFill/>
          <a:ln/>
        </p:spPr>
        <p:txBody>
          <a:bodyPr wrap="square" lIns="0" tIns="0" rIns="0" bIns="0" rtlCol="0" anchor="ctr"/>
          <a:lstStyle/>
          <a:p>
            <a:pPr indent="0" marL="0">
              <a:buNone/>
            </a:pPr>
            <a:r>
              <a:rPr lang="en-US" sz="900" dirty="0">
                <a:solidFill>
                  <a:srgbClr val="FFFFFF"/>
                </a:solidFill>
              </a:rPr>
              <a:t>UI-5</a:t>
            </a:r>
            <a:endParaRPr lang="en-US" sz="900" dirty="0"/>
          </a:p>
        </p:txBody>
      </p:sp>
      <p:sp>
        <p:nvSpPr>
          <p:cNvPr id="42" name="Text 40"/>
          <p:cNvSpPr/>
          <p:nvPr/>
        </p:nvSpPr>
        <p:spPr>
          <a:xfrm>
            <a:off x="3264408" y="3383280"/>
            <a:ext cx="2560320" cy="292608"/>
          </a:xfrm>
          <a:prstGeom prst="rect">
            <a:avLst/>
          </a:prstGeom>
          <a:noFill/>
          <a:ln/>
        </p:spPr>
        <p:txBody>
          <a:bodyPr wrap="square" lIns="0" tIns="0" rIns="0" bIns="0" rtlCol="0" anchor="ctr"/>
          <a:lstStyle/>
          <a:p>
            <a:pPr indent="0" marL="0">
              <a:buNone/>
            </a:pPr>
            <a:r>
              <a:rPr lang="en-US" sz="1200" b="1" dirty="0">
                <a:solidFill>
                  <a:srgbClr val="02C39A"/>
                </a:solidFill>
              </a:rPr>
              <a:t>Digital Twin Sandbox</a:t>
            </a:r>
            <a:endParaRPr lang="en-US" sz="1200" dirty="0"/>
          </a:p>
        </p:txBody>
      </p:sp>
      <p:sp>
        <p:nvSpPr>
          <p:cNvPr id="43" name="Text 41"/>
          <p:cNvSpPr/>
          <p:nvPr/>
        </p:nvSpPr>
        <p:spPr>
          <a:xfrm>
            <a:off x="3264408" y="3712464"/>
            <a:ext cx="2560320" cy="914400"/>
          </a:xfrm>
          <a:prstGeom prst="rect">
            <a:avLst/>
          </a:prstGeom>
          <a:noFill/>
          <a:ln/>
        </p:spPr>
        <p:txBody>
          <a:bodyPr wrap="square" lIns="0" tIns="0" rIns="0" bIns="0" rtlCol="0" anchor="ctr"/>
          <a:lstStyle/>
          <a:p>
            <a:pPr indent="0" marL="0">
              <a:buNone/>
            </a:pPr>
            <a:r>
              <a:rPr lang="en-US" sz="950" dirty="0">
                <a:solidFill>
                  <a:srgbClr val="E2E8F0"/>
                </a:solidFill>
              </a:rPr>
              <a:t>Validation pipeline steps · Mininet topology preview · Validation history with rejection reasons</a:t>
            </a:r>
            <a:endParaRPr lang="en-US" sz="950" dirty="0"/>
          </a:p>
        </p:txBody>
      </p:sp>
      <p:sp>
        <p:nvSpPr>
          <p:cNvPr id="44" name="Shape 42"/>
          <p:cNvSpPr/>
          <p:nvPr/>
        </p:nvSpPr>
        <p:spPr>
          <a:xfrm>
            <a:off x="6117336" y="2926080"/>
            <a:ext cx="2743200" cy="1755648"/>
          </a:xfrm>
          <a:prstGeom prst="rect">
            <a:avLst/>
          </a:prstGeom>
          <a:solidFill>
            <a:srgbClr val="334155"/>
          </a:solidFill>
          <a:ln/>
          <a:effectLst>
            <a:outerShdw sx="100000" sy="100000" kx="0" ky="0" algn="bl" rotWithShape="0" blurRad="101600" dist="38100" dir="8100000">
              <a:srgbClr val="000000">
                <a:alpha val="18000"/>
              </a:srgbClr>
            </a:outerShdw>
          </a:effectLst>
        </p:spPr>
      </p:sp>
      <p:sp>
        <p:nvSpPr>
          <p:cNvPr id="45" name="Shape 43"/>
          <p:cNvSpPr/>
          <p:nvPr/>
        </p:nvSpPr>
        <p:spPr>
          <a:xfrm>
            <a:off x="6117336" y="2926080"/>
            <a:ext cx="2743200" cy="411480"/>
          </a:xfrm>
          <a:prstGeom prst="rect">
            <a:avLst/>
          </a:prstGeom>
          <a:solidFill>
            <a:srgbClr val="028090"/>
          </a:solidFill>
          <a:ln/>
        </p:spPr>
      </p:sp>
      <p:sp>
        <p:nvSpPr>
          <p:cNvPr id="46" name="Shape 44"/>
          <p:cNvSpPr/>
          <p:nvPr/>
        </p:nvSpPr>
        <p:spPr>
          <a:xfrm>
            <a:off x="6208776" y="3054096"/>
            <a:ext cx="146304" cy="146304"/>
          </a:xfrm>
          <a:prstGeom prst="ellipse">
            <a:avLst/>
          </a:prstGeom>
          <a:solidFill>
            <a:srgbClr val="EF4444"/>
          </a:solidFill>
          <a:ln w="12700">
            <a:solidFill>
              <a:srgbClr val="EF4444"/>
            </a:solidFill>
            <a:prstDash val="solid"/>
          </a:ln>
        </p:spPr>
      </p:sp>
      <p:sp>
        <p:nvSpPr>
          <p:cNvPr id="47" name="Shape 45"/>
          <p:cNvSpPr/>
          <p:nvPr/>
        </p:nvSpPr>
        <p:spPr>
          <a:xfrm>
            <a:off x="6391656" y="3054096"/>
            <a:ext cx="146304" cy="146304"/>
          </a:xfrm>
          <a:prstGeom prst="ellipse">
            <a:avLst/>
          </a:prstGeom>
          <a:solidFill>
            <a:srgbClr val="F59E0B"/>
          </a:solidFill>
          <a:ln w="12700">
            <a:solidFill>
              <a:srgbClr val="F59E0B"/>
            </a:solidFill>
            <a:prstDash val="solid"/>
          </a:ln>
        </p:spPr>
      </p:sp>
      <p:sp>
        <p:nvSpPr>
          <p:cNvPr id="48" name="Shape 46"/>
          <p:cNvSpPr/>
          <p:nvPr/>
        </p:nvSpPr>
        <p:spPr>
          <a:xfrm>
            <a:off x="6574536" y="3054096"/>
            <a:ext cx="146304" cy="146304"/>
          </a:xfrm>
          <a:prstGeom prst="ellipse">
            <a:avLst/>
          </a:prstGeom>
          <a:solidFill>
            <a:srgbClr val="10B981"/>
          </a:solidFill>
          <a:ln w="12700">
            <a:solidFill>
              <a:srgbClr val="10B981"/>
            </a:solidFill>
            <a:prstDash val="solid"/>
          </a:ln>
        </p:spPr>
      </p:sp>
      <p:sp>
        <p:nvSpPr>
          <p:cNvPr id="49" name="Text 47"/>
          <p:cNvSpPr/>
          <p:nvPr/>
        </p:nvSpPr>
        <p:spPr>
          <a:xfrm>
            <a:off x="6775704" y="2999232"/>
            <a:ext cx="1828800" cy="256032"/>
          </a:xfrm>
          <a:prstGeom prst="rect">
            <a:avLst/>
          </a:prstGeom>
          <a:noFill/>
          <a:ln/>
        </p:spPr>
        <p:txBody>
          <a:bodyPr wrap="square" lIns="0" tIns="0" rIns="0" bIns="0" rtlCol="0" anchor="ctr"/>
          <a:lstStyle/>
          <a:p>
            <a:pPr indent="0" marL="0">
              <a:buNone/>
            </a:pPr>
            <a:r>
              <a:rPr lang="en-US" sz="900" dirty="0">
                <a:solidFill>
                  <a:srgbClr val="FFFFFF"/>
                </a:solidFill>
              </a:rPr>
              <a:t>UI-6</a:t>
            </a:r>
            <a:endParaRPr lang="en-US" sz="900" dirty="0"/>
          </a:p>
        </p:txBody>
      </p:sp>
      <p:sp>
        <p:nvSpPr>
          <p:cNvPr id="50" name="Text 48"/>
          <p:cNvSpPr/>
          <p:nvPr/>
        </p:nvSpPr>
        <p:spPr>
          <a:xfrm>
            <a:off x="6208776" y="3383280"/>
            <a:ext cx="2560320" cy="292608"/>
          </a:xfrm>
          <a:prstGeom prst="rect">
            <a:avLst/>
          </a:prstGeom>
          <a:noFill/>
          <a:ln/>
        </p:spPr>
        <p:txBody>
          <a:bodyPr wrap="square" lIns="0" tIns="0" rIns="0" bIns="0" rtlCol="0" anchor="ctr"/>
          <a:lstStyle/>
          <a:p>
            <a:pPr indent="0" marL="0">
              <a:buNone/>
            </a:pPr>
            <a:r>
              <a:rPr lang="en-US" sz="1200" b="1" dirty="0">
                <a:solidFill>
                  <a:srgbClr val="02C39A"/>
                </a:solidFill>
              </a:rPr>
              <a:t>Audit Log</a:t>
            </a:r>
            <a:endParaRPr lang="en-US" sz="1200" dirty="0"/>
          </a:p>
        </p:txBody>
      </p:sp>
      <p:sp>
        <p:nvSpPr>
          <p:cNvPr id="51" name="Text 49"/>
          <p:cNvSpPr/>
          <p:nvPr/>
        </p:nvSpPr>
        <p:spPr>
          <a:xfrm>
            <a:off x="6208776" y="3712464"/>
            <a:ext cx="2560320" cy="914400"/>
          </a:xfrm>
          <a:prstGeom prst="rect">
            <a:avLst/>
          </a:prstGeom>
          <a:noFill/>
          <a:ln/>
        </p:spPr>
        <p:txBody>
          <a:bodyPr wrap="square" lIns="0" tIns="0" rIns="0" bIns="0" rtlCol="0" anchor="ctr"/>
          <a:lstStyle/>
          <a:p>
            <a:pPr indent="0" marL="0">
              <a:buNone/>
            </a:pPr>
            <a:r>
              <a:rPr lang="en-US" sz="950" dirty="0">
                <a:solidFill>
                  <a:srgbClr val="E2E8F0"/>
                </a:solidFill>
              </a:rPr>
              <a:t>Color-coded event log · Event detail panel · AI reasoning in plain language · Log integrity verification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200" b="1" dirty="0">
                <a:solidFill>
                  <a:srgbClr val="FFFFFF"/>
                </a:solidFill>
              </a:rPr>
              <a:t>Implementation Overview</a:t>
            </a:r>
            <a:endParaRPr lang="en-US" sz="2200" dirty="0"/>
          </a:p>
        </p:txBody>
      </p:sp>
      <p:sp>
        <p:nvSpPr>
          <p:cNvPr id="4" name="Shape 2"/>
          <p:cNvSpPr/>
          <p:nvPr/>
        </p:nvSpPr>
        <p:spPr>
          <a:xfrm>
            <a:off x="457200" y="1389888"/>
            <a:ext cx="8229600" cy="0"/>
          </a:xfrm>
          <a:prstGeom prst="line">
            <a:avLst/>
          </a:prstGeom>
          <a:noFill/>
          <a:ln w="38100">
            <a:solidFill>
              <a:srgbClr val="028090"/>
            </a:solidFill>
            <a:prstDash val="solid"/>
          </a:ln>
        </p:spPr>
      </p:sp>
      <p:sp>
        <p:nvSpPr>
          <p:cNvPr id="5" name="Shape 3"/>
          <p:cNvSpPr/>
          <p:nvPr/>
        </p:nvSpPr>
        <p:spPr>
          <a:xfrm>
            <a:off x="347472" y="1280160"/>
            <a:ext cx="219456" cy="219456"/>
          </a:xfrm>
          <a:prstGeom prst="ellipse">
            <a:avLst/>
          </a:prstGeom>
          <a:solidFill>
            <a:srgbClr val="02C39A"/>
          </a:solidFill>
          <a:ln w="12700">
            <a:solidFill>
              <a:srgbClr val="02C39A"/>
            </a:solidFill>
            <a:prstDash val="solid"/>
          </a:ln>
        </p:spPr>
      </p:sp>
      <p:sp>
        <p:nvSpPr>
          <p:cNvPr id="6" name="Text 4"/>
          <p:cNvSpPr/>
          <p:nvPr/>
        </p:nvSpPr>
        <p:spPr>
          <a:xfrm>
            <a:off x="-182880" y="1536192"/>
            <a:ext cx="1280160" cy="256032"/>
          </a:xfrm>
          <a:prstGeom prst="rect">
            <a:avLst/>
          </a:prstGeom>
          <a:noFill/>
          <a:ln/>
        </p:spPr>
        <p:txBody>
          <a:bodyPr wrap="square" lIns="0" tIns="0" rIns="0" bIns="0" rtlCol="0" anchor="ctr"/>
          <a:lstStyle/>
          <a:p>
            <a:pPr algn="ctr" indent="0" marL="0">
              <a:buNone/>
            </a:pPr>
            <a:r>
              <a:rPr lang="en-US" sz="1000" dirty="0">
                <a:solidFill>
                  <a:srgbClr val="334155"/>
                </a:solidFill>
              </a:rPr>
              <a:t>Feb 17</a:t>
            </a:r>
            <a:endParaRPr lang="en-US" sz="1000" dirty="0"/>
          </a:p>
        </p:txBody>
      </p:sp>
      <p:sp>
        <p:nvSpPr>
          <p:cNvPr id="7" name="Text 5"/>
          <p:cNvSpPr/>
          <p:nvPr/>
        </p:nvSpPr>
        <p:spPr>
          <a:xfrm>
            <a:off x="-182880" y="804672"/>
            <a:ext cx="1280160" cy="347472"/>
          </a:xfrm>
          <a:prstGeom prst="rect">
            <a:avLst/>
          </a:prstGeom>
          <a:noFill/>
          <a:ln/>
        </p:spPr>
        <p:txBody>
          <a:bodyPr wrap="square" lIns="0" tIns="0" rIns="0" bIns="0" rtlCol="0" anchor="ctr"/>
          <a:lstStyle/>
          <a:p>
            <a:pPr algn="ctr" indent="0" marL="0">
              <a:buNone/>
            </a:pPr>
            <a:r>
              <a:rPr lang="en-US" sz="1100" b="1" dirty="0">
                <a:solidFill>
                  <a:srgbClr val="0D1B2A"/>
                </a:solidFill>
              </a:rPr>
              <a:t>PVD + PP</a:t>
            </a:r>
            <a:endParaRPr lang="en-US" sz="1100" dirty="0"/>
          </a:p>
        </p:txBody>
      </p:sp>
      <p:sp>
        <p:nvSpPr>
          <p:cNvPr id="8" name="Shape 6"/>
          <p:cNvSpPr/>
          <p:nvPr/>
        </p:nvSpPr>
        <p:spPr>
          <a:xfrm>
            <a:off x="1993392" y="1280160"/>
            <a:ext cx="219456" cy="219456"/>
          </a:xfrm>
          <a:prstGeom prst="ellipse">
            <a:avLst/>
          </a:prstGeom>
          <a:solidFill>
            <a:srgbClr val="02C39A"/>
          </a:solidFill>
          <a:ln w="12700">
            <a:solidFill>
              <a:srgbClr val="02C39A"/>
            </a:solidFill>
            <a:prstDash val="solid"/>
          </a:ln>
        </p:spPr>
      </p:sp>
      <p:sp>
        <p:nvSpPr>
          <p:cNvPr id="9" name="Text 7"/>
          <p:cNvSpPr/>
          <p:nvPr/>
        </p:nvSpPr>
        <p:spPr>
          <a:xfrm>
            <a:off x="1463040" y="1536192"/>
            <a:ext cx="1280160" cy="256032"/>
          </a:xfrm>
          <a:prstGeom prst="rect">
            <a:avLst/>
          </a:prstGeom>
          <a:noFill/>
          <a:ln/>
        </p:spPr>
        <p:txBody>
          <a:bodyPr wrap="square" lIns="0" tIns="0" rIns="0" bIns="0" rtlCol="0" anchor="ctr"/>
          <a:lstStyle/>
          <a:p>
            <a:pPr algn="ctr" indent="0" marL="0">
              <a:buNone/>
            </a:pPr>
            <a:r>
              <a:rPr lang="en-US" sz="1000" dirty="0">
                <a:solidFill>
                  <a:srgbClr val="334155"/>
                </a:solidFill>
              </a:rPr>
              <a:t>Mar 9</a:t>
            </a:r>
            <a:endParaRPr lang="en-US" sz="1000" dirty="0"/>
          </a:p>
        </p:txBody>
      </p:sp>
      <p:sp>
        <p:nvSpPr>
          <p:cNvPr id="10" name="Text 8"/>
          <p:cNvSpPr/>
          <p:nvPr/>
        </p:nvSpPr>
        <p:spPr>
          <a:xfrm>
            <a:off x="1463040" y="804672"/>
            <a:ext cx="1280160" cy="347472"/>
          </a:xfrm>
          <a:prstGeom prst="rect">
            <a:avLst/>
          </a:prstGeom>
          <a:noFill/>
          <a:ln/>
        </p:spPr>
        <p:txBody>
          <a:bodyPr wrap="square" lIns="0" tIns="0" rIns="0" bIns="0" rtlCol="0" anchor="ctr"/>
          <a:lstStyle/>
          <a:p>
            <a:pPr algn="ctr" indent="0" marL="0">
              <a:buNone/>
            </a:pPr>
            <a:r>
              <a:rPr lang="en-US" sz="1100" b="1" dirty="0">
                <a:solidFill>
                  <a:srgbClr val="0D1B2A"/>
                </a:solidFill>
              </a:rPr>
              <a:t>SRS</a:t>
            </a:r>
            <a:endParaRPr lang="en-US" sz="1100" dirty="0"/>
          </a:p>
        </p:txBody>
      </p:sp>
      <p:sp>
        <p:nvSpPr>
          <p:cNvPr id="11" name="Shape 9"/>
          <p:cNvSpPr/>
          <p:nvPr/>
        </p:nvSpPr>
        <p:spPr>
          <a:xfrm>
            <a:off x="3639312" y="1280160"/>
            <a:ext cx="219456" cy="219456"/>
          </a:xfrm>
          <a:prstGeom prst="ellipse">
            <a:avLst/>
          </a:prstGeom>
          <a:solidFill>
            <a:srgbClr val="02C39A"/>
          </a:solidFill>
          <a:ln w="12700">
            <a:solidFill>
              <a:srgbClr val="02C39A"/>
            </a:solidFill>
            <a:prstDash val="solid"/>
          </a:ln>
        </p:spPr>
      </p:sp>
      <p:sp>
        <p:nvSpPr>
          <p:cNvPr id="12" name="Text 10"/>
          <p:cNvSpPr/>
          <p:nvPr/>
        </p:nvSpPr>
        <p:spPr>
          <a:xfrm>
            <a:off x="3108960" y="1536192"/>
            <a:ext cx="1280160" cy="256032"/>
          </a:xfrm>
          <a:prstGeom prst="rect">
            <a:avLst/>
          </a:prstGeom>
          <a:noFill/>
          <a:ln/>
        </p:spPr>
        <p:txBody>
          <a:bodyPr wrap="square" lIns="0" tIns="0" rIns="0" bIns="0" rtlCol="0" anchor="ctr"/>
          <a:lstStyle/>
          <a:p>
            <a:pPr algn="ctr" indent="0" marL="0">
              <a:buNone/>
            </a:pPr>
            <a:r>
              <a:rPr lang="en-US" sz="1000" dirty="0">
                <a:solidFill>
                  <a:srgbClr val="334155"/>
                </a:solidFill>
              </a:rPr>
              <a:t>Mar 30</a:t>
            </a:r>
            <a:endParaRPr lang="en-US" sz="1000" dirty="0"/>
          </a:p>
        </p:txBody>
      </p:sp>
      <p:sp>
        <p:nvSpPr>
          <p:cNvPr id="13" name="Text 11"/>
          <p:cNvSpPr/>
          <p:nvPr/>
        </p:nvSpPr>
        <p:spPr>
          <a:xfrm>
            <a:off x="3108960" y="804672"/>
            <a:ext cx="1280160" cy="347472"/>
          </a:xfrm>
          <a:prstGeom prst="rect">
            <a:avLst/>
          </a:prstGeom>
          <a:noFill/>
          <a:ln/>
        </p:spPr>
        <p:txBody>
          <a:bodyPr wrap="square" lIns="0" tIns="0" rIns="0" bIns="0" rtlCol="0" anchor="ctr"/>
          <a:lstStyle/>
          <a:p>
            <a:pPr algn="ctr" indent="0" marL="0">
              <a:buNone/>
            </a:pPr>
            <a:r>
              <a:rPr lang="en-US" sz="1100" b="1" dirty="0">
                <a:solidFill>
                  <a:srgbClr val="0D1B2A"/>
                </a:solidFill>
              </a:rPr>
              <a:t>SDD</a:t>
            </a:r>
            <a:endParaRPr lang="en-US" sz="1100" dirty="0"/>
          </a:p>
        </p:txBody>
      </p:sp>
      <p:sp>
        <p:nvSpPr>
          <p:cNvPr id="14" name="Shape 12"/>
          <p:cNvSpPr/>
          <p:nvPr/>
        </p:nvSpPr>
        <p:spPr>
          <a:xfrm>
            <a:off x="5285232" y="1280160"/>
            <a:ext cx="219456" cy="219456"/>
          </a:xfrm>
          <a:prstGeom prst="ellipse">
            <a:avLst/>
          </a:prstGeom>
          <a:solidFill>
            <a:srgbClr val="02C39A"/>
          </a:solidFill>
          <a:ln w="12700">
            <a:solidFill>
              <a:srgbClr val="02C39A"/>
            </a:solidFill>
            <a:prstDash val="solid"/>
          </a:ln>
        </p:spPr>
      </p:sp>
      <p:sp>
        <p:nvSpPr>
          <p:cNvPr id="15" name="Text 13"/>
          <p:cNvSpPr/>
          <p:nvPr/>
        </p:nvSpPr>
        <p:spPr>
          <a:xfrm>
            <a:off x="4754880" y="1536192"/>
            <a:ext cx="1280160" cy="256032"/>
          </a:xfrm>
          <a:prstGeom prst="rect">
            <a:avLst/>
          </a:prstGeom>
          <a:noFill/>
          <a:ln/>
        </p:spPr>
        <p:txBody>
          <a:bodyPr wrap="square" lIns="0" tIns="0" rIns="0" bIns="0" rtlCol="0" anchor="ctr"/>
          <a:lstStyle/>
          <a:p>
            <a:pPr algn="ctr" indent="0" marL="0">
              <a:buNone/>
            </a:pPr>
            <a:r>
              <a:rPr lang="en-US" sz="1000" dirty="0">
                <a:solidFill>
                  <a:srgbClr val="334155"/>
                </a:solidFill>
              </a:rPr>
              <a:t>Apr 14</a:t>
            </a:r>
            <a:endParaRPr lang="en-US" sz="1000" dirty="0"/>
          </a:p>
        </p:txBody>
      </p:sp>
      <p:sp>
        <p:nvSpPr>
          <p:cNvPr id="16" name="Text 14"/>
          <p:cNvSpPr/>
          <p:nvPr/>
        </p:nvSpPr>
        <p:spPr>
          <a:xfrm>
            <a:off x="4754880" y="804672"/>
            <a:ext cx="1280160" cy="347472"/>
          </a:xfrm>
          <a:prstGeom prst="rect">
            <a:avLst/>
          </a:prstGeom>
          <a:noFill/>
          <a:ln/>
        </p:spPr>
        <p:txBody>
          <a:bodyPr wrap="square" lIns="0" tIns="0" rIns="0" bIns="0" rtlCol="0" anchor="ctr"/>
          <a:lstStyle/>
          <a:p>
            <a:pPr algn="ctr" indent="0" marL="0">
              <a:buNone/>
            </a:pPr>
            <a:r>
              <a:rPr lang="en-US" sz="1100" b="1" dirty="0">
                <a:solidFill>
                  <a:srgbClr val="0D1B2A"/>
                </a:solidFill>
              </a:rPr>
              <a:t>Code</a:t>
            </a:r>
            <a:endParaRPr lang="en-US" sz="1100" dirty="0"/>
          </a:p>
        </p:txBody>
      </p:sp>
      <p:sp>
        <p:nvSpPr>
          <p:cNvPr id="17" name="Shape 15"/>
          <p:cNvSpPr/>
          <p:nvPr/>
        </p:nvSpPr>
        <p:spPr>
          <a:xfrm>
            <a:off x="6931152" y="1280160"/>
            <a:ext cx="219456" cy="219456"/>
          </a:xfrm>
          <a:prstGeom prst="ellipse">
            <a:avLst/>
          </a:prstGeom>
          <a:solidFill>
            <a:srgbClr val="02C39A"/>
          </a:solidFill>
          <a:ln w="12700">
            <a:solidFill>
              <a:srgbClr val="02C39A"/>
            </a:solidFill>
            <a:prstDash val="solid"/>
          </a:ln>
        </p:spPr>
      </p:sp>
      <p:sp>
        <p:nvSpPr>
          <p:cNvPr id="18" name="Text 16"/>
          <p:cNvSpPr/>
          <p:nvPr/>
        </p:nvSpPr>
        <p:spPr>
          <a:xfrm>
            <a:off x="6400800" y="1536192"/>
            <a:ext cx="1280160" cy="256032"/>
          </a:xfrm>
          <a:prstGeom prst="rect">
            <a:avLst/>
          </a:prstGeom>
          <a:noFill/>
          <a:ln/>
        </p:spPr>
        <p:txBody>
          <a:bodyPr wrap="square" lIns="0" tIns="0" rIns="0" bIns="0" rtlCol="0" anchor="ctr"/>
          <a:lstStyle/>
          <a:p>
            <a:pPr algn="ctr" indent="0" marL="0">
              <a:buNone/>
            </a:pPr>
            <a:r>
              <a:rPr lang="en-US" sz="1000" dirty="0">
                <a:solidFill>
                  <a:srgbClr val="334155"/>
                </a:solidFill>
              </a:rPr>
              <a:t>Apr 28</a:t>
            </a:r>
            <a:endParaRPr lang="en-US" sz="1000" dirty="0"/>
          </a:p>
        </p:txBody>
      </p:sp>
      <p:sp>
        <p:nvSpPr>
          <p:cNvPr id="19" name="Text 17"/>
          <p:cNvSpPr/>
          <p:nvPr/>
        </p:nvSpPr>
        <p:spPr>
          <a:xfrm>
            <a:off x="6400800" y="804672"/>
            <a:ext cx="1280160" cy="347472"/>
          </a:xfrm>
          <a:prstGeom prst="rect">
            <a:avLst/>
          </a:prstGeom>
          <a:noFill/>
          <a:ln/>
        </p:spPr>
        <p:txBody>
          <a:bodyPr wrap="square" lIns="0" tIns="0" rIns="0" bIns="0" rtlCol="0" anchor="ctr"/>
          <a:lstStyle/>
          <a:p>
            <a:pPr algn="ctr" indent="0" marL="0">
              <a:buNone/>
            </a:pPr>
            <a:r>
              <a:rPr lang="en-US" sz="1100" b="1" dirty="0">
                <a:solidFill>
                  <a:srgbClr val="0D1B2A"/>
                </a:solidFill>
              </a:rPr>
              <a:t>STD</a:t>
            </a:r>
            <a:endParaRPr lang="en-US" sz="1100" dirty="0"/>
          </a:p>
        </p:txBody>
      </p:sp>
      <p:sp>
        <p:nvSpPr>
          <p:cNvPr id="20" name="Shape 18"/>
          <p:cNvSpPr/>
          <p:nvPr/>
        </p:nvSpPr>
        <p:spPr>
          <a:xfrm>
            <a:off x="8577072" y="1280160"/>
            <a:ext cx="219456" cy="219456"/>
          </a:xfrm>
          <a:prstGeom prst="ellipse">
            <a:avLst/>
          </a:prstGeom>
          <a:solidFill>
            <a:srgbClr val="02C39A"/>
          </a:solidFill>
          <a:ln w="12700">
            <a:solidFill>
              <a:srgbClr val="02C39A"/>
            </a:solidFill>
            <a:prstDash val="solid"/>
          </a:ln>
        </p:spPr>
      </p:sp>
      <p:sp>
        <p:nvSpPr>
          <p:cNvPr id="21" name="Text 19"/>
          <p:cNvSpPr/>
          <p:nvPr/>
        </p:nvSpPr>
        <p:spPr>
          <a:xfrm>
            <a:off x="8046720" y="1536192"/>
            <a:ext cx="1280160" cy="256032"/>
          </a:xfrm>
          <a:prstGeom prst="rect">
            <a:avLst/>
          </a:prstGeom>
          <a:noFill/>
          <a:ln/>
        </p:spPr>
        <p:txBody>
          <a:bodyPr wrap="square" lIns="0" tIns="0" rIns="0" bIns="0" rtlCol="0" anchor="ctr"/>
          <a:lstStyle/>
          <a:p>
            <a:pPr algn="ctr" indent="0" marL="0">
              <a:buNone/>
            </a:pPr>
            <a:r>
              <a:rPr lang="en-US" sz="1000" dirty="0">
                <a:solidFill>
                  <a:srgbClr val="334155"/>
                </a:solidFill>
              </a:rPr>
              <a:t>May 8</a:t>
            </a:r>
            <a:endParaRPr lang="en-US" sz="1000" dirty="0"/>
          </a:p>
        </p:txBody>
      </p:sp>
      <p:sp>
        <p:nvSpPr>
          <p:cNvPr id="22" name="Text 20"/>
          <p:cNvSpPr/>
          <p:nvPr/>
        </p:nvSpPr>
        <p:spPr>
          <a:xfrm>
            <a:off x="8046720" y="804672"/>
            <a:ext cx="1280160" cy="347472"/>
          </a:xfrm>
          <a:prstGeom prst="rect">
            <a:avLst/>
          </a:prstGeom>
          <a:noFill/>
          <a:ln/>
        </p:spPr>
        <p:txBody>
          <a:bodyPr wrap="square" lIns="0" tIns="0" rIns="0" bIns="0" rtlCol="0" anchor="ctr"/>
          <a:lstStyle/>
          <a:p>
            <a:pPr algn="ctr" indent="0" marL="0">
              <a:buNone/>
            </a:pPr>
            <a:r>
              <a:rPr lang="en-US" sz="1100" b="1" dirty="0">
                <a:solidFill>
                  <a:srgbClr val="0D1B2A"/>
                </a:solidFill>
              </a:rPr>
              <a:t>Launch</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28600" y="1920240"/>
          <a:ext cx="8686800" cy="2971800"/>
        </p:xfrm>
        <a:graphic>
          <a:graphicData uri="http://schemas.openxmlformats.org/drawingml/2006/table">
            <a:tbl>
              <a:tblPr/>
              <a:tblGrid>
                <a:gridCol w="2286000"/>
                <a:gridCol w="457200"/>
                <a:gridCol w="914400"/>
                <a:gridCol w="2286000"/>
                <a:gridCol w="457200"/>
                <a:gridCol w="914400"/>
              </a:tblGrid>
              <a:tr h="424543">
                <a:tc>
                  <a:txBody>
                    <a:bodyPr/>
                    <a:lstStyle/>
                    <a:p>
                      <a:pPr indent="0" marL="0">
                        <a:buNone/>
                      </a:pPr>
                      <a:r>
                        <a:rPr lang="en-US" sz="950" b="1" dirty="0">
                          <a:solidFill>
                            <a:srgbClr val="FFFFFF"/>
                          </a:solidFill>
                        </a:rPr>
                        <a:t>Work Package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28090"/>
                    </a:solidFill>
                  </a:tcPr>
                </a:tc>
                <a:tc>
                  <a:txBody>
                    <a:bodyPr/>
                    <a:lstStyle/>
                    <a:p>
                      <a:pPr indent="0" marL="0">
                        <a:buNone/>
                      </a:pPr>
                      <a:r>
                        <a:rPr lang="en-US" sz="950" b="1" dirty="0">
                          <a:solidFill>
                            <a:srgbClr val="FFFFFF"/>
                          </a:solidFill>
                        </a:rPr>
                        <a:t>Hrs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28090"/>
                    </a:solidFill>
                  </a:tcPr>
                </a:tc>
                <a:tc>
                  <a:txBody>
                    <a:bodyPr/>
                    <a:lstStyle/>
                    <a:p>
                      <a:pPr indent="0" marL="0">
                        <a:buNone/>
                      </a:pPr>
                      <a:r>
                        <a:rPr lang="en-US" sz="950" b="1" dirty="0">
                          <a:solidFill>
                            <a:srgbClr val="FFFFFF"/>
                          </a:solidFill>
                        </a:rPr>
                        <a:t>Owner</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28090"/>
                    </a:solidFill>
                  </a:tcPr>
                </a:tc>
                <a:tc>
                  <a:txBody>
                    <a:bodyPr/>
                    <a:lstStyle/>
                    <a:p>
                      <a:pPr indent="0" marL="0">
                        <a:buNone/>
                      </a:pPr>
                      <a:r>
                        <a:rPr lang="en-US" sz="950" b="1" dirty="0">
                          <a:solidFill>
                            <a:srgbClr val="FFFFFF"/>
                          </a:solidFill>
                        </a:rPr>
                        <a:t>Work Package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28090"/>
                    </a:solidFill>
                  </a:tcPr>
                </a:tc>
                <a:tc>
                  <a:txBody>
                    <a:bodyPr/>
                    <a:lstStyle/>
                    <a:p>
                      <a:pPr indent="0" marL="0">
                        <a:buNone/>
                      </a:pPr>
                      <a:r>
                        <a:rPr lang="en-US" sz="950" b="1" dirty="0">
                          <a:solidFill>
                            <a:srgbClr val="FFFFFF"/>
                          </a:solidFill>
                        </a:rPr>
                        <a:t>Hrs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28090"/>
                    </a:solidFill>
                  </a:tcPr>
                </a:tc>
                <a:tc>
                  <a:txBody>
                    <a:bodyPr/>
                    <a:lstStyle/>
                    <a:p>
                      <a:pPr indent="0" marL="0">
                        <a:buNone/>
                      </a:pPr>
                      <a:r>
                        <a:rPr lang="en-US" sz="950" b="1" dirty="0">
                          <a:solidFill>
                            <a:srgbClr val="FFFFFF"/>
                          </a:solidFill>
                        </a:rPr>
                        <a:t>Owner</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28090"/>
                    </a:solidFill>
                  </a:tcPr>
                </a:tc>
              </a:tr>
              <a:tr h="424543">
                <a:tc>
                  <a:txBody>
                    <a:bodyPr/>
                    <a:lstStyle/>
                    <a:p>
                      <a:pPr indent="0" marL="0">
                        <a:buNone/>
                      </a:pPr>
                      <a:r>
                        <a:rPr lang="en-US" sz="950" dirty="0">
                          <a:solidFill>
                            <a:srgbClr val="334155"/>
                          </a:solidFill>
                        </a:rPr>
                        <a:t>WP-1: Project Management</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80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Vineeth</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WP-7: IBN Interface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30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Bharadwaj</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4543">
                <a:tc>
                  <a:txBody>
                    <a:bodyPr/>
                    <a:lstStyle/>
                    <a:p>
                      <a:pPr indent="0" marL="0">
                        <a:buNone/>
                      </a:pPr>
                      <a:r>
                        <a:rPr lang="en-US" sz="950" dirty="0">
                          <a:solidFill>
                            <a:srgbClr val="334155"/>
                          </a:solidFill>
                        </a:rPr>
                        <a:t>WP-2: Requirements Engineering</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80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Meghana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WP-8: Health Scoreboard</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30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Meghana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r>
              <a:tr h="424543">
                <a:tc>
                  <a:txBody>
                    <a:bodyPr/>
                    <a:lstStyle/>
                    <a:p>
                      <a:pPr indent="0" marL="0">
                        <a:buNone/>
                      </a:pPr>
                      <a:r>
                        <a:rPr lang="en-US" sz="950" dirty="0">
                          <a:solidFill>
                            <a:srgbClr val="334155"/>
                          </a:solidFill>
                        </a:rPr>
                        <a:t>WP-3: Architecture &amp; Design</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90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Bharadwaj</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WP-9: Backend API Layer</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40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Vineeth</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4543">
                <a:tc>
                  <a:txBody>
                    <a:bodyPr/>
                    <a:lstStyle/>
                    <a:p>
                      <a:pPr indent="0" marL="0">
                        <a:buNone/>
                      </a:pPr>
                      <a:r>
                        <a:rPr lang="en-US" sz="950" dirty="0">
                          <a:solidFill>
                            <a:srgbClr val="334155"/>
                          </a:solidFill>
                        </a:rPr>
                        <a:t>WP-4: LSTM Engine Development</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60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Sricharitha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WP-10: Testing &amp; QA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40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Bharadwaj</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r>
              <a:tr h="424543">
                <a:tc>
                  <a:txBody>
                    <a:bodyPr/>
                    <a:lstStyle/>
                    <a:p>
                      <a:pPr indent="0" marL="0">
                        <a:buNone/>
                      </a:pPr>
                      <a:r>
                        <a:rPr lang="en-US" sz="950" dirty="0">
                          <a:solidFill>
                            <a:srgbClr val="334155"/>
                          </a:solidFill>
                        </a:rPr>
                        <a:t>WP-5: Traffic Steering Module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40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Vineeth</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WP-11: Config Mgmt / DevOps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20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rPr>
                        <a:t>Sricharitha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4543">
                <a:tc>
                  <a:txBody>
                    <a:bodyPr/>
                    <a:lstStyle/>
                    <a:p>
                      <a:pPr indent="0" marL="0">
                        <a:buNone/>
                      </a:pPr>
                      <a:r>
                        <a:rPr lang="en-US" sz="950" dirty="0">
                          <a:solidFill>
                            <a:srgbClr val="334155"/>
                          </a:solidFill>
                        </a:rPr>
                        <a:t>WP-6: Digital Twin Sandbox</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40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Sricharitha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WP-12: Documentation &amp; Demos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50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950" dirty="0">
                          <a:solidFill>
                            <a:srgbClr val="334155"/>
                          </a:solidFill>
                        </a:rPr>
                        <a:t>All</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r>
            </a:tbl>
          </a:graphicData>
        </a:graphic>
      </p:graphicFrame>
      <p:sp>
        <p:nvSpPr>
          <p:cNvPr id="24" name="Text 21"/>
          <p:cNvSpPr/>
          <p:nvPr/>
        </p:nvSpPr>
        <p:spPr>
          <a:xfrm>
            <a:off x="228600" y="4892040"/>
            <a:ext cx="8686800" cy="228600"/>
          </a:xfrm>
          <a:prstGeom prst="rect">
            <a:avLst/>
          </a:prstGeom>
          <a:noFill/>
          <a:ln/>
        </p:spPr>
        <p:txBody>
          <a:bodyPr wrap="square" lIns="0" tIns="0" rIns="0" bIns="0" rtlCol="0" anchor="ctr"/>
          <a:lstStyle/>
          <a:p>
            <a:pPr algn="ctr" indent="0" marL="0">
              <a:buNone/>
            </a:pPr>
            <a:r>
              <a:rPr lang="en-US" sz="1000" dirty="0">
                <a:solidFill>
                  <a:srgbClr val="94A3B8"/>
                </a:solidFill>
              </a:rPr>
              <a:t>Total: 600 man-hours  ·  Team of 4  ·  Feb 3 – May 8, 2026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200" b="1" dirty="0">
                <a:solidFill>
                  <a:srgbClr val="FFFFFF"/>
                </a:solidFill>
              </a:rPr>
              <a:t>Testing &amp; Validation Strategy</a:t>
            </a:r>
            <a:endParaRPr lang="en-US" sz="2200" dirty="0"/>
          </a:p>
        </p:txBody>
      </p:sp>
      <p:sp>
        <p:nvSpPr>
          <p:cNvPr id="4" name="Shape 2"/>
          <p:cNvSpPr/>
          <p:nvPr/>
        </p:nvSpPr>
        <p:spPr>
          <a:xfrm>
            <a:off x="228600" y="804672"/>
            <a:ext cx="8686800" cy="7132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5" name="Shape 3"/>
          <p:cNvSpPr/>
          <p:nvPr/>
        </p:nvSpPr>
        <p:spPr>
          <a:xfrm>
            <a:off x="228600" y="804672"/>
            <a:ext cx="64008" cy="713232"/>
          </a:xfrm>
          <a:prstGeom prst="rect">
            <a:avLst/>
          </a:prstGeom>
          <a:solidFill>
            <a:srgbClr val="028090"/>
          </a:solidFill>
          <a:ln/>
        </p:spPr>
      </p:sp>
      <p:sp>
        <p:nvSpPr>
          <p:cNvPr id="6" name="Shape 4"/>
          <p:cNvSpPr/>
          <p:nvPr/>
        </p:nvSpPr>
        <p:spPr>
          <a:xfrm>
            <a:off x="329184" y="941832"/>
            <a:ext cx="384048" cy="384048"/>
          </a:xfrm>
          <a:prstGeom prst="ellipse">
            <a:avLst/>
          </a:prstGeom>
          <a:solidFill>
            <a:srgbClr val="0D1B2A"/>
          </a:solidFill>
          <a:ln w="12700">
            <a:solidFill>
              <a:srgbClr val="0D1B2A"/>
            </a:solidFill>
            <a:prstDash val="solid"/>
          </a:ln>
        </p:spPr>
      </p:sp>
      <p:sp>
        <p:nvSpPr>
          <p:cNvPr id="7" name="Text 5"/>
          <p:cNvSpPr/>
          <p:nvPr/>
        </p:nvSpPr>
        <p:spPr>
          <a:xfrm>
            <a:off x="329184" y="941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6"/>
          <p:cNvSpPr/>
          <p:nvPr/>
        </p:nvSpPr>
        <p:spPr>
          <a:xfrm>
            <a:off x="804672" y="859536"/>
            <a:ext cx="2286000" cy="274320"/>
          </a:xfrm>
          <a:prstGeom prst="rect">
            <a:avLst/>
          </a:prstGeom>
          <a:noFill/>
          <a:ln/>
        </p:spPr>
        <p:txBody>
          <a:bodyPr wrap="square" lIns="0" tIns="0" rIns="0" bIns="0" rtlCol="0" anchor="ctr"/>
          <a:lstStyle/>
          <a:p>
            <a:pPr indent="0" marL="0">
              <a:buNone/>
            </a:pPr>
            <a:r>
              <a:rPr lang="en-US" sz="1200" b="1" dirty="0">
                <a:solidFill>
                  <a:srgbClr val="0D1B2A"/>
                </a:solidFill>
              </a:rPr>
              <a:t>Unit Testing</a:t>
            </a:r>
            <a:endParaRPr lang="en-US" sz="1200" dirty="0"/>
          </a:p>
        </p:txBody>
      </p:sp>
      <p:sp>
        <p:nvSpPr>
          <p:cNvPr id="9" name="Text 7"/>
          <p:cNvSpPr/>
          <p:nvPr/>
        </p:nvSpPr>
        <p:spPr>
          <a:xfrm>
            <a:off x="804672" y="1152144"/>
            <a:ext cx="5029200" cy="329184"/>
          </a:xfrm>
          <a:prstGeom prst="rect">
            <a:avLst/>
          </a:prstGeom>
          <a:noFill/>
          <a:ln/>
        </p:spPr>
        <p:txBody>
          <a:bodyPr wrap="square" lIns="0" tIns="0" rIns="0" bIns="0" rtlCol="0" anchor="ctr"/>
          <a:lstStyle/>
          <a:p>
            <a:pPr indent="0" marL="0">
              <a:buNone/>
            </a:pPr>
            <a:r>
              <a:rPr lang="en-US" sz="950" dirty="0">
                <a:solidFill>
                  <a:srgbClr val="334155"/>
                </a:solidFill>
              </a:rPr>
              <a:t>Isolated testing of all 14 modules (TelemetrySvc, LSTMEngine, HealthCalc, IBNTransltr, etc.) with mock dependencies</a:t>
            </a:r>
            <a:endParaRPr lang="en-US" sz="950" dirty="0"/>
          </a:p>
        </p:txBody>
      </p:sp>
      <p:sp>
        <p:nvSpPr>
          <p:cNvPr id="10" name="Shape 8"/>
          <p:cNvSpPr/>
          <p:nvPr/>
        </p:nvSpPr>
        <p:spPr>
          <a:xfrm>
            <a:off x="5989320" y="896112"/>
            <a:ext cx="2834640" cy="530352"/>
          </a:xfrm>
          <a:prstGeom prst="rect">
            <a:avLst/>
          </a:prstGeom>
          <a:solidFill>
            <a:srgbClr val="F0F4F8"/>
          </a:solidFill>
          <a:ln/>
        </p:spPr>
      </p:sp>
      <p:sp>
        <p:nvSpPr>
          <p:cNvPr id="11" name="Text 9"/>
          <p:cNvSpPr/>
          <p:nvPr/>
        </p:nvSpPr>
        <p:spPr>
          <a:xfrm>
            <a:off x="6035040" y="896112"/>
            <a:ext cx="2743200" cy="530352"/>
          </a:xfrm>
          <a:prstGeom prst="rect">
            <a:avLst/>
          </a:prstGeom>
          <a:noFill/>
          <a:ln/>
        </p:spPr>
        <p:txBody>
          <a:bodyPr wrap="square" lIns="0" tIns="0" rIns="0" bIns="0" rtlCol="0" anchor="ctr"/>
          <a:lstStyle/>
          <a:p>
            <a:pPr indent="0" marL="0">
              <a:buNone/>
            </a:pPr>
            <a:r>
              <a:rPr lang="en-US" sz="900" dirty="0">
                <a:solidFill>
                  <a:srgbClr val="028090"/>
                </a:solidFill>
              </a:rPr>
              <a:t>100% module coverage · Input boundary cases · Error path validation</a:t>
            </a:r>
            <a:endParaRPr lang="en-US" sz="900" dirty="0"/>
          </a:p>
        </p:txBody>
      </p:sp>
      <p:sp>
        <p:nvSpPr>
          <p:cNvPr id="12" name="Shape 10"/>
          <p:cNvSpPr/>
          <p:nvPr/>
        </p:nvSpPr>
        <p:spPr>
          <a:xfrm>
            <a:off x="228600" y="1627632"/>
            <a:ext cx="8686800" cy="7132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228600" y="1627632"/>
            <a:ext cx="64008" cy="713232"/>
          </a:xfrm>
          <a:prstGeom prst="rect">
            <a:avLst/>
          </a:prstGeom>
          <a:solidFill>
            <a:srgbClr val="028090"/>
          </a:solidFill>
          <a:ln/>
        </p:spPr>
      </p:sp>
      <p:sp>
        <p:nvSpPr>
          <p:cNvPr id="14" name="Shape 12"/>
          <p:cNvSpPr/>
          <p:nvPr/>
        </p:nvSpPr>
        <p:spPr>
          <a:xfrm>
            <a:off x="329184" y="1764792"/>
            <a:ext cx="384048" cy="384048"/>
          </a:xfrm>
          <a:prstGeom prst="ellipse">
            <a:avLst/>
          </a:prstGeom>
          <a:solidFill>
            <a:srgbClr val="0D1B2A"/>
          </a:solidFill>
          <a:ln w="12700">
            <a:solidFill>
              <a:srgbClr val="0D1B2A"/>
            </a:solidFill>
            <a:prstDash val="solid"/>
          </a:ln>
        </p:spPr>
      </p:sp>
      <p:sp>
        <p:nvSpPr>
          <p:cNvPr id="15" name="Text 13"/>
          <p:cNvSpPr/>
          <p:nvPr/>
        </p:nvSpPr>
        <p:spPr>
          <a:xfrm>
            <a:off x="329184" y="17647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6" name="Text 14"/>
          <p:cNvSpPr/>
          <p:nvPr/>
        </p:nvSpPr>
        <p:spPr>
          <a:xfrm>
            <a:off x="804672" y="1682496"/>
            <a:ext cx="2286000" cy="274320"/>
          </a:xfrm>
          <a:prstGeom prst="rect">
            <a:avLst/>
          </a:prstGeom>
          <a:noFill/>
          <a:ln/>
        </p:spPr>
        <p:txBody>
          <a:bodyPr wrap="square" lIns="0" tIns="0" rIns="0" bIns="0" rtlCol="0" anchor="ctr"/>
          <a:lstStyle/>
          <a:p>
            <a:pPr indent="0" marL="0">
              <a:buNone/>
            </a:pPr>
            <a:r>
              <a:rPr lang="en-US" sz="1200" b="1" dirty="0">
                <a:solidFill>
                  <a:srgbClr val="0D1B2A"/>
                </a:solidFill>
              </a:rPr>
              <a:t>Integration Testing</a:t>
            </a:r>
            <a:endParaRPr lang="en-US" sz="1200" dirty="0"/>
          </a:p>
        </p:txBody>
      </p:sp>
      <p:sp>
        <p:nvSpPr>
          <p:cNvPr id="17" name="Text 15"/>
          <p:cNvSpPr/>
          <p:nvPr/>
        </p:nvSpPr>
        <p:spPr>
          <a:xfrm>
            <a:off x="804672" y="1975104"/>
            <a:ext cx="5029200" cy="329184"/>
          </a:xfrm>
          <a:prstGeom prst="rect">
            <a:avLst/>
          </a:prstGeom>
          <a:noFill/>
          <a:ln/>
        </p:spPr>
        <p:txBody>
          <a:bodyPr wrap="square" lIns="0" tIns="0" rIns="0" bIns="0" rtlCol="0" anchor="ctr"/>
          <a:lstStyle/>
          <a:p>
            <a:pPr indent="0" marL="0">
              <a:buNone/>
            </a:pPr>
            <a:r>
              <a:rPr lang="en-US" sz="950" dirty="0">
                <a:solidFill>
                  <a:srgbClr val="334155"/>
                </a:solidFill>
              </a:rPr>
              <a:t>End-to-end flows: Telemetry → LSTM → Health Score → Sandbox → SDN Adapter; Redis pub/sub message integrity verified</a:t>
            </a:r>
            <a:endParaRPr lang="en-US" sz="950" dirty="0"/>
          </a:p>
        </p:txBody>
      </p:sp>
      <p:sp>
        <p:nvSpPr>
          <p:cNvPr id="18" name="Shape 16"/>
          <p:cNvSpPr/>
          <p:nvPr/>
        </p:nvSpPr>
        <p:spPr>
          <a:xfrm>
            <a:off x="5989320" y="1719072"/>
            <a:ext cx="2834640" cy="530352"/>
          </a:xfrm>
          <a:prstGeom prst="rect">
            <a:avLst/>
          </a:prstGeom>
          <a:solidFill>
            <a:srgbClr val="F0F4F8"/>
          </a:solidFill>
          <a:ln/>
        </p:spPr>
      </p:sp>
      <p:sp>
        <p:nvSpPr>
          <p:cNvPr id="19" name="Text 17"/>
          <p:cNvSpPr/>
          <p:nvPr/>
        </p:nvSpPr>
        <p:spPr>
          <a:xfrm>
            <a:off x="6035040" y="1719072"/>
            <a:ext cx="2743200" cy="530352"/>
          </a:xfrm>
          <a:prstGeom prst="rect">
            <a:avLst/>
          </a:prstGeom>
          <a:noFill/>
          <a:ln/>
        </p:spPr>
        <p:txBody>
          <a:bodyPr wrap="square" lIns="0" tIns="0" rIns="0" bIns="0" rtlCol="0" anchor="ctr"/>
          <a:lstStyle/>
          <a:p>
            <a:pPr indent="0" marL="0">
              <a:buNone/>
            </a:pPr>
            <a:r>
              <a:rPr lang="en-US" sz="900" dirty="0">
                <a:solidFill>
                  <a:srgbClr val="028090"/>
                </a:solidFill>
              </a:rPr>
              <a:t>Inter-service data contracts · Message latency benchmarks</a:t>
            </a:r>
            <a:endParaRPr lang="en-US" sz="900" dirty="0"/>
          </a:p>
        </p:txBody>
      </p:sp>
      <p:sp>
        <p:nvSpPr>
          <p:cNvPr id="20" name="Shape 18"/>
          <p:cNvSpPr/>
          <p:nvPr/>
        </p:nvSpPr>
        <p:spPr>
          <a:xfrm>
            <a:off x="228600" y="2450592"/>
            <a:ext cx="8686800" cy="7132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1" name="Shape 19"/>
          <p:cNvSpPr/>
          <p:nvPr/>
        </p:nvSpPr>
        <p:spPr>
          <a:xfrm>
            <a:off x="228600" y="2450592"/>
            <a:ext cx="64008" cy="713232"/>
          </a:xfrm>
          <a:prstGeom prst="rect">
            <a:avLst/>
          </a:prstGeom>
          <a:solidFill>
            <a:srgbClr val="028090"/>
          </a:solidFill>
          <a:ln/>
        </p:spPr>
      </p:sp>
      <p:sp>
        <p:nvSpPr>
          <p:cNvPr id="22" name="Shape 20"/>
          <p:cNvSpPr/>
          <p:nvPr/>
        </p:nvSpPr>
        <p:spPr>
          <a:xfrm>
            <a:off x="329184" y="2587752"/>
            <a:ext cx="384048" cy="384048"/>
          </a:xfrm>
          <a:prstGeom prst="ellipse">
            <a:avLst/>
          </a:prstGeom>
          <a:solidFill>
            <a:srgbClr val="0D1B2A"/>
          </a:solidFill>
          <a:ln w="12700">
            <a:solidFill>
              <a:srgbClr val="0D1B2A"/>
            </a:solidFill>
            <a:prstDash val="solid"/>
          </a:ln>
        </p:spPr>
      </p:sp>
      <p:sp>
        <p:nvSpPr>
          <p:cNvPr id="23" name="Text 21"/>
          <p:cNvSpPr/>
          <p:nvPr/>
        </p:nvSpPr>
        <p:spPr>
          <a:xfrm>
            <a:off x="329184" y="2587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4" name="Text 22"/>
          <p:cNvSpPr/>
          <p:nvPr/>
        </p:nvSpPr>
        <p:spPr>
          <a:xfrm>
            <a:off x="804672" y="2505456"/>
            <a:ext cx="2286000" cy="274320"/>
          </a:xfrm>
          <a:prstGeom prst="rect">
            <a:avLst/>
          </a:prstGeom>
          <a:noFill/>
          <a:ln/>
        </p:spPr>
        <p:txBody>
          <a:bodyPr wrap="square" lIns="0" tIns="0" rIns="0" bIns="0" rtlCol="0" anchor="ctr"/>
          <a:lstStyle/>
          <a:p>
            <a:pPr indent="0" marL="0">
              <a:buNone/>
            </a:pPr>
            <a:r>
              <a:rPr lang="en-US" sz="1200" b="1" dirty="0">
                <a:solidFill>
                  <a:srgbClr val="0D1B2A"/>
                </a:solidFill>
              </a:rPr>
              <a:t>LSTM Model Validation</a:t>
            </a:r>
            <a:endParaRPr lang="en-US" sz="1200" dirty="0"/>
          </a:p>
        </p:txBody>
      </p:sp>
      <p:sp>
        <p:nvSpPr>
          <p:cNvPr id="25" name="Text 23"/>
          <p:cNvSpPr/>
          <p:nvPr/>
        </p:nvSpPr>
        <p:spPr>
          <a:xfrm>
            <a:off x="804672" y="2798064"/>
            <a:ext cx="5029200" cy="329184"/>
          </a:xfrm>
          <a:prstGeom prst="rect">
            <a:avLst/>
          </a:prstGeom>
          <a:noFill/>
          <a:ln/>
        </p:spPr>
        <p:txBody>
          <a:bodyPr wrap="square" lIns="0" tIns="0" rIns="0" bIns="0" rtlCol="0" anchor="ctr"/>
          <a:lstStyle/>
          <a:p>
            <a:pPr indent="0" marL="0">
              <a:buNone/>
            </a:pPr>
            <a:r>
              <a:rPr lang="en-US" sz="950" dirty="0">
                <a:solidFill>
                  <a:srgbClr val="334155"/>
                </a:solidFill>
              </a:rPr>
              <a:t>Model trained on Mininet-generated synthetic telemetry datasets; validated using k-fold cross-validation</a:t>
            </a:r>
            <a:endParaRPr lang="en-US" sz="950" dirty="0"/>
          </a:p>
        </p:txBody>
      </p:sp>
      <p:sp>
        <p:nvSpPr>
          <p:cNvPr id="26" name="Shape 24"/>
          <p:cNvSpPr/>
          <p:nvPr/>
        </p:nvSpPr>
        <p:spPr>
          <a:xfrm>
            <a:off x="5989320" y="2542032"/>
            <a:ext cx="2834640" cy="530352"/>
          </a:xfrm>
          <a:prstGeom prst="rect">
            <a:avLst/>
          </a:prstGeom>
          <a:solidFill>
            <a:srgbClr val="F0F4F8"/>
          </a:solidFill>
          <a:ln/>
        </p:spPr>
      </p:sp>
      <p:sp>
        <p:nvSpPr>
          <p:cNvPr id="27" name="Text 25"/>
          <p:cNvSpPr/>
          <p:nvPr/>
        </p:nvSpPr>
        <p:spPr>
          <a:xfrm>
            <a:off x="6035040" y="2542032"/>
            <a:ext cx="2743200" cy="530352"/>
          </a:xfrm>
          <a:prstGeom prst="rect">
            <a:avLst/>
          </a:prstGeom>
          <a:noFill/>
          <a:ln/>
        </p:spPr>
        <p:txBody>
          <a:bodyPr wrap="square" lIns="0" tIns="0" rIns="0" bIns="0" rtlCol="0" anchor="ctr"/>
          <a:lstStyle/>
          <a:p>
            <a:pPr indent="0" marL="0">
              <a:buNone/>
            </a:pPr>
            <a:r>
              <a:rPr lang="en-US" sz="900" dirty="0">
                <a:solidFill>
                  <a:srgbClr val="028090"/>
                </a:solidFill>
              </a:rPr>
              <a:t>Target: ≥ 90% MSE accuracy · Prediction horizon: 30–60 seconds</a:t>
            </a:r>
            <a:endParaRPr lang="en-US" sz="900" dirty="0"/>
          </a:p>
        </p:txBody>
      </p:sp>
      <p:sp>
        <p:nvSpPr>
          <p:cNvPr id="28" name="Shape 26"/>
          <p:cNvSpPr/>
          <p:nvPr/>
        </p:nvSpPr>
        <p:spPr>
          <a:xfrm>
            <a:off x="228600" y="3273552"/>
            <a:ext cx="8686800" cy="7132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9" name="Shape 27"/>
          <p:cNvSpPr/>
          <p:nvPr/>
        </p:nvSpPr>
        <p:spPr>
          <a:xfrm>
            <a:off x="228600" y="3273552"/>
            <a:ext cx="64008" cy="713232"/>
          </a:xfrm>
          <a:prstGeom prst="rect">
            <a:avLst/>
          </a:prstGeom>
          <a:solidFill>
            <a:srgbClr val="028090"/>
          </a:solidFill>
          <a:ln/>
        </p:spPr>
      </p:sp>
      <p:sp>
        <p:nvSpPr>
          <p:cNvPr id="30" name="Shape 28"/>
          <p:cNvSpPr/>
          <p:nvPr/>
        </p:nvSpPr>
        <p:spPr>
          <a:xfrm>
            <a:off x="329184" y="3410712"/>
            <a:ext cx="384048" cy="384048"/>
          </a:xfrm>
          <a:prstGeom prst="ellipse">
            <a:avLst/>
          </a:prstGeom>
          <a:solidFill>
            <a:srgbClr val="0D1B2A"/>
          </a:solidFill>
          <a:ln w="12700">
            <a:solidFill>
              <a:srgbClr val="0D1B2A"/>
            </a:solidFill>
            <a:prstDash val="solid"/>
          </a:ln>
        </p:spPr>
      </p:sp>
      <p:sp>
        <p:nvSpPr>
          <p:cNvPr id="31" name="Text 29"/>
          <p:cNvSpPr/>
          <p:nvPr/>
        </p:nvSpPr>
        <p:spPr>
          <a:xfrm>
            <a:off x="329184" y="34107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2" name="Text 30"/>
          <p:cNvSpPr/>
          <p:nvPr/>
        </p:nvSpPr>
        <p:spPr>
          <a:xfrm>
            <a:off x="804672" y="3328416"/>
            <a:ext cx="2286000" cy="274320"/>
          </a:xfrm>
          <a:prstGeom prst="rect">
            <a:avLst/>
          </a:prstGeom>
          <a:noFill/>
          <a:ln/>
        </p:spPr>
        <p:txBody>
          <a:bodyPr wrap="square" lIns="0" tIns="0" rIns="0" bIns="0" rtlCol="0" anchor="ctr"/>
          <a:lstStyle/>
          <a:p>
            <a:pPr indent="0" marL="0">
              <a:buNone/>
            </a:pPr>
            <a:r>
              <a:rPr lang="en-US" sz="1200" b="1" dirty="0">
                <a:solidFill>
                  <a:srgbClr val="0D1B2A"/>
                </a:solidFill>
              </a:rPr>
              <a:t>Performance Testing</a:t>
            </a:r>
            <a:endParaRPr lang="en-US" sz="1200" dirty="0"/>
          </a:p>
        </p:txBody>
      </p:sp>
      <p:sp>
        <p:nvSpPr>
          <p:cNvPr id="33" name="Text 31"/>
          <p:cNvSpPr/>
          <p:nvPr/>
        </p:nvSpPr>
        <p:spPr>
          <a:xfrm>
            <a:off x="804672" y="3621024"/>
            <a:ext cx="5029200" cy="329184"/>
          </a:xfrm>
          <a:prstGeom prst="rect">
            <a:avLst/>
          </a:prstGeom>
          <a:noFill/>
          <a:ln/>
        </p:spPr>
        <p:txBody>
          <a:bodyPr wrap="square" lIns="0" tIns="0" rIns="0" bIns="0" rtlCol="0" anchor="ctr"/>
          <a:lstStyle/>
          <a:p>
            <a:pPr indent="0" marL="0">
              <a:buNone/>
            </a:pPr>
            <a:r>
              <a:rPr lang="en-US" sz="950" dirty="0">
                <a:solidFill>
                  <a:srgbClr val="334155"/>
                </a:solidFill>
              </a:rPr>
              <a:t>Load testing of Redis pub/sub pipeline; end-to-end steering latency measurement under simulated traffic</a:t>
            </a:r>
            <a:endParaRPr lang="en-US" sz="950" dirty="0"/>
          </a:p>
        </p:txBody>
      </p:sp>
      <p:sp>
        <p:nvSpPr>
          <p:cNvPr id="34" name="Shape 32"/>
          <p:cNvSpPr/>
          <p:nvPr/>
        </p:nvSpPr>
        <p:spPr>
          <a:xfrm>
            <a:off x="5989320" y="3364992"/>
            <a:ext cx="2834640" cy="530352"/>
          </a:xfrm>
          <a:prstGeom prst="rect">
            <a:avLst/>
          </a:prstGeom>
          <a:solidFill>
            <a:srgbClr val="F0F4F8"/>
          </a:solidFill>
          <a:ln/>
        </p:spPr>
      </p:sp>
      <p:sp>
        <p:nvSpPr>
          <p:cNvPr id="35" name="Text 33"/>
          <p:cNvSpPr/>
          <p:nvPr/>
        </p:nvSpPr>
        <p:spPr>
          <a:xfrm>
            <a:off x="6035040" y="3364992"/>
            <a:ext cx="2743200" cy="530352"/>
          </a:xfrm>
          <a:prstGeom prst="rect">
            <a:avLst/>
          </a:prstGeom>
          <a:noFill/>
          <a:ln/>
        </p:spPr>
        <p:txBody>
          <a:bodyPr wrap="square" lIns="0" tIns="0" rIns="0" bIns="0" rtlCol="0" anchor="ctr"/>
          <a:lstStyle/>
          <a:p>
            <a:pPr indent="0" marL="0">
              <a:buNone/>
            </a:pPr>
            <a:r>
              <a:rPr lang="en-US" sz="900" dirty="0">
                <a:solidFill>
                  <a:srgbClr val="028090"/>
                </a:solidFill>
              </a:rPr>
              <a:t>Failover target: &lt; 50ms · Dashboard response: &lt; 2s · Sandbox: &lt; 5s</a:t>
            </a:r>
            <a:endParaRPr lang="en-US" sz="900" dirty="0"/>
          </a:p>
        </p:txBody>
      </p:sp>
      <p:sp>
        <p:nvSpPr>
          <p:cNvPr id="36" name="Shape 34"/>
          <p:cNvSpPr/>
          <p:nvPr/>
        </p:nvSpPr>
        <p:spPr>
          <a:xfrm>
            <a:off x="228600" y="4096512"/>
            <a:ext cx="8686800" cy="7132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7" name="Shape 35"/>
          <p:cNvSpPr/>
          <p:nvPr/>
        </p:nvSpPr>
        <p:spPr>
          <a:xfrm>
            <a:off x="228600" y="4096512"/>
            <a:ext cx="64008" cy="713232"/>
          </a:xfrm>
          <a:prstGeom prst="rect">
            <a:avLst/>
          </a:prstGeom>
          <a:solidFill>
            <a:srgbClr val="028090"/>
          </a:solidFill>
          <a:ln/>
        </p:spPr>
      </p:sp>
      <p:sp>
        <p:nvSpPr>
          <p:cNvPr id="38" name="Shape 36"/>
          <p:cNvSpPr/>
          <p:nvPr/>
        </p:nvSpPr>
        <p:spPr>
          <a:xfrm>
            <a:off x="329184" y="4233672"/>
            <a:ext cx="384048" cy="384048"/>
          </a:xfrm>
          <a:prstGeom prst="ellipse">
            <a:avLst/>
          </a:prstGeom>
          <a:solidFill>
            <a:srgbClr val="0D1B2A"/>
          </a:solidFill>
          <a:ln w="12700">
            <a:solidFill>
              <a:srgbClr val="0D1B2A"/>
            </a:solidFill>
            <a:prstDash val="solid"/>
          </a:ln>
        </p:spPr>
      </p:sp>
      <p:sp>
        <p:nvSpPr>
          <p:cNvPr id="39" name="Text 37"/>
          <p:cNvSpPr/>
          <p:nvPr/>
        </p:nvSpPr>
        <p:spPr>
          <a:xfrm>
            <a:off x="329184" y="42336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40" name="Text 38"/>
          <p:cNvSpPr/>
          <p:nvPr/>
        </p:nvSpPr>
        <p:spPr>
          <a:xfrm>
            <a:off x="804672" y="4151376"/>
            <a:ext cx="2286000" cy="274320"/>
          </a:xfrm>
          <a:prstGeom prst="rect">
            <a:avLst/>
          </a:prstGeom>
          <a:noFill/>
          <a:ln/>
        </p:spPr>
        <p:txBody>
          <a:bodyPr wrap="square" lIns="0" tIns="0" rIns="0" bIns="0" rtlCol="0" anchor="ctr"/>
          <a:lstStyle/>
          <a:p>
            <a:pPr indent="0" marL="0">
              <a:buNone/>
            </a:pPr>
            <a:r>
              <a:rPr lang="en-US" sz="1200" b="1" dirty="0">
                <a:solidFill>
                  <a:srgbClr val="0D1B2A"/>
                </a:solidFill>
              </a:rPr>
              <a:t>System / Acceptance Testing</a:t>
            </a:r>
            <a:endParaRPr lang="en-US" sz="1200" dirty="0"/>
          </a:p>
        </p:txBody>
      </p:sp>
      <p:sp>
        <p:nvSpPr>
          <p:cNvPr id="41" name="Text 39"/>
          <p:cNvSpPr/>
          <p:nvPr/>
        </p:nvSpPr>
        <p:spPr>
          <a:xfrm>
            <a:off x="804672" y="4443984"/>
            <a:ext cx="5029200" cy="329184"/>
          </a:xfrm>
          <a:prstGeom prst="rect">
            <a:avLst/>
          </a:prstGeom>
          <a:noFill/>
          <a:ln/>
        </p:spPr>
        <p:txBody>
          <a:bodyPr wrap="square" lIns="0" tIns="0" rIns="0" bIns="0" rtlCol="0" anchor="ctr"/>
          <a:lstStyle/>
          <a:p>
            <a:pPr indent="0" marL="0">
              <a:buNone/>
            </a:pPr>
            <a:r>
              <a:rPr lang="en-US" sz="950" dirty="0">
                <a:solidFill>
                  <a:srgbClr val="334155"/>
                </a:solidFill>
              </a:rPr>
              <a:t>Full scenarios from predictive alert through hitless handoff, validated against all use cases in the SRS</a:t>
            </a:r>
            <a:endParaRPr lang="en-US" sz="950" dirty="0"/>
          </a:p>
        </p:txBody>
      </p:sp>
      <p:sp>
        <p:nvSpPr>
          <p:cNvPr id="42" name="Shape 40"/>
          <p:cNvSpPr/>
          <p:nvPr/>
        </p:nvSpPr>
        <p:spPr>
          <a:xfrm>
            <a:off x="5989320" y="4187952"/>
            <a:ext cx="2834640" cy="530352"/>
          </a:xfrm>
          <a:prstGeom prst="rect">
            <a:avLst/>
          </a:prstGeom>
          <a:solidFill>
            <a:srgbClr val="F0F4F8"/>
          </a:solidFill>
          <a:ln/>
        </p:spPr>
      </p:sp>
      <p:sp>
        <p:nvSpPr>
          <p:cNvPr id="43" name="Text 41"/>
          <p:cNvSpPr/>
          <p:nvPr/>
        </p:nvSpPr>
        <p:spPr>
          <a:xfrm>
            <a:off x="6035040" y="4187952"/>
            <a:ext cx="2743200" cy="530352"/>
          </a:xfrm>
          <a:prstGeom prst="rect">
            <a:avLst/>
          </a:prstGeom>
          <a:noFill/>
          <a:ln/>
        </p:spPr>
        <p:txBody>
          <a:bodyPr wrap="square" lIns="0" tIns="0" rIns="0" bIns="0" rtlCol="0" anchor="ctr"/>
          <a:lstStyle/>
          <a:p>
            <a:pPr indent="0" marL="0">
              <a:buNone/>
            </a:pPr>
            <a:r>
              <a:rPr lang="en-US" sz="900" dirty="0">
                <a:solidFill>
                  <a:srgbClr val="028090"/>
                </a:solidFill>
              </a:rPr>
              <a:t>All critical use cases pass · HIPAA audit log integrity verified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200" b="1" dirty="0">
                <a:solidFill>
                  <a:srgbClr val="FFFFFF"/>
                </a:solidFill>
              </a:rPr>
              <a:t>Results &amp; Quality Outcomes</a:t>
            </a:r>
            <a:endParaRPr lang="en-US" sz="2200" dirty="0"/>
          </a:p>
        </p:txBody>
      </p:sp>
      <p:sp>
        <p:nvSpPr>
          <p:cNvPr id="4" name="Shape 2"/>
          <p:cNvSpPr/>
          <p:nvPr/>
        </p:nvSpPr>
        <p:spPr>
          <a:xfrm>
            <a:off x="228600" y="804672"/>
            <a:ext cx="2724912" cy="1755648"/>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5" name="Shape 3"/>
          <p:cNvSpPr/>
          <p:nvPr/>
        </p:nvSpPr>
        <p:spPr>
          <a:xfrm>
            <a:off x="228600" y="804672"/>
            <a:ext cx="2724912" cy="54864"/>
          </a:xfrm>
          <a:prstGeom prst="rect">
            <a:avLst/>
          </a:prstGeom>
          <a:solidFill>
            <a:srgbClr val="02C39A"/>
          </a:solidFill>
          <a:ln/>
        </p:spPr>
      </p:sp>
      <p:sp>
        <p:nvSpPr>
          <p:cNvPr id="6" name="Text 4"/>
          <p:cNvSpPr/>
          <p:nvPr/>
        </p:nvSpPr>
        <p:spPr>
          <a:xfrm>
            <a:off x="274320" y="941832"/>
            <a:ext cx="2633472" cy="777240"/>
          </a:xfrm>
          <a:prstGeom prst="rect">
            <a:avLst/>
          </a:prstGeom>
          <a:noFill/>
          <a:ln/>
        </p:spPr>
        <p:txBody>
          <a:bodyPr wrap="square" lIns="0" tIns="0" rIns="0" bIns="0" rtlCol="0" anchor="ctr"/>
          <a:lstStyle/>
          <a:p>
            <a:pPr algn="ctr" indent="0" marL="0">
              <a:buNone/>
            </a:pPr>
            <a:r>
              <a:rPr lang="en-US" sz="3600" b="1" dirty="0">
                <a:solidFill>
                  <a:srgbClr val="02C39A"/>
                </a:solidFill>
              </a:rPr>
              <a:t>≥ 90%</a:t>
            </a:r>
            <a:endParaRPr lang="en-US" sz="3600" dirty="0"/>
          </a:p>
        </p:txBody>
      </p:sp>
      <p:sp>
        <p:nvSpPr>
          <p:cNvPr id="7" name="Text 5"/>
          <p:cNvSpPr/>
          <p:nvPr/>
        </p:nvSpPr>
        <p:spPr>
          <a:xfrm>
            <a:off x="274320" y="1737360"/>
            <a:ext cx="2633472" cy="411480"/>
          </a:xfrm>
          <a:prstGeom prst="rect">
            <a:avLst/>
          </a:prstGeom>
          <a:noFill/>
          <a:ln/>
        </p:spPr>
        <p:txBody>
          <a:bodyPr wrap="square" lIns="0" tIns="0" rIns="0" bIns="0" rtlCol="0" anchor="ctr"/>
          <a:lstStyle/>
          <a:p>
            <a:pPr algn="ctr" indent="0" marL="0">
              <a:buNone/>
            </a:pPr>
            <a:r>
              <a:rPr lang="en-US" sz="1200" b="1" dirty="0">
                <a:solidFill>
                  <a:srgbClr val="FFFFFF"/>
                </a:solidFill>
              </a:rPr>
              <a:t>LSTM Prediction</a:t>
            </a:r>
            <a:endParaRPr lang="en-US" sz="1200" dirty="0"/>
          </a:p>
          <a:p>
            <a:pPr algn="ctr" indent="0" marL="0">
              <a:buNone/>
            </a:pPr>
            <a:r>
              <a:rPr lang="en-US" sz="1200" b="1" dirty="0">
                <a:solidFill>
                  <a:srgbClr val="FFFFFF"/>
                </a:solidFill>
              </a:rPr>
              <a:t>Accuracy</a:t>
            </a:r>
            <a:endParaRPr lang="en-US" sz="1200" dirty="0"/>
          </a:p>
        </p:txBody>
      </p:sp>
      <p:sp>
        <p:nvSpPr>
          <p:cNvPr id="8" name="Text 6"/>
          <p:cNvSpPr/>
          <p:nvPr/>
        </p:nvSpPr>
        <p:spPr>
          <a:xfrm>
            <a:off x="274320" y="2194560"/>
            <a:ext cx="2633472" cy="274320"/>
          </a:xfrm>
          <a:prstGeom prst="rect">
            <a:avLst/>
          </a:prstGeom>
          <a:noFill/>
          <a:ln/>
        </p:spPr>
        <p:txBody>
          <a:bodyPr wrap="square" lIns="0" tIns="0" rIns="0" bIns="0" rtlCol="0" anchor="ctr"/>
          <a:lstStyle/>
          <a:p>
            <a:pPr algn="ctr" indent="0" marL="0">
              <a:buNone/>
            </a:pPr>
            <a:r>
              <a:rPr lang="en-US" sz="950" dirty="0">
                <a:solidFill>
                  <a:srgbClr val="94A3B8"/>
                </a:solidFill>
              </a:rPr>
              <a:t>Validated on synthetic telemetry</a:t>
            </a:r>
            <a:endParaRPr lang="en-US" sz="950" dirty="0"/>
          </a:p>
        </p:txBody>
      </p:sp>
      <p:sp>
        <p:nvSpPr>
          <p:cNvPr id="9" name="Shape 7"/>
          <p:cNvSpPr/>
          <p:nvPr/>
        </p:nvSpPr>
        <p:spPr>
          <a:xfrm>
            <a:off x="3154680" y="804672"/>
            <a:ext cx="2724912" cy="1755648"/>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10" name="Shape 8"/>
          <p:cNvSpPr/>
          <p:nvPr/>
        </p:nvSpPr>
        <p:spPr>
          <a:xfrm>
            <a:off x="3154680" y="804672"/>
            <a:ext cx="2724912" cy="54864"/>
          </a:xfrm>
          <a:prstGeom prst="rect">
            <a:avLst/>
          </a:prstGeom>
          <a:solidFill>
            <a:srgbClr val="02C39A"/>
          </a:solidFill>
          <a:ln/>
        </p:spPr>
      </p:sp>
      <p:sp>
        <p:nvSpPr>
          <p:cNvPr id="11" name="Text 9"/>
          <p:cNvSpPr/>
          <p:nvPr/>
        </p:nvSpPr>
        <p:spPr>
          <a:xfrm>
            <a:off x="3200400" y="941832"/>
            <a:ext cx="2633472" cy="777240"/>
          </a:xfrm>
          <a:prstGeom prst="rect">
            <a:avLst/>
          </a:prstGeom>
          <a:noFill/>
          <a:ln/>
        </p:spPr>
        <p:txBody>
          <a:bodyPr wrap="square" lIns="0" tIns="0" rIns="0" bIns="0" rtlCol="0" anchor="ctr"/>
          <a:lstStyle/>
          <a:p>
            <a:pPr algn="ctr" indent="0" marL="0">
              <a:buNone/>
            </a:pPr>
            <a:r>
              <a:rPr lang="en-US" sz="3600" b="1" dirty="0">
                <a:solidFill>
                  <a:srgbClr val="02C39A"/>
                </a:solidFill>
              </a:rPr>
              <a:t>&lt; 50ms</a:t>
            </a:r>
            <a:endParaRPr lang="en-US" sz="3600" dirty="0"/>
          </a:p>
        </p:txBody>
      </p:sp>
      <p:sp>
        <p:nvSpPr>
          <p:cNvPr id="12" name="Text 10"/>
          <p:cNvSpPr/>
          <p:nvPr/>
        </p:nvSpPr>
        <p:spPr>
          <a:xfrm>
            <a:off x="3200400" y="1737360"/>
            <a:ext cx="2633472" cy="411480"/>
          </a:xfrm>
          <a:prstGeom prst="rect">
            <a:avLst/>
          </a:prstGeom>
          <a:noFill/>
          <a:ln/>
        </p:spPr>
        <p:txBody>
          <a:bodyPr wrap="square" lIns="0" tIns="0" rIns="0" bIns="0" rtlCol="0" anchor="ctr"/>
          <a:lstStyle/>
          <a:p>
            <a:pPr algn="ctr" indent="0" marL="0">
              <a:buNone/>
            </a:pPr>
            <a:r>
              <a:rPr lang="en-US" sz="1200" b="1" dirty="0">
                <a:solidFill>
                  <a:srgbClr val="FFFFFF"/>
                </a:solidFill>
              </a:rPr>
              <a:t>Failover</a:t>
            </a:r>
            <a:endParaRPr lang="en-US" sz="1200" dirty="0"/>
          </a:p>
          <a:p>
            <a:pPr algn="ctr" indent="0" marL="0">
              <a:buNone/>
            </a:pPr>
            <a:r>
              <a:rPr lang="en-US" sz="1200" b="1" dirty="0">
                <a:solidFill>
                  <a:srgbClr val="FFFFFF"/>
                </a:solidFill>
              </a:rPr>
              <a:t>Time</a:t>
            </a:r>
            <a:endParaRPr lang="en-US" sz="1200" dirty="0"/>
          </a:p>
        </p:txBody>
      </p:sp>
      <p:sp>
        <p:nvSpPr>
          <p:cNvPr id="13" name="Text 11"/>
          <p:cNvSpPr/>
          <p:nvPr/>
        </p:nvSpPr>
        <p:spPr>
          <a:xfrm>
            <a:off x="3200400" y="2194560"/>
            <a:ext cx="2633472" cy="274320"/>
          </a:xfrm>
          <a:prstGeom prst="rect">
            <a:avLst/>
          </a:prstGeom>
          <a:noFill/>
          <a:ln/>
        </p:spPr>
        <p:txBody>
          <a:bodyPr wrap="square" lIns="0" tIns="0" rIns="0" bIns="0" rtlCol="0" anchor="ctr"/>
          <a:lstStyle/>
          <a:p>
            <a:pPr algn="ctr" indent="0" marL="0">
              <a:buNone/>
            </a:pPr>
            <a:r>
              <a:rPr lang="en-US" sz="950" dirty="0">
                <a:solidFill>
                  <a:srgbClr val="94A3B8"/>
                </a:solidFill>
              </a:rPr>
              <a:t>Hitless handoff target met</a:t>
            </a:r>
            <a:endParaRPr lang="en-US" sz="950" dirty="0"/>
          </a:p>
        </p:txBody>
      </p:sp>
      <p:sp>
        <p:nvSpPr>
          <p:cNvPr id="14" name="Shape 12"/>
          <p:cNvSpPr/>
          <p:nvPr/>
        </p:nvSpPr>
        <p:spPr>
          <a:xfrm>
            <a:off x="6080760" y="804672"/>
            <a:ext cx="2724912" cy="1755648"/>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15" name="Shape 13"/>
          <p:cNvSpPr/>
          <p:nvPr/>
        </p:nvSpPr>
        <p:spPr>
          <a:xfrm>
            <a:off x="6080760" y="804672"/>
            <a:ext cx="2724912" cy="54864"/>
          </a:xfrm>
          <a:prstGeom prst="rect">
            <a:avLst/>
          </a:prstGeom>
          <a:solidFill>
            <a:srgbClr val="02C39A"/>
          </a:solidFill>
          <a:ln/>
        </p:spPr>
      </p:sp>
      <p:sp>
        <p:nvSpPr>
          <p:cNvPr id="16" name="Text 14"/>
          <p:cNvSpPr/>
          <p:nvPr/>
        </p:nvSpPr>
        <p:spPr>
          <a:xfrm>
            <a:off x="6126480" y="941832"/>
            <a:ext cx="2633472" cy="777240"/>
          </a:xfrm>
          <a:prstGeom prst="rect">
            <a:avLst/>
          </a:prstGeom>
          <a:noFill/>
          <a:ln/>
        </p:spPr>
        <p:txBody>
          <a:bodyPr wrap="square" lIns="0" tIns="0" rIns="0" bIns="0" rtlCol="0" anchor="ctr"/>
          <a:lstStyle/>
          <a:p>
            <a:pPr algn="ctr" indent="0" marL="0">
              <a:buNone/>
            </a:pPr>
            <a:r>
              <a:rPr lang="en-US" sz="3600" b="1" dirty="0">
                <a:solidFill>
                  <a:srgbClr val="02C39A"/>
                </a:solidFill>
              </a:rPr>
              <a:t>99.9%</a:t>
            </a:r>
            <a:endParaRPr lang="en-US" sz="3600" dirty="0"/>
          </a:p>
        </p:txBody>
      </p:sp>
      <p:sp>
        <p:nvSpPr>
          <p:cNvPr id="17" name="Text 15"/>
          <p:cNvSpPr/>
          <p:nvPr/>
        </p:nvSpPr>
        <p:spPr>
          <a:xfrm>
            <a:off x="6126480" y="1737360"/>
            <a:ext cx="2633472" cy="411480"/>
          </a:xfrm>
          <a:prstGeom prst="rect">
            <a:avLst/>
          </a:prstGeom>
          <a:noFill/>
          <a:ln/>
        </p:spPr>
        <p:txBody>
          <a:bodyPr wrap="square" lIns="0" tIns="0" rIns="0" bIns="0" rtlCol="0" anchor="ctr"/>
          <a:lstStyle/>
          <a:p>
            <a:pPr algn="ctr" indent="0" marL="0">
              <a:buNone/>
            </a:pPr>
            <a:r>
              <a:rPr lang="en-US" sz="1200" b="1" dirty="0">
                <a:solidFill>
                  <a:srgbClr val="FFFFFF"/>
                </a:solidFill>
              </a:rPr>
              <a:t>System</a:t>
            </a:r>
            <a:endParaRPr lang="en-US" sz="1200" dirty="0"/>
          </a:p>
          <a:p>
            <a:pPr algn="ctr" indent="0" marL="0">
              <a:buNone/>
            </a:pPr>
            <a:r>
              <a:rPr lang="en-US" sz="1200" b="1" dirty="0">
                <a:solidFill>
                  <a:srgbClr val="FFFFFF"/>
                </a:solidFill>
              </a:rPr>
              <a:t>Availability</a:t>
            </a:r>
            <a:endParaRPr lang="en-US" sz="1200" dirty="0"/>
          </a:p>
        </p:txBody>
      </p:sp>
      <p:sp>
        <p:nvSpPr>
          <p:cNvPr id="18" name="Text 16"/>
          <p:cNvSpPr/>
          <p:nvPr/>
        </p:nvSpPr>
        <p:spPr>
          <a:xfrm>
            <a:off x="6126480" y="2194560"/>
            <a:ext cx="2633472" cy="274320"/>
          </a:xfrm>
          <a:prstGeom prst="rect">
            <a:avLst/>
          </a:prstGeom>
          <a:noFill/>
          <a:ln/>
        </p:spPr>
        <p:txBody>
          <a:bodyPr wrap="square" lIns="0" tIns="0" rIns="0" bIns="0" rtlCol="0" anchor="ctr"/>
          <a:lstStyle/>
          <a:p>
            <a:pPr algn="ctr" indent="0" marL="0">
              <a:buNone/>
            </a:pPr>
            <a:r>
              <a:rPr lang="en-US" sz="950" dirty="0">
                <a:solidFill>
                  <a:srgbClr val="94A3B8"/>
                </a:solidFill>
              </a:rPr>
              <a:t>HA target with microservices</a:t>
            </a:r>
            <a:endParaRPr lang="en-US" sz="950" dirty="0"/>
          </a:p>
        </p:txBody>
      </p:sp>
      <p:sp>
        <p:nvSpPr>
          <p:cNvPr id="19" name="Shape 17"/>
          <p:cNvSpPr/>
          <p:nvPr/>
        </p:nvSpPr>
        <p:spPr>
          <a:xfrm>
            <a:off x="228600" y="2724912"/>
            <a:ext cx="2724912" cy="1755648"/>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20" name="Shape 18"/>
          <p:cNvSpPr/>
          <p:nvPr/>
        </p:nvSpPr>
        <p:spPr>
          <a:xfrm>
            <a:off x="228600" y="2724912"/>
            <a:ext cx="2724912" cy="54864"/>
          </a:xfrm>
          <a:prstGeom prst="rect">
            <a:avLst/>
          </a:prstGeom>
          <a:solidFill>
            <a:srgbClr val="02C39A"/>
          </a:solidFill>
          <a:ln/>
        </p:spPr>
      </p:sp>
      <p:sp>
        <p:nvSpPr>
          <p:cNvPr id="21" name="Text 19"/>
          <p:cNvSpPr/>
          <p:nvPr/>
        </p:nvSpPr>
        <p:spPr>
          <a:xfrm>
            <a:off x="274320" y="2862072"/>
            <a:ext cx="2633472" cy="777240"/>
          </a:xfrm>
          <a:prstGeom prst="rect">
            <a:avLst/>
          </a:prstGeom>
          <a:noFill/>
          <a:ln/>
        </p:spPr>
        <p:txBody>
          <a:bodyPr wrap="square" lIns="0" tIns="0" rIns="0" bIns="0" rtlCol="0" anchor="ctr"/>
          <a:lstStyle/>
          <a:p>
            <a:pPr algn="ctr" indent="0" marL="0">
              <a:buNone/>
            </a:pPr>
            <a:r>
              <a:rPr lang="en-US" sz="3600" b="1" dirty="0">
                <a:solidFill>
                  <a:srgbClr val="02C39A"/>
                </a:solidFill>
              </a:rPr>
              <a:t>&lt; 5s</a:t>
            </a:r>
            <a:endParaRPr lang="en-US" sz="3600" dirty="0"/>
          </a:p>
        </p:txBody>
      </p:sp>
      <p:sp>
        <p:nvSpPr>
          <p:cNvPr id="22" name="Text 20"/>
          <p:cNvSpPr/>
          <p:nvPr/>
        </p:nvSpPr>
        <p:spPr>
          <a:xfrm>
            <a:off x="274320" y="3657600"/>
            <a:ext cx="2633472" cy="411480"/>
          </a:xfrm>
          <a:prstGeom prst="rect">
            <a:avLst/>
          </a:prstGeom>
          <a:noFill/>
          <a:ln/>
        </p:spPr>
        <p:txBody>
          <a:bodyPr wrap="square" lIns="0" tIns="0" rIns="0" bIns="0" rtlCol="0" anchor="ctr"/>
          <a:lstStyle/>
          <a:p>
            <a:pPr algn="ctr" indent="0" marL="0">
              <a:buNone/>
            </a:pPr>
            <a:r>
              <a:rPr lang="en-US" sz="1200" b="1" dirty="0">
                <a:solidFill>
                  <a:srgbClr val="FFFFFF"/>
                </a:solidFill>
              </a:rPr>
              <a:t>Sandbox</a:t>
            </a:r>
            <a:endParaRPr lang="en-US" sz="1200" dirty="0"/>
          </a:p>
          <a:p>
            <a:pPr algn="ctr" indent="0" marL="0">
              <a:buNone/>
            </a:pPr>
            <a:r>
              <a:rPr lang="en-US" sz="1200" b="1" dirty="0">
                <a:solidFill>
                  <a:srgbClr val="FFFFFF"/>
                </a:solidFill>
              </a:rPr>
              <a:t>Validation Time</a:t>
            </a:r>
            <a:endParaRPr lang="en-US" sz="1200" dirty="0"/>
          </a:p>
        </p:txBody>
      </p:sp>
      <p:sp>
        <p:nvSpPr>
          <p:cNvPr id="23" name="Text 21"/>
          <p:cNvSpPr/>
          <p:nvPr/>
        </p:nvSpPr>
        <p:spPr>
          <a:xfrm>
            <a:off x="274320" y="4114800"/>
            <a:ext cx="2633472" cy="274320"/>
          </a:xfrm>
          <a:prstGeom prst="rect">
            <a:avLst/>
          </a:prstGeom>
          <a:noFill/>
          <a:ln/>
        </p:spPr>
        <p:txBody>
          <a:bodyPr wrap="square" lIns="0" tIns="0" rIns="0" bIns="0" rtlCol="0" anchor="ctr"/>
          <a:lstStyle/>
          <a:p>
            <a:pPr algn="ctr" indent="0" marL="0">
              <a:buNone/>
            </a:pPr>
            <a:r>
              <a:rPr lang="en-US" sz="950" dirty="0">
                <a:solidFill>
                  <a:srgbClr val="94A3B8"/>
                </a:solidFill>
              </a:rPr>
              <a:t>All changes pre-validated</a:t>
            </a:r>
            <a:endParaRPr lang="en-US" sz="950" dirty="0"/>
          </a:p>
        </p:txBody>
      </p:sp>
      <p:sp>
        <p:nvSpPr>
          <p:cNvPr id="24" name="Shape 22"/>
          <p:cNvSpPr/>
          <p:nvPr/>
        </p:nvSpPr>
        <p:spPr>
          <a:xfrm>
            <a:off x="3154680" y="2724912"/>
            <a:ext cx="2724912" cy="1755648"/>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25" name="Shape 23"/>
          <p:cNvSpPr/>
          <p:nvPr/>
        </p:nvSpPr>
        <p:spPr>
          <a:xfrm>
            <a:off x="3154680" y="2724912"/>
            <a:ext cx="2724912" cy="54864"/>
          </a:xfrm>
          <a:prstGeom prst="rect">
            <a:avLst/>
          </a:prstGeom>
          <a:solidFill>
            <a:srgbClr val="02C39A"/>
          </a:solidFill>
          <a:ln/>
        </p:spPr>
      </p:sp>
      <p:sp>
        <p:nvSpPr>
          <p:cNvPr id="26" name="Text 24"/>
          <p:cNvSpPr/>
          <p:nvPr/>
        </p:nvSpPr>
        <p:spPr>
          <a:xfrm>
            <a:off x="3200400" y="2862072"/>
            <a:ext cx="2633472" cy="777240"/>
          </a:xfrm>
          <a:prstGeom prst="rect">
            <a:avLst/>
          </a:prstGeom>
          <a:noFill/>
          <a:ln/>
        </p:spPr>
        <p:txBody>
          <a:bodyPr wrap="square" lIns="0" tIns="0" rIns="0" bIns="0" rtlCol="0" anchor="ctr"/>
          <a:lstStyle/>
          <a:p>
            <a:pPr algn="ctr" indent="0" marL="0">
              <a:buNone/>
            </a:pPr>
            <a:r>
              <a:rPr lang="en-US" sz="3600" b="1" dirty="0">
                <a:solidFill>
                  <a:srgbClr val="02C39A"/>
                </a:solidFill>
              </a:rPr>
              <a:t>&lt; 2s</a:t>
            </a:r>
            <a:endParaRPr lang="en-US" sz="3600" dirty="0"/>
          </a:p>
        </p:txBody>
      </p:sp>
      <p:sp>
        <p:nvSpPr>
          <p:cNvPr id="27" name="Text 25"/>
          <p:cNvSpPr/>
          <p:nvPr/>
        </p:nvSpPr>
        <p:spPr>
          <a:xfrm>
            <a:off x="3200400" y="3657600"/>
            <a:ext cx="2633472" cy="411480"/>
          </a:xfrm>
          <a:prstGeom prst="rect">
            <a:avLst/>
          </a:prstGeom>
          <a:noFill/>
          <a:ln/>
        </p:spPr>
        <p:txBody>
          <a:bodyPr wrap="square" lIns="0" tIns="0" rIns="0" bIns="0" rtlCol="0" anchor="ctr"/>
          <a:lstStyle/>
          <a:p>
            <a:pPr algn="ctr" indent="0" marL="0">
              <a:buNone/>
            </a:pPr>
            <a:r>
              <a:rPr lang="en-US" sz="1200" b="1" dirty="0">
                <a:solidFill>
                  <a:srgbClr val="FFFFFF"/>
                </a:solidFill>
              </a:rPr>
              <a:t>Dashboard</a:t>
            </a:r>
            <a:endParaRPr lang="en-US" sz="1200" dirty="0"/>
          </a:p>
          <a:p>
            <a:pPr algn="ctr" indent="0" marL="0">
              <a:buNone/>
            </a:pPr>
            <a:r>
              <a:rPr lang="en-US" sz="1200" b="1" dirty="0">
                <a:solidFill>
                  <a:srgbClr val="FFFFFF"/>
                </a:solidFill>
              </a:rPr>
              <a:t>Response</a:t>
            </a:r>
            <a:endParaRPr lang="en-US" sz="1200" dirty="0"/>
          </a:p>
        </p:txBody>
      </p:sp>
      <p:sp>
        <p:nvSpPr>
          <p:cNvPr id="28" name="Text 26"/>
          <p:cNvSpPr/>
          <p:nvPr/>
        </p:nvSpPr>
        <p:spPr>
          <a:xfrm>
            <a:off x="3200400" y="4114800"/>
            <a:ext cx="2633472" cy="274320"/>
          </a:xfrm>
          <a:prstGeom prst="rect">
            <a:avLst/>
          </a:prstGeom>
          <a:noFill/>
          <a:ln/>
        </p:spPr>
        <p:txBody>
          <a:bodyPr wrap="square" lIns="0" tIns="0" rIns="0" bIns="0" rtlCol="0" anchor="ctr"/>
          <a:lstStyle/>
          <a:p>
            <a:pPr algn="ctr" indent="0" marL="0">
              <a:buNone/>
            </a:pPr>
            <a:r>
              <a:rPr lang="en-US" sz="950" dirty="0">
                <a:solidFill>
                  <a:srgbClr val="94A3B8"/>
                </a:solidFill>
              </a:rPr>
              <a:t>IBN + real-time UI</a:t>
            </a:r>
            <a:endParaRPr lang="en-US" sz="950" dirty="0"/>
          </a:p>
        </p:txBody>
      </p:sp>
      <p:sp>
        <p:nvSpPr>
          <p:cNvPr id="29" name="Shape 27"/>
          <p:cNvSpPr/>
          <p:nvPr/>
        </p:nvSpPr>
        <p:spPr>
          <a:xfrm>
            <a:off x="6080760" y="2724912"/>
            <a:ext cx="2724912" cy="1755648"/>
          </a:xfrm>
          <a:prstGeom prst="rect">
            <a:avLst/>
          </a:prstGeom>
          <a:solidFill>
            <a:srgbClr val="0D1B2A"/>
          </a:solidFill>
          <a:ln/>
          <a:effectLst>
            <a:outerShdw sx="100000" sy="100000" kx="0" ky="0" algn="bl" rotWithShape="0" blurRad="101600" dist="38100" dir="8100000">
              <a:srgbClr val="000000">
                <a:alpha val="18000"/>
              </a:srgbClr>
            </a:outerShdw>
          </a:effectLst>
        </p:spPr>
      </p:sp>
      <p:sp>
        <p:nvSpPr>
          <p:cNvPr id="30" name="Shape 28"/>
          <p:cNvSpPr/>
          <p:nvPr/>
        </p:nvSpPr>
        <p:spPr>
          <a:xfrm>
            <a:off x="6080760" y="2724912"/>
            <a:ext cx="2724912" cy="54864"/>
          </a:xfrm>
          <a:prstGeom prst="rect">
            <a:avLst/>
          </a:prstGeom>
          <a:solidFill>
            <a:srgbClr val="02C39A"/>
          </a:solidFill>
          <a:ln/>
        </p:spPr>
      </p:sp>
      <p:sp>
        <p:nvSpPr>
          <p:cNvPr id="31" name="Text 29"/>
          <p:cNvSpPr/>
          <p:nvPr/>
        </p:nvSpPr>
        <p:spPr>
          <a:xfrm>
            <a:off x="6126480" y="2862072"/>
            <a:ext cx="2633472" cy="777240"/>
          </a:xfrm>
          <a:prstGeom prst="rect">
            <a:avLst/>
          </a:prstGeom>
          <a:noFill/>
          <a:ln/>
        </p:spPr>
        <p:txBody>
          <a:bodyPr wrap="square" lIns="0" tIns="0" rIns="0" bIns="0" rtlCol="0" anchor="ctr"/>
          <a:lstStyle/>
          <a:p>
            <a:pPr algn="ctr" indent="0" marL="0">
              <a:buNone/>
            </a:pPr>
            <a:r>
              <a:rPr lang="en-US" sz="3600" b="1" dirty="0">
                <a:solidFill>
                  <a:srgbClr val="02C39A"/>
                </a:solidFill>
              </a:rPr>
              <a:t>100+</a:t>
            </a:r>
            <a:endParaRPr lang="en-US" sz="3600" dirty="0"/>
          </a:p>
        </p:txBody>
      </p:sp>
      <p:sp>
        <p:nvSpPr>
          <p:cNvPr id="32" name="Text 30"/>
          <p:cNvSpPr/>
          <p:nvPr/>
        </p:nvSpPr>
        <p:spPr>
          <a:xfrm>
            <a:off x="6126480" y="3657600"/>
            <a:ext cx="2633472" cy="411480"/>
          </a:xfrm>
          <a:prstGeom prst="rect">
            <a:avLst/>
          </a:prstGeom>
          <a:noFill/>
          <a:ln/>
        </p:spPr>
        <p:txBody>
          <a:bodyPr wrap="square" lIns="0" tIns="0" rIns="0" bIns="0" rtlCol="0" anchor="ctr"/>
          <a:lstStyle/>
          <a:p>
            <a:pPr algn="ctr" indent="0" marL="0">
              <a:buNone/>
            </a:pPr>
            <a:r>
              <a:rPr lang="en-US" sz="1200" b="1" dirty="0">
                <a:solidFill>
                  <a:srgbClr val="FFFFFF"/>
                </a:solidFill>
              </a:rPr>
              <a:t>Sites</a:t>
            </a:r>
            <a:endParaRPr lang="en-US" sz="1200" dirty="0"/>
          </a:p>
          <a:p>
            <a:pPr algn="ctr" indent="0" marL="0">
              <a:buNone/>
            </a:pPr>
            <a:r>
              <a:rPr lang="en-US" sz="1200" b="1" dirty="0">
                <a:solidFill>
                  <a:srgbClr val="FFFFFF"/>
                </a:solidFill>
              </a:rPr>
              <a:t>Supported</a:t>
            </a:r>
            <a:endParaRPr lang="en-US" sz="1200" dirty="0"/>
          </a:p>
        </p:txBody>
      </p:sp>
      <p:sp>
        <p:nvSpPr>
          <p:cNvPr id="33" name="Text 31"/>
          <p:cNvSpPr/>
          <p:nvPr/>
        </p:nvSpPr>
        <p:spPr>
          <a:xfrm>
            <a:off x="6126480" y="4114800"/>
            <a:ext cx="2633472" cy="274320"/>
          </a:xfrm>
          <a:prstGeom prst="rect">
            <a:avLst/>
          </a:prstGeom>
          <a:noFill/>
          <a:ln/>
        </p:spPr>
        <p:txBody>
          <a:bodyPr wrap="square" lIns="0" tIns="0" rIns="0" bIns="0" rtlCol="0" anchor="ctr"/>
          <a:lstStyle/>
          <a:p>
            <a:pPr algn="ctr" indent="0" marL="0">
              <a:buNone/>
            </a:pPr>
            <a:r>
              <a:rPr lang="en-US" sz="950" dirty="0">
                <a:solidFill>
                  <a:srgbClr val="94A3B8"/>
                </a:solidFill>
              </a:rPr>
              <a:t>Multi-site scalability target</a:t>
            </a:r>
            <a:endParaRPr lang="en-US" sz="950" dirty="0"/>
          </a:p>
        </p:txBody>
      </p:sp>
      <p:sp>
        <p:nvSpPr>
          <p:cNvPr id="34" name="Text 32"/>
          <p:cNvSpPr/>
          <p:nvPr/>
        </p:nvSpPr>
        <p:spPr>
          <a:xfrm>
            <a:off x="228600" y="4773168"/>
            <a:ext cx="8686800" cy="256032"/>
          </a:xfrm>
          <a:prstGeom prst="rect">
            <a:avLst/>
          </a:prstGeom>
          <a:noFill/>
          <a:ln/>
        </p:spPr>
        <p:txBody>
          <a:bodyPr wrap="square" lIns="0" tIns="0" rIns="0" bIns="0" rtlCol="0" anchor="ctr"/>
          <a:lstStyle/>
          <a:p>
            <a:pPr algn="ctr" indent="0" marL="0">
              <a:buNone/>
            </a:pPr>
            <a:r>
              <a:rPr lang="en-US" sz="1100" dirty="0">
                <a:solidFill>
                  <a:srgbClr val="334155"/>
                </a:solidFill>
              </a:rPr>
              <a:t>All quality goals specified in the SRS and Project Plan were achieved or are on target for final delivery.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000" b="1" dirty="0">
                <a:solidFill>
                  <a:srgbClr val="FFFFFF"/>
                </a:solidFill>
              </a:rPr>
              <a:t>PathWise AI vs. Existing SD-WAN: The Real Differences</a:t>
            </a:r>
            <a:endParaRPr lang="en-US" sz="2000" dirty="0"/>
          </a:p>
        </p:txBody>
      </p:sp>
      <p:sp>
        <p:nvSpPr>
          <p:cNvPr id="4" name="Shape 2"/>
          <p:cNvSpPr/>
          <p:nvPr/>
        </p:nvSpPr>
        <p:spPr>
          <a:xfrm>
            <a:off x="182880" y="749808"/>
            <a:ext cx="2697480" cy="347472"/>
          </a:xfrm>
          <a:prstGeom prst="rect">
            <a:avLst/>
          </a:prstGeom>
          <a:solidFill>
            <a:srgbClr val="334155"/>
          </a:solidFill>
          <a:ln/>
        </p:spPr>
      </p:sp>
      <p:sp>
        <p:nvSpPr>
          <p:cNvPr id="5" name="Text 3"/>
          <p:cNvSpPr/>
          <p:nvPr/>
        </p:nvSpPr>
        <p:spPr>
          <a:xfrm>
            <a:off x="228600" y="749808"/>
            <a:ext cx="2606040" cy="347472"/>
          </a:xfrm>
          <a:prstGeom prst="rect">
            <a:avLst/>
          </a:prstGeom>
          <a:noFill/>
          <a:ln/>
        </p:spPr>
        <p:txBody>
          <a:bodyPr wrap="square" lIns="0" tIns="0" rIns="0" bIns="0" rtlCol="0" anchor="ctr"/>
          <a:lstStyle/>
          <a:p>
            <a:pPr algn="ctr" indent="0" marL="0">
              <a:buNone/>
            </a:pPr>
            <a:r>
              <a:rPr lang="en-US" sz="1000" b="1" dirty="0">
                <a:solidFill>
                  <a:srgbClr val="FFFFFF"/>
                </a:solidFill>
              </a:rPr>
              <a:t>Dimension</a:t>
            </a:r>
            <a:endParaRPr lang="en-US" sz="1000" dirty="0"/>
          </a:p>
        </p:txBody>
      </p:sp>
      <p:sp>
        <p:nvSpPr>
          <p:cNvPr id="6" name="Shape 4"/>
          <p:cNvSpPr/>
          <p:nvPr/>
        </p:nvSpPr>
        <p:spPr>
          <a:xfrm>
            <a:off x="3017520" y="749808"/>
            <a:ext cx="2880360" cy="347472"/>
          </a:xfrm>
          <a:prstGeom prst="rect">
            <a:avLst/>
          </a:prstGeom>
          <a:solidFill>
            <a:srgbClr val="028090"/>
          </a:solidFill>
          <a:ln/>
        </p:spPr>
      </p:sp>
      <p:sp>
        <p:nvSpPr>
          <p:cNvPr id="7" name="Text 5"/>
          <p:cNvSpPr/>
          <p:nvPr/>
        </p:nvSpPr>
        <p:spPr>
          <a:xfrm>
            <a:off x="3063240" y="749808"/>
            <a:ext cx="2788920" cy="347472"/>
          </a:xfrm>
          <a:prstGeom prst="rect">
            <a:avLst/>
          </a:prstGeom>
          <a:noFill/>
          <a:ln/>
        </p:spPr>
        <p:txBody>
          <a:bodyPr wrap="square" lIns="0" tIns="0" rIns="0" bIns="0" rtlCol="0" anchor="ctr"/>
          <a:lstStyle/>
          <a:p>
            <a:pPr algn="ctr" indent="0" marL="0">
              <a:buNone/>
            </a:pPr>
            <a:r>
              <a:rPr lang="en-US" sz="1000" b="1" dirty="0">
                <a:solidFill>
                  <a:srgbClr val="FFFFFF"/>
                </a:solidFill>
              </a:rPr>
              <a:t>PathWise AI</a:t>
            </a:r>
            <a:endParaRPr lang="en-US" sz="1000" dirty="0"/>
          </a:p>
        </p:txBody>
      </p:sp>
      <p:sp>
        <p:nvSpPr>
          <p:cNvPr id="8" name="Shape 6"/>
          <p:cNvSpPr/>
          <p:nvPr/>
        </p:nvSpPr>
        <p:spPr>
          <a:xfrm>
            <a:off x="6035040" y="749808"/>
            <a:ext cx="2880360" cy="347472"/>
          </a:xfrm>
          <a:prstGeom prst="rect">
            <a:avLst/>
          </a:prstGeom>
          <a:solidFill>
            <a:srgbClr val="334155"/>
          </a:solidFill>
          <a:ln/>
        </p:spPr>
      </p:sp>
      <p:sp>
        <p:nvSpPr>
          <p:cNvPr id="9" name="Text 7"/>
          <p:cNvSpPr/>
          <p:nvPr/>
        </p:nvSpPr>
        <p:spPr>
          <a:xfrm>
            <a:off x="6080760" y="749808"/>
            <a:ext cx="2788920" cy="347472"/>
          </a:xfrm>
          <a:prstGeom prst="rect">
            <a:avLst/>
          </a:prstGeom>
          <a:noFill/>
          <a:ln/>
        </p:spPr>
        <p:txBody>
          <a:bodyPr wrap="square" lIns="0" tIns="0" rIns="0" bIns="0" rtlCol="0" anchor="ctr"/>
          <a:lstStyle/>
          <a:p>
            <a:pPr algn="ctr" indent="0" marL="0">
              <a:buNone/>
            </a:pPr>
            <a:r>
              <a:rPr lang="en-US" sz="1000" b="1" dirty="0">
                <a:solidFill>
                  <a:srgbClr val="FFFFFF"/>
                </a:solidFill>
              </a:rPr>
              <a:t>Traditional SD-WAN Solutions</a:t>
            </a:r>
            <a:endParaRPr lang="en-US" sz="1000" dirty="0"/>
          </a:p>
        </p:txBody>
      </p:sp>
      <p:sp>
        <p:nvSpPr>
          <p:cNvPr id="10" name="Shape 8"/>
          <p:cNvSpPr/>
          <p:nvPr/>
        </p:nvSpPr>
        <p:spPr>
          <a:xfrm>
            <a:off x="182880" y="1097280"/>
            <a:ext cx="2697480" cy="457200"/>
          </a:xfrm>
          <a:prstGeom prst="rect">
            <a:avLst/>
          </a:prstGeom>
          <a:solidFill>
            <a:srgbClr val="FFFFFF"/>
          </a:solidFill>
          <a:ln/>
        </p:spPr>
      </p:sp>
      <p:sp>
        <p:nvSpPr>
          <p:cNvPr id="11" name="Text 9"/>
          <p:cNvSpPr/>
          <p:nvPr/>
        </p:nvSpPr>
        <p:spPr>
          <a:xfrm>
            <a:off x="228600" y="1097280"/>
            <a:ext cx="2606040" cy="457200"/>
          </a:xfrm>
          <a:prstGeom prst="rect">
            <a:avLst/>
          </a:prstGeom>
          <a:noFill/>
          <a:ln/>
        </p:spPr>
        <p:txBody>
          <a:bodyPr wrap="square" lIns="0" tIns="0" rIns="0" bIns="0" rtlCol="0" anchor="ctr"/>
          <a:lstStyle/>
          <a:p>
            <a:pPr indent="0" marL="0">
              <a:buNone/>
            </a:pPr>
            <a:r>
              <a:rPr lang="en-US" sz="1000" b="1" dirty="0">
                <a:solidFill>
                  <a:srgbClr val="0D1B2A"/>
                </a:solidFill>
              </a:rPr>
              <a:t>Failure Response</a:t>
            </a:r>
            <a:endParaRPr lang="en-US" sz="1000" dirty="0"/>
          </a:p>
        </p:txBody>
      </p:sp>
      <p:sp>
        <p:nvSpPr>
          <p:cNvPr id="12" name="Shape 10"/>
          <p:cNvSpPr/>
          <p:nvPr/>
        </p:nvSpPr>
        <p:spPr>
          <a:xfrm>
            <a:off x="3017520" y="1097280"/>
            <a:ext cx="2880360" cy="457200"/>
          </a:xfrm>
          <a:prstGeom prst="rect">
            <a:avLst/>
          </a:prstGeom>
          <a:solidFill>
            <a:srgbClr val="10B981">
              <a:alpha val="20000"/>
            </a:srgbClr>
          </a:solidFill>
          <a:ln/>
        </p:spPr>
      </p:sp>
      <p:sp>
        <p:nvSpPr>
          <p:cNvPr id="13" name="Text 11"/>
          <p:cNvSpPr/>
          <p:nvPr/>
        </p:nvSpPr>
        <p:spPr>
          <a:xfrm>
            <a:off x="3063240" y="1097280"/>
            <a:ext cx="2788920" cy="457200"/>
          </a:xfrm>
          <a:prstGeom prst="rect">
            <a:avLst/>
          </a:prstGeom>
          <a:noFill/>
          <a:ln/>
        </p:spPr>
        <p:txBody>
          <a:bodyPr wrap="square" lIns="0" tIns="0" rIns="0" bIns="0" rtlCol="0" anchor="ctr"/>
          <a:lstStyle/>
          <a:p>
            <a:pPr indent="0" marL="0">
              <a:buNone/>
            </a:pPr>
            <a:r>
              <a:rPr lang="en-US" sz="950" dirty="0">
                <a:solidFill>
                  <a:srgbClr val="334155"/>
                </a:solidFill>
              </a:rPr>
              <a:t>✓  Predicts 30–60s before failure; reroutes pre-emptively</a:t>
            </a:r>
            <a:endParaRPr lang="en-US" sz="950" dirty="0"/>
          </a:p>
        </p:txBody>
      </p:sp>
      <p:sp>
        <p:nvSpPr>
          <p:cNvPr id="14" name="Shape 12"/>
          <p:cNvSpPr/>
          <p:nvPr/>
        </p:nvSpPr>
        <p:spPr>
          <a:xfrm>
            <a:off x="6035040" y="1097280"/>
            <a:ext cx="2880360" cy="457200"/>
          </a:xfrm>
          <a:prstGeom prst="rect">
            <a:avLst/>
          </a:prstGeom>
          <a:solidFill>
            <a:srgbClr val="FFFFFF"/>
          </a:solidFill>
          <a:ln/>
        </p:spPr>
      </p:sp>
      <p:sp>
        <p:nvSpPr>
          <p:cNvPr id="15" name="Text 13"/>
          <p:cNvSpPr/>
          <p:nvPr/>
        </p:nvSpPr>
        <p:spPr>
          <a:xfrm>
            <a:off x="6080760" y="1097280"/>
            <a:ext cx="2788920" cy="457200"/>
          </a:xfrm>
          <a:prstGeom prst="rect">
            <a:avLst/>
          </a:prstGeom>
          <a:noFill/>
          <a:ln/>
        </p:spPr>
        <p:txBody>
          <a:bodyPr wrap="square" lIns="0" tIns="0" rIns="0" bIns="0" rtlCol="0" anchor="ctr"/>
          <a:lstStyle/>
          <a:p>
            <a:pPr indent="0" marL="0">
              <a:buNone/>
            </a:pPr>
            <a:r>
              <a:rPr lang="en-US" sz="950" dirty="0">
                <a:solidFill>
                  <a:srgbClr val="334155"/>
                </a:solidFill>
              </a:rPr>
              <a:t>✗  Detects after failure; reactive failover causes packet loss</a:t>
            </a:r>
            <a:endParaRPr lang="en-US" sz="950" dirty="0"/>
          </a:p>
        </p:txBody>
      </p:sp>
      <p:sp>
        <p:nvSpPr>
          <p:cNvPr id="16" name="Shape 14"/>
          <p:cNvSpPr/>
          <p:nvPr/>
        </p:nvSpPr>
        <p:spPr>
          <a:xfrm>
            <a:off x="182880" y="1581912"/>
            <a:ext cx="2697480" cy="457200"/>
          </a:xfrm>
          <a:prstGeom prst="rect">
            <a:avLst/>
          </a:prstGeom>
          <a:solidFill>
            <a:srgbClr val="F0F4F8"/>
          </a:solidFill>
          <a:ln/>
        </p:spPr>
      </p:sp>
      <p:sp>
        <p:nvSpPr>
          <p:cNvPr id="17" name="Text 15"/>
          <p:cNvSpPr/>
          <p:nvPr/>
        </p:nvSpPr>
        <p:spPr>
          <a:xfrm>
            <a:off x="228600" y="1581912"/>
            <a:ext cx="2606040" cy="457200"/>
          </a:xfrm>
          <a:prstGeom prst="rect">
            <a:avLst/>
          </a:prstGeom>
          <a:noFill/>
          <a:ln/>
        </p:spPr>
        <p:txBody>
          <a:bodyPr wrap="square" lIns="0" tIns="0" rIns="0" bIns="0" rtlCol="0" anchor="ctr"/>
          <a:lstStyle/>
          <a:p>
            <a:pPr indent="0" marL="0">
              <a:buNone/>
            </a:pPr>
            <a:r>
              <a:rPr lang="en-US" sz="1000" b="1" dirty="0">
                <a:solidFill>
                  <a:srgbClr val="0D1B2A"/>
                </a:solidFill>
              </a:rPr>
              <a:t>AI / ML Capability</a:t>
            </a:r>
            <a:endParaRPr lang="en-US" sz="1000" dirty="0"/>
          </a:p>
        </p:txBody>
      </p:sp>
      <p:sp>
        <p:nvSpPr>
          <p:cNvPr id="18" name="Shape 16"/>
          <p:cNvSpPr/>
          <p:nvPr/>
        </p:nvSpPr>
        <p:spPr>
          <a:xfrm>
            <a:off x="3017520" y="1581912"/>
            <a:ext cx="2880360" cy="457200"/>
          </a:xfrm>
          <a:prstGeom prst="rect">
            <a:avLst/>
          </a:prstGeom>
          <a:solidFill>
            <a:srgbClr val="10B981">
              <a:alpha val="20000"/>
            </a:srgbClr>
          </a:solidFill>
          <a:ln/>
        </p:spPr>
      </p:sp>
      <p:sp>
        <p:nvSpPr>
          <p:cNvPr id="19" name="Text 17"/>
          <p:cNvSpPr/>
          <p:nvPr/>
        </p:nvSpPr>
        <p:spPr>
          <a:xfrm>
            <a:off x="3063240" y="1581912"/>
            <a:ext cx="2788920" cy="457200"/>
          </a:xfrm>
          <a:prstGeom prst="rect">
            <a:avLst/>
          </a:prstGeom>
          <a:noFill/>
          <a:ln/>
        </p:spPr>
        <p:txBody>
          <a:bodyPr wrap="square" lIns="0" tIns="0" rIns="0" bIns="0" rtlCol="0" anchor="ctr"/>
          <a:lstStyle/>
          <a:p>
            <a:pPr indent="0" marL="0">
              <a:buNone/>
            </a:pPr>
            <a:r>
              <a:rPr lang="en-US" sz="950" dirty="0">
                <a:solidFill>
                  <a:srgbClr val="334155"/>
                </a:solidFill>
              </a:rPr>
              <a:t>✓  LSTM deep learning with attention mechanism; continuous retraining</a:t>
            </a:r>
            <a:endParaRPr lang="en-US" sz="950" dirty="0"/>
          </a:p>
        </p:txBody>
      </p:sp>
      <p:sp>
        <p:nvSpPr>
          <p:cNvPr id="20" name="Shape 18"/>
          <p:cNvSpPr/>
          <p:nvPr/>
        </p:nvSpPr>
        <p:spPr>
          <a:xfrm>
            <a:off x="6035040" y="1581912"/>
            <a:ext cx="2880360" cy="457200"/>
          </a:xfrm>
          <a:prstGeom prst="rect">
            <a:avLst/>
          </a:prstGeom>
          <a:solidFill>
            <a:srgbClr val="F0F4F8"/>
          </a:solidFill>
          <a:ln/>
        </p:spPr>
      </p:sp>
      <p:sp>
        <p:nvSpPr>
          <p:cNvPr id="21" name="Text 19"/>
          <p:cNvSpPr/>
          <p:nvPr/>
        </p:nvSpPr>
        <p:spPr>
          <a:xfrm>
            <a:off x="6080760" y="1581912"/>
            <a:ext cx="2788920" cy="457200"/>
          </a:xfrm>
          <a:prstGeom prst="rect">
            <a:avLst/>
          </a:prstGeom>
          <a:noFill/>
          <a:ln/>
        </p:spPr>
        <p:txBody>
          <a:bodyPr wrap="square" lIns="0" tIns="0" rIns="0" bIns="0" rtlCol="0" anchor="ctr"/>
          <a:lstStyle/>
          <a:p>
            <a:pPr indent="0" marL="0">
              <a:buNone/>
            </a:pPr>
            <a:r>
              <a:rPr lang="en-US" sz="950" dirty="0">
                <a:solidFill>
                  <a:srgbClr val="334155"/>
                </a:solidFill>
              </a:rPr>
              <a:t>✗  Threshold alerts only; no machine learning</a:t>
            </a:r>
            <a:endParaRPr lang="en-US" sz="950" dirty="0"/>
          </a:p>
        </p:txBody>
      </p:sp>
      <p:sp>
        <p:nvSpPr>
          <p:cNvPr id="22" name="Shape 20"/>
          <p:cNvSpPr/>
          <p:nvPr/>
        </p:nvSpPr>
        <p:spPr>
          <a:xfrm>
            <a:off x="182880" y="2066544"/>
            <a:ext cx="2697480" cy="457200"/>
          </a:xfrm>
          <a:prstGeom prst="rect">
            <a:avLst/>
          </a:prstGeom>
          <a:solidFill>
            <a:srgbClr val="FFFFFF"/>
          </a:solidFill>
          <a:ln/>
        </p:spPr>
      </p:sp>
      <p:sp>
        <p:nvSpPr>
          <p:cNvPr id="23" name="Text 21"/>
          <p:cNvSpPr/>
          <p:nvPr/>
        </p:nvSpPr>
        <p:spPr>
          <a:xfrm>
            <a:off x="228600" y="2066544"/>
            <a:ext cx="2606040" cy="457200"/>
          </a:xfrm>
          <a:prstGeom prst="rect">
            <a:avLst/>
          </a:prstGeom>
          <a:noFill/>
          <a:ln/>
        </p:spPr>
        <p:txBody>
          <a:bodyPr wrap="square" lIns="0" tIns="0" rIns="0" bIns="0" rtlCol="0" anchor="ctr"/>
          <a:lstStyle/>
          <a:p>
            <a:pPr indent="0" marL="0">
              <a:buNone/>
            </a:pPr>
            <a:r>
              <a:rPr lang="en-US" sz="1000" b="1" dirty="0">
                <a:solidFill>
                  <a:srgbClr val="0D1B2A"/>
                </a:solidFill>
              </a:rPr>
              <a:t>Validation / Safety</a:t>
            </a:r>
            <a:endParaRPr lang="en-US" sz="1000" dirty="0"/>
          </a:p>
        </p:txBody>
      </p:sp>
      <p:sp>
        <p:nvSpPr>
          <p:cNvPr id="24" name="Shape 22"/>
          <p:cNvSpPr/>
          <p:nvPr/>
        </p:nvSpPr>
        <p:spPr>
          <a:xfrm>
            <a:off x="3017520" y="2066544"/>
            <a:ext cx="2880360" cy="457200"/>
          </a:xfrm>
          <a:prstGeom prst="rect">
            <a:avLst/>
          </a:prstGeom>
          <a:solidFill>
            <a:srgbClr val="10B981">
              <a:alpha val="20000"/>
            </a:srgbClr>
          </a:solidFill>
          <a:ln/>
        </p:spPr>
      </p:sp>
      <p:sp>
        <p:nvSpPr>
          <p:cNvPr id="25" name="Text 23"/>
          <p:cNvSpPr/>
          <p:nvPr/>
        </p:nvSpPr>
        <p:spPr>
          <a:xfrm>
            <a:off x="3063240" y="2066544"/>
            <a:ext cx="2788920" cy="457200"/>
          </a:xfrm>
          <a:prstGeom prst="rect">
            <a:avLst/>
          </a:prstGeom>
          <a:noFill/>
          <a:ln/>
        </p:spPr>
        <p:txBody>
          <a:bodyPr wrap="square" lIns="0" tIns="0" rIns="0" bIns="0" rtlCol="0" anchor="ctr"/>
          <a:lstStyle/>
          <a:p>
            <a:pPr indent="0" marL="0">
              <a:buNone/>
            </a:pPr>
            <a:r>
              <a:rPr lang="en-US" sz="950" dirty="0">
                <a:solidFill>
                  <a:srgbClr val="334155"/>
                </a:solidFill>
              </a:rPr>
              <a:t>✓  Digital Twin (Mininet + Batfish) validates EVERY change in &lt;5s</a:t>
            </a:r>
            <a:endParaRPr lang="en-US" sz="950" dirty="0"/>
          </a:p>
        </p:txBody>
      </p:sp>
      <p:sp>
        <p:nvSpPr>
          <p:cNvPr id="26" name="Shape 24"/>
          <p:cNvSpPr/>
          <p:nvPr/>
        </p:nvSpPr>
        <p:spPr>
          <a:xfrm>
            <a:off x="6035040" y="2066544"/>
            <a:ext cx="2880360" cy="457200"/>
          </a:xfrm>
          <a:prstGeom prst="rect">
            <a:avLst/>
          </a:prstGeom>
          <a:solidFill>
            <a:srgbClr val="FFFFFF"/>
          </a:solidFill>
          <a:ln/>
        </p:spPr>
      </p:sp>
      <p:sp>
        <p:nvSpPr>
          <p:cNvPr id="27" name="Text 25"/>
          <p:cNvSpPr/>
          <p:nvPr/>
        </p:nvSpPr>
        <p:spPr>
          <a:xfrm>
            <a:off x="6080760" y="2066544"/>
            <a:ext cx="2788920" cy="457200"/>
          </a:xfrm>
          <a:prstGeom prst="rect">
            <a:avLst/>
          </a:prstGeom>
          <a:noFill/>
          <a:ln/>
        </p:spPr>
        <p:txBody>
          <a:bodyPr wrap="square" lIns="0" tIns="0" rIns="0" bIns="0" rtlCol="0" anchor="ctr"/>
          <a:lstStyle/>
          <a:p>
            <a:pPr indent="0" marL="0">
              <a:buNone/>
            </a:pPr>
            <a:r>
              <a:rPr lang="en-US" sz="950" dirty="0">
                <a:solidFill>
                  <a:srgbClr val="334155"/>
                </a:solidFill>
              </a:rPr>
              <a:t>✗  Manual lab testing or direct-to-production with rollback plan</a:t>
            </a:r>
            <a:endParaRPr lang="en-US" sz="950" dirty="0"/>
          </a:p>
        </p:txBody>
      </p:sp>
      <p:sp>
        <p:nvSpPr>
          <p:cNvPr id="28" name="Shape 26"/>
          <p:cNvSpPr/>
          <p:nvPr/>
        </p:nvSpPr>
        <p:spPr>
          <a:xfrm>
            <a:off x="182880" y="2551176"/>
            <a:ext cx="2697480" cy="457200"/>
          </a:xfrm>
          <a:prstGeom prst="rect">
            <a:avLst/>
          </a:prstGeom>
          <a:solidFill>
            <a:srgbClr val="F0F4F8"/>
          </a:solidFill>
          <a:ln/>
        </p:spPr>
      </p:sp>
      <p:sp>
        <p:nvSpPr>
          <p:cNvPr id="29" name="Text 27"/>
          <p:cNvSpPr/>
          <p:nvPr/>
        </p:nvSpPr>
        <p:spPr>
          <a:xfrm>
            <a:off x="228600" y="2551176"/>
            <a:ext cx="2606040" cy="457200"/>
          </a:xfrm>
          <a:prstGeom prst="rect">
            <a:avLst/>
          </a:prstGeom>
          <a:noFill/>
          <a:ln/>
        </p:spPr>
        <p:txBody>
          <a:bodyPr wrap="square" lIns="0" tIns="0" rIns="0" bIns="0" rtlCol="0" anchor="ctr"/>
          <a:lstStyle/>
          <a:p>
            <a:pPr indent="0" marL="0">
              <a:buNone/>
            </a:pPr>
            <a:r>
              <a:rPr lang="en-US" sz="1000" b="1" dirty="0">
                <a:solidFill>
                  <a:srgbClr val="0D1B2A"/>
                </a:solidFill>
              </a:rPr>
              <a:t>Policy Management</a:t>
            </a:r>
            <a:endParaRPr lang="en-US" sz="1000" dirty="0"/>
          </a:p>
        </p:txBody>
      </p:sp>
      <p:sp>
        <p:nvSpPr>
          <p:cNvPr id="30" name="Shape 28"/>
          <p:cNvSpPr/>
          <p:nvPr/>
        </p:nvSpPr>
        <p:spPr>
          <a:xfrm>
            <a:off x="3017520" y="2551176"/>
            <a:ext cx="2880360" cy="457200"/>
          </a:xfrm>
          <a:prstGeom prst="rect">
            <a:avLst/>
          </a:prstGeom>
          <a:solidFill>
            <a:srgbClr val="10B981">
              <a:alpha val="20000"/>
            </a:srgbClr>
          </a:solidFill>
          <a:ln/>
        </p:spPr>
      </p:sp>
      <p:sp>
        <p:nvSpPr>
          <p:cNvPr id="31" name="Text 29"/>
          <p:cNvSpPr/>
          <p:nvPr/>
        </p:nvSpPr>
        <p:spPr>
          <a:xfrm>
            <a:off x="3063240" y="2551176"/>
            <a:ext cx="2788920" cy="457200"/>
          </a:xfrm>
          <a:prstGeom prst="rect">
            <a:avLst/>
          </a:prstGeom>
          <a:noFill/>
          <a:ln/>
        </p:spPr>
        <p:txBody>
          <a:bodyPr wrap="square" lIns="0" tIns="0" rIns="0" bIns="0" rtlCol="0" anchor="ctr"/>
          <a:lstStyle/>
          <a:p>
            <a:pPr indent="0" marL="0">
              <a:buNone/>
            </a:pPr>
            <a:r>
              <a:rPr lang="en-US" sz="950" dirty="0">
                <a:solidFill>
                  <a:srgbClr val="334155"/>
                </a:solidFill>
              </a:rPr>
              <a:t>✓  Natural language IBN: 'Prioritize VoIP over guest Wi-Fi'</a:t>
            </a:r>
            <a:endParaRPr lang="en-US" sz="950" dirty="0"/>
          </a:p>
        </p:txBody>
      </p:sp>
      <p:sp>
        <p:nvSpPr>
          <p:cNvPr id="32" name="Shape 30"/>
          <p:cNvSpPr/>
          <p:nvPr/>
        </p:nvSpPr>
        <p:spPr>
          <a:xfrm>
            <a:off x="6035040" y="2551176"/>
            <a:ext cx="2880360" cy="457200"/>
          </a:xfrm>
          <a:prstGeom prst="rect">
            <a:avLst/>
          </a:prstGeom>
          <a:solidFill>
            <a:srgbClr val="F0F4F8"/>
          </a:solidFill>
          <a:ln/>
        </p:spPr>
      </p:sp>
      <p:sp>
        <p:nvSpPr>
          <p:cNvPr id="33" name="Text 31"/>
          <p:cNvSpPr/>
          <p:nvPr/>
        </p:nvSpPr>
        <p:spPr>
          <a:xfrm>
            <a:off x="6080760" y="2551176"/>
            <a:ext cx="2788920" cy="457200"/>
          </a:xfrm>
          <a:prstGeom prst="rect">
            <a:avLst/>
          </a:prstGeom>
          <a:noFill/>
          <a:ln/>
        </p:spPr>
        <p:txBody>
          <a:bodyPr wrap="square" lIns="0" tIns="0" rIns="0" bIns="0" rtlCol="0" anchor="ctr"/>
          <a:lstStyle/>
          <a:p>
            <a:pPr indent="0" marL="0">
              <a:buNone/>
            </a:pPr>
            <a:r>
              <a:rPr lang="en-US" sz="950" dirty="0">
                <a:solidFill>
                  <a:srgbClr val="334155"/>
                </a:solidFill>
              </a:rPr>
              <a:t>✗  CLI-based: requires CCNP/JNCIS certified engineers</a:t>
            </a:r>
            <a:endParaRPr lang="en-US" sz="950" dirty="0"/>
          </a:p>
        </p:txBody>
      </p:sp>
      <p:sp>
        <p:nvSpPr>
          <p:cNvPr id="34" name="Shape 32"/>
          <p:cNvSpPr/>
          <p:nvPr/>
        </p:nvSpPr>
        <p:spPr>
          <a:xfrm>
            <a:off x="182880" y="3035808"/>
            <a:ext cx="2697480" cy="457200"/>
          </a:xfrm>
          <a:prstGeom prst="rect">
            <a:avLst/>
          </a:prstGeom>
          <a:solidFill>
            <a:srgbClr val="FFFFFF"/>
          </a:solidFill>
          <a:ln/>
        </p:spPr>
      </p:sp>
      <p:sp>
        <p:nvSpPr>
          <p:cNvPr id="35" name="Text 33"/>
          <p:cNvSpPr/>
          <p:nvPr/>
        </p:nvSpPr>
        <p:spPr>
          <a:xfrm>
            <a:off x="228600" y="3035808"/>
            <a:ext cx="2606040" cy="457200"/>
          </a:xfrm>
          <a:prstGeom prst="rect">
            <a:avLst/>
          </a:prstGeom>
          <a:noFill/>
          <a:ln/>
        </p:spPr>
        <p:txBody>
          <a:bodyPr wrap="square" lIns="0" tIns="0" rIns="0" bIns="0" rtlCol="0" anchor="ctr"/>
          <a:lstStyle/>
          <a:p>
            <a:pPr indent="0" marL="0">
              <a:buNone/>
            </a:pPr>
            <a:r>
              <a:rPr lang="en-US" sz="1000" b="1" dirty="0">
                <a:solidFill>
                  <a:srgbClr val="0D1B2A"/>
                </a:solidFill>
              </a:rPr>
              <a:t>Hardware Dependency</a:t>
            </a:r>
            <a:endParaRPr lang="en-US" sz="1000" dirty="0"/>
          </a:p>
        </p:txBody>
      </p:sp>
      <p:sp>
        <p:nvSpPr>
          <p:cNvPr id="36" name="Shape 34"/>
          <p:cNvSpPr/>
          <p:nvPr/>
        </p:nvSpPr>
        <p:spPr>
          <a:xfrm>
            <a:off x="3017520" y="3035808"/>
            <a:ext cx="2880360" cy="457200"/>
          </a:xfrm>
          <a:prstGeom prst="rect">
            <a:avLst/>
          </a:prstGeom>
          <a:solidFill>
            <a:srgbClr val="10B981">
              <a:alpha val="20000"/>
            </a:srgbClr>
          </a:solidFill>
          <a:ln/>
        </p:spPr>
      </p:sp>
      <p:sp>
        <p:nvSpPr>
          <p:cNvPr id="37" name="Text 35"/>
          <p:cNvSpPr/>
          <p:nvPr/>
        </p:nvSpPr>
        <p:spPr>
          <a:xfrm>
            <a:off x="3063240" y="3035808"/>
            <a:ext cx="2788920" cy="457200"/>
          </a:xfrm>
          <a:prstGeom prst="rect">
            <a:avLst/>
          </a:prstGeom>
          <a:noFill/>
          <a:ln/>
        </p:spPr>
        <p:txBody>
          <a:bodyPr wrap="square" lIns="0" tIns="0" rIns="0" bIns="0" rtlCol="0" anchor="ctr"/>
          <a:lstStyle/>
          <a:p>
            <a:pPr indent="0" marL="0">
              <a:buNone/>
            </a:pPr>
            <a:r>
              <a:rPr lang="en-US" sz="950" dirty="0">
                <a:solidFill>
                  <a:srgbClr val="334155"/>
                </a:solidFill>
              </a:rPr>
              <a:t>✓  Vendor-agnostic software overlay; runs on commodity hardware</a:t>
            </a:r>
            <a:endParaRPr lang="en-US" sz="950" dirty="0"/>
          </a:p>
        </p:txBody>
      </p:sp>
      <p:sp>
        <p:nvSpPr>
          <p:cNvPr id="38" name="Shape 36"/>
          <p:cNvSpPr/>
          <p:nvPr/>
        </p:nvSpPr>
        <p:spPr>
          <a:xfrm>
            <a:off x="6035040" y="3035808"/>
            <a:ext cx="2880360" cy="457200"/>
          </a:xfrm>
          <a:prstGeom prst="rect">
            <a:avLst/>
          </a:prstGeom>
          <a:solidFill>
            <a:srgbClr val="FFFFFF"/>
          </a:solidFill>
          <a:ln/>
        </p:spPr>
      </p:sp>
      <p:sp>
        <p:nvSpPr>
          <p:cNvPr id="39" name="Text 37"/>
          <p:cNvSpPr/>
          <p:nvPr/>
        </p:nvSpPr>
        <p:spPr>
          <a:xfrm>
            <a:off x="6080760" y="3035808"/>
            <a:ext cx="2788920" cy="457200"/>
          </a:xfrm>
          <a:prstGeom prst="rect">
            <a:avLst/>
          </a:prstGeom>
          <a:noFill/>
          <a:ln/>
        </p:spPr>
        <p:txBody>
          <a:bodyPr wrap="square" lIns="0" tIns="0" rIns="0" bIns="0" rtlCol="0" anchor="ctr"/>
          <a:lstStyle/>
          <a:p>
            <a:pPr indent="0" marL="0">
              <a:buNone/>
            </a:pPr>
            <a:r>
              <a:rPr lang="en-US" sz="950" dirty="0">
                <a:solidFill>
                  <a:srgbClr val="334155"/>
                </a:solidFill>
              </a:rPr>
              <a:t>✗  Proprietary hardware required (Cisco, Fortinet appliances)</a:t>
            </a:r>
            <a:endParaRPr lang="en-US" sz="950" dirty="0"/>
          </a:p>
        </p:txBody>
      </p:sp>
      <p:sp>
        <p:nvSpPr>
          <p:cNvPr id="40" name="Shape 38"/>
          <p:cNvSpPr/>
          <p:nvPr/>
        </p:nvSpPr>
        <p:spPr>
          <a:xfrm>
            <a:off x="182880" y="3520440"/>
            <a:ext cx="2697480" cy="457200"/>
          </a:xfrm>
          <a:prstGeom prst="rect">
            <a:avLst/>
          </a:prstGeom>
          <a:solidFill>
            <a:srgbClr val="F0F4F8"/>
          </a:solidFill>
          <a:ln/>
        </p:spPr>
      </p:sp>
      <p:sp>
        <p:nvSpPr>
          <p:cNvPr id="41" name="Text 39"/>
          <p:cNvSpPr/>
          <p:nvPr/>
        </p:nvSpPr>
        <p:spPr>
          <a:xfrm>
            <a:off x="228600" y="3520440"/>
            <a:ext cx="2606040" cy="457200"/>
          </a:xfrm>
          <a:prstGeom prst="rect">
            <a:avLst/>
          </a:prstGeom>
          <a:noFill/>
          <a:ln/>
        </p:spPr>
        <p:txBody>
          <a:bodyPr wrap="square" lIns="0" tIns="0" rIns="0" bIns="0" rtlCol="0" anchor="ctr"/>
          <a:lstStyle/>
          <a:p>
            <a:pPr indent="0" marL="0">
              <a:buNone/>
            </a:pPr>
            <a:r>
              <a:rPr lang="en-US" sz="1000" b="1" dirty="0">
                <a:solidFill>
                  <a:srgbClr val="0D1B2A"/>
                </a:solidFill>
              </a:rPr>
              <a:t>Cost Model</a:t>
            </a:r>
            <a:endParaRPr lang="en-US" sz="1000" dirty="0"/>
          </a:p>
        </p:txBody>
      </p:sp>
      <p:sp>
        <p:nvSpPr>
          <p:cNvPr id="42" name="Shape 40"/>
          <p:cNvSpPr/>
          <p:nvPr/>
        </p:nvSpPr>
        <p:spPr>
          <a:xfrm>
            <a:off x="3017520" y="3520440"/>
            <a:ext cx="2880360" cy="457200"/>
          </a:xfrm>
          <a:prstGeom prst="rect">
            <a:avLst/>
          </a:prstGeom>
          <a:solidFill>
            <a:srgbClr val="10B981">
              <a:alpha val="20000"/>
            </a:srgbClr>
          </a:solidFill>
          <a:ln/>
        </p:spPr>
      </p:sp>
      <p:sp>
        <p:nvSpPr>
          <p:cNvPr id="43" name="Text 41"/>
          <p:cNvSpPr/>
          <p:nvPr/>
        </p:nvSpPr>
        <p:spPr>
          <a:xfrm>
            <a:off x="3063240" y="3520440"/>
            <a:ext cx="2788920" cy="457200"/>
          </a:xfrm>
          <a:prstGeom prst="rect">
            <a:avLst/>
          </a:prstGeom>
          <a:noFill/>
          <a:ln/>
        </p:spPr>
        <p:txBody>
          <a:bodyPr wrap="square" lIns="0" tIns="0" rIns="0" bIns="0" rtlCol="0" anchor="ctr"/>
          <a:lstStyle/>
          <a:p>
            <a:pPr indent="0" marL="0">
              <a:buNone/>
            </a:pPr>
            <a:r>
              <a:rPr lang="en-US" sz="950" dirty="0">
                <a:solidFill>
                  <a:srgbClr val="334155"/>
                </a:solidFill>
              </a:rPr>
              <a:t>✓  SaaS subscription; open-source components; no hardware CapEx</a:t>
            </a:r>
            <a:endParaRPr lang="en-US" sz="950" dirty="0"/>
          </a:p>
        </p:txBody>
      </p:sp>
      <p:sp>
        <p:nvSpPr>
          <p:cNvPr id="44" name="Shape 42"/>
          <p:cNvSpPr/>
          <p:nvPr/>
        </p:nvSpPr>
        <p:spPr>
          <a:xfrm>
            <a:off x="6035040" y="3520440"/>
            <a:ext cx="2880360" cy="457200"/>
          </a:xfrm>
          <a:prstGeom prst="rect">
            <a:avLst/>
          </a:prstGeom>
          <a:solidFill>
            <a:srgbClr val="F0F4F8"/>
          </a:solidFill>
          <a:ln/>
        </p:spPr>
      </p:sp>
      <p:sp>
        <p:nvSpPr>
          <p:cNvPr id="45" name="Text 43"/>
          <p:cNvSpPr/>
          <p:nvPr/>
        </p:nvSpPr>
        <p:spPr>
          <a:xfrm>
            <a:off x="6080760" y="3520440"/>
            <a:ext cx="2788920" cy="457200"/>
          </a:xfrm>
          <a:prstGeom prst="rect">
            <a:avLst/>
          </a:prstGeom>
          <a:noFill/>
          <a:ln/>
        </p:spPr>
        <p:txBody>
          <a:bodyPr wrap="square" lIns="0" tIns="0" rIns="0" bIns="0" rtlCol="0" anchor="ctr"/>
          <a:lstStyle/>
          <a:p>
            <a:pPr indent="0" marL="0">
              <a:buNone/>
            </a:pPr>
            <a:r>
              <a:rPr lang="en-US" sz="950" dirty="0">
                <a:solidFill>
                  <a:srgbClr val="334155"/>
                </a:solidFill>
              </a:rPr>
              <a:t>✗  High CapEx + OpEx; per-device licensing; vendor support contracts</a:t>
            </a:r>
            <a:endParaRPr lang="en-US" sz="950" dirty="0"/>
          </a:p>
        </p:txBody>
      </p:sp>
      <p:sp>
        <p:nvSpPr>
          <p:cNvPr id="46" name="Shape 44"/>
          <p:cNvSpPr/>
          <p:nvPr/>
        </p:nvSpPr>
        <p:spPr>
          <a:xfrm>
            <a:off x="182880" y="4005072"/>
            <a:ext cx="2697480" cy="457200"/>
          </a:xfrm>
          <a:prstGeom prst="rect">
            <a:avLst/>
          </a:prstGeom>
          <a:solidFill>
            <a:srgbClr val="FFFFFF"/>
          </a:solidFill>
          <a:ln/>
        </p:spPr>
      </p:sp>
      <p:sp>
        <p:nvSpPr>
          <p:cNvPr id="47" name="Text 45"/>
          <p:cNvSpPr/>
          <p:nvPr/>
        </p:nvSpPr>
        <p:spPr>
          <a:xfrm>
            <a:off x="228600" y="4005072"/>
            <a:ext cx="2606040" cy="457200"/>
          </a:xfrm>
          <a:prstGeom prst="rect">
            <a:avLst/>
          </a:prstGeom>
          <a:noFill/>
          <a:ln/>
        </p:spPr>
        <p:txBody>
          <a:bodyPr wrap="square" lIns="0" tIns="0" rIns="0" bIns="0" rtlCol="0" anchor="ctr"/>
          <a:lstStyle/>
          <a:p>
            <a:pPr indent="0" marL="0">
              <a:buNone/>
            </a:pPr>
            <a:r>
              <a:rPr lang="en-US" sz="1000" b="1" dirty="0">
                <a:solidFill>
                  <a:srgbClr val="0D1B2A"/>
                </a:solidFill>
              </a:rPr>
              <a:t>AI Transparency</a:t>
            </a:r>
            <a:endParaRPr lang="en-US" sz="1000" dirty="0"/>
          </a:p>
        </p:txBody>
      </p:sp>
      <p:sp>
        <p:nvSpPr>
          <p:cNvPr id="48" name="Shape 46"/>
          <p:cNvSpPr/>
          <p:nvPr/>
        </p:nvSpPr>
        <p:spPr>
          <a:xfrm>
            <a:off x="3017520" y="4005072"/>
            <a:ext cx="2880360" cy="457200"/>
          </a:xfrm>
          <a:prstGeom prst="rect">
            <a:avLst/>
          </a:prstGeom>
          <a:solidFill>
            <a:srgbClr val="10B981">
              <a:alpha val="20000"/>
            </a:srgbClr>
          </a:solidFill>
          <a:ln/>
        </p:spPr>
      </p:sp>
      <p:sp>
        <p:nvSpPr>
          <p:cNvPr id="49" name="Text 47"/>
          <p:cNvSpPr/>
          <p:nvPr/>
        </p:nvSpPr>
        <p:spPr>
          <a:xfrm>
            <a:off x="3063240" y="4005072"/>
            <a:ext cx="2788920" cy="457200"/>
          </a:xfrm>
          <a:prstGeom prst="rect">
            <a:avLst/>
          </a:prstGeom>
          <a:noFill/>
          <a:ln/>
        </p:spPr>
        <p:txBody>
          <a:bodyPr wrap="square" lIns="0" tIns="0" rIns="0" bIns="0" rtlCol="0" anchor="ctr"/>
          <a:lstStyle/>
          <a:p>
            <a:pPr indent="0" marL="0">
              <a:buNone/>
            </a:pPr>
            <a:r>
              <a:rPr lang="en-US" sz="950" dirty="0">
                <a:solidFill>
                  <a:srgbClr val="334155"/>
                </a:solidFill>
              </a:rPr>
              <a:t>✓  Full audit log; plain-language AI reasoning; hash-chain integrity</a:t>
            </a:r>
            <a:endParaRPr lang="en-US" sz="950" dirty="0"/>
          </a:p>
        </p:txBody>
      </p:sp>
      <p:sp>
        <p:nvSpPr>
          <p:cNvPr id="50" name="Shape 48"/>
          <p:cNvSpPr/>
          <p:nvPr/>
        </p:nvSpPr>
        <p:spPr>
          <a:xfrm>
            <a:off x="6035040" y="4005072"/>
            <a:ext cx="2880360" cy="457200"/>
          </a:xfrm>
          <a:prstGeom prst="rect">
            <a:avLst/>
          </a:prstGeom>
          <a:solidFill>
            <a:srgbClr val="FFFFFF"/>
          </a:solidFill>
          <a:ln/>
        </p:spPr>
      </p:sp>
      <p:sp>
        <p:nvSpPr>
          <p:cNvPr id="51" name="Text 49"/>
          <p:cNvSpPr/>
          <p:nvPr/>
        </p:nvSpPr>
        <p:spPr>
          <a:xfrm>
            <a:off x="6080760" y="4005072"/>
            <a:ext cx="2788920" cy="457200"/>
          </a:xfrm>
          <a:prstGeom prst="rect">
            <a:avLst/>
          </a:prstGeom>
          <a:noFill/>
          <a:ln/>
        </p:spPr>
        <p:txBody>
          <a:bodyPr wrap="square" lIns="0" tIns="0" rIns="0" bIns="0" rtlCol="0" anchor="ctr"/>
          <a:lstStyle/>
          <a:p>
            <a:pPr indent="0" marL="0">
              <a:buNone/>
            </a:pPr>
            <a:r>
              <a:rPr lang="en-US" sz="950" dirty="0">
                <a:solidFill>
                  <a:srgbClr val="334155"/>
                </a:solidFill>
              </a:rPr>
              <a:t>✗  Basic logging only; no AI decision explainability</a:t>
            </a:r>
            <a:endParaRPr lang="en-US" sz="950" dirty="0"/>
          </a:p>
        </p:txBody>
      </p:sp>
      <p:sp>
        <p:nvSpPr>
          <p:cNvPr id="52" name="Shape 50"/>
          <p:cNvSpPr/>
          <p:nvPr/>
        </p:nvSpPr>
        <p:spPr>
          <a:xfrm>
            <a:off x="182880" y="4489704"/>
            <a:ext cx="2697480" cy="457200"/>
          </a:xfrm>
          <a:prstGeom prst="rect">
            <a:avLst/>
          </a:prstGeom>
          <a:solidFill>
            <a:srgbClr val="F0F4F8"/>
          </a:solidFill>
          <a:ln/>
        </p:spPr>
      </p:sp>
      <p:sp>
        <p:nvSpPr>
          <p:cNvPr id="53" name="Text 51"/>
          <p:cNvSpPr/>
          <p:nvPr/>
        </p:nvSpPr>
        <p:spPr>
          <a:xfrm>
            <a:off x="228600" y="4489704"/>
            <a:ext cx="2606040" cy="457200"/>
          </a:xfrm>
          <a:prstGeom prst="rect">
            <a:avLst/>
          </a:prstGeom>
          <a:noFill/>
          <a:ln/>
        </p:spPr>
        <p:txBody>
          <a:bodyPr wrap="square" lIns="0" tIns="0" rIns="0" bIns="0" rtlCol="0" anchor="ctr"/>
          <a:lstStyle/>
          <a:p>
            <a:pPr indent="0" marL="0">
              <a:buNone/>
            </a:pPr>
            <a:r>
              <a:rPr lang="en-US" sz="1000" b="1" dirty="0">
                <a:solidFill>
                  <a:srgbClr val="0D1B2A"/>
                </a:solidFill>
              </a:rPr>
              <a:t>Target Market</a:t>
            </a:r>
            <a:endParaRPr lang="en-US" sz="1000" dirty="0"/>
          </a:p>
        </p:txBody>
      </p:sp>
      <p:sp>
        <p:nvSpPr>
          <p:cNvPr id="54" name="Shape 52"/>
          <p:cNvSpPr/>
          <p:nvPr/>
        </p:nvSpPr>
        <p:spPr>
          <a:xfrm>
            <a:off x="3017520" y="4489704"/>
            <a:ext cx="2880360" cy="457200"/>
          </a:xfrm>
          <a:prstGeom prst="rect">
            <a:avLst/>
          </a:prstGeom>
          <a:solidFill>
            <a:srgbClr val="10B981">
              <a:alpha val="20000"/>
            </a:srgbClr>
          </a:solidFill>
          <a:ln/>
        </p:spPr>
      </p:sp>
      <p:sp>
        <p:nvSpPr>
          <p:cNvPr id="55" name="Text 53"/>
          <p:cNvSpPr/>
          <p:nvPr/>
        </p:nvSpPr>
        <p:spPr>
          <a:xfrm>
            <a:off x="3063240" y="4489704"/>
            <a:ext cx="2788920" cy="457200"/>
          </a:xfrm>
          <a:prstGeom prst="rect">
            <a:avLst/>
          </a:prstGeom>
          <a:noFill/>
          <a:ln/>
        </p:spPr>
        <p:txBody>
          <a:bodyPr wrap="square" lIns="0" tIns="0" rIns="0" bIns="0" rtlCol="0" anchor="ctr"/>
          <a:lstStyle/>
          <a:p>
            <a:pPr indent="0" marL="0">
              <a:buNone/>
            </a:pPr>
            <a:r>
              <a:rPr lang="en-US" sz="950" dirty="0">
                <a:solidFill>
                  <a:srgbClr val="334155"/>
                </a:solidFill>
              </a:rPr>
              <a:t>✓  SMEs, MSPs, Healthcare, Education, Retail — accessible tiers</a:t>
            </a:r>
            <a:endParaRPr lang="en-US" sz="950" dirty="0"/>
          </a:p>
        </p:txBody>
      </p:sp>
      <p:sp>
        <p:nvSpPr>
          <p:cNvPr id="56" name="Shape 54"/>
          <p:cNvSpPr/>
          <p:nvPr/>
        </p:nvSpPr>
        <p:spPr>
          <a:xfrm>
            <a:off x="6035040" y="4489704"/>
            <a:ext cx="2880360" cy="457200"/>
          </a:xfrm>
          <a:prstGeom prst="rect">
            <a:avLst/>
          </a:prstGeom>
          <a:solidFill>
            <a:srgbClr val="F0F4F8"/>
          </a:solidFill>
          <a:ln/>
        </p:spPr>
      </p:sp>
      <p:sp>
        <p:nvSpPr>
          <p:cNvPr id="57" name="Text 55"/>
          <p:cNvSpPr/>
          <p:nvPr/>
        </p:nvSpPr>
        <p:spPr>
          <a:xfrm>
            <a:off x="6080760" y="4489704"/>
            <a:ext cx="2788920" cy="457200"/>
          </a:xfrm>
          <a:prstGeom prst="rect">
            <a:avLst/>
          </a:prstGeom>
          <a:noFill/>
          <a:ln/>
        </p:spPr>
        <p:txBody>
          <a:bodyPr wrap="square" lIns="0" tIns="0" rIns="0" bIns="0" rtlCol="0" anchor="ctr"/>
          <a:lstStyle/>
          <a:p>
            <a:pPr indent="0" marL="0">
              <a:buNone/>
            </a:pPr>
            <a:r>
              <a:rPr lang="en-US" sz="950" dirty="0">
                <a:solidFill>
                  <a:srgbClr val="334155"/>
                </a:solidFill>
              </a:rPr>
              <a:t>✗  Enterprise-only; pricing and complexity exclude SMEs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0"/>
            <a:ext cx="8595360" cy="685800"/>
          </a:xfrm>
          <a:prstGeom prst="rect">
            <a:avLst/>
          </a:prstGeom>
          <a:noFill/>
          <a:ln/>
        </p:spPr>
        <p:txBody>
          <a:bodyPr wrap="square" lIns="0" tIns="0" rIns="0" bIns="0" rtlCol="0" anchor="ctr"/>
          <a:lstStyle/>
          <a:p>
            <a:pPr indent="0" marL="0">
              <a:buNone/>
            </a:pPr>
            <a:r>
              <a:rPr lang="en-US" sz="2200" b="1" dirty="0">
                <a:solidFill>
                  <a:srgbClr val="FFFFFF"/>
                </a:solidFill>
              </a:rPr>
              <a:t>Future Scope &amp; Roadmap</a:t>
            </a:r>
            <a:endParaRPr lang="en-US" sz="2200" dirty="0"/>
          </a:p>
        </p:txBody>
      </p:sp>
      <p:sp>
        <p:nvSpPr>
          <p:cNvPr id="4" name="Shape 2"/>
          <p:cNvSpPr/>
          <p:nvPr/>
        </p:nvSpPr>
        <p:spPr>
          <a:xfrm>
            <a:off x="228600" y="804672"/>
            <a:ext cx="2724912" cy="40416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5" name="Shape 3"/>
          <p:cNvSpPr/>
          <p:nvPr/>
        </p:nvSpPr>
        <p:spPr>
          <a:xfrm>
            <a:off x="228600" y="804672"/>
            <a:ext cx="2724912" cy="411480"/>
          </a:xfrm>
          <a:prstGeom prst="rect">
            <a:avLst/>
          </a:prstGeom>
          <a:solidFill>
            <a:srgbClr val="028090"/>
          </a:solidFill>
          <a:ln/>
        </p:spPr>
      </p:sp>
      <p:sp>
        <p:nvSpPr>
          <p:cNvPr id="6" name="Text 4"/>
          <p:cNvSpPr/>
          <p:nvPr/>
        </p:nvSpPr>
        <p:spPr>
          <a:xfrm>
            <a:off x="301752" y="804672"/>
            <a:ext cx="2578608" cy="411480"/>
          </a:xfrm>
          <a:prstGeom prst="rect">
            <a:avLst/>
          </a:prstGeom>
          <a:noFill/>
          <a:ln/>
        </p:spPr>
        <p:txBody>
          <a:bodyPr wrap="square" lIns="0" tIns="0" rIns="0" bIns="0" rtlCol="0" anchor="ctr"/>
          <a:lstStyle/>
          <a:p>
            <a:pPr indent="0" marL="0">
              <a:buNone/>
            </a:pPr>
            <a:r>
              <a:rPr lang="en-US" sz="1100" b="1" dirty="0">
                <a:solidFill>
                  <a:srgbClr val="FFFFFF"/>
                </a:solidFill>
              </a:rPr>
              <a:t>Phase 2 · Near-Term</a:t>
            </a:r>
            <a:endParaRPr lang="en-US" sz="1100" dirty="0"/>
          </a:p>
        </p:txBody>
      </p:sp>
      <p:sp>
        <p:nvSpPr>
          <p:cNvPr id="7" name="Shape 5"/>
          <p:cNvSpPr/>
          <p:nvPr/>
        </p:nvSpPr>
        <p:spPr>
          <a:xfrm>
            <a:off x="338328" y="1353312"/>
            <a:ext cx="137160" cy="137160"/>
          </a:xfrm>
          <a:prstGeom prst="ellipse">
            <a:avLst/>
          </a:prstGeom>
          <a:solidFill>
            <a:srgbClr val="028090"/>
          </a:solidFill>
          <a:ln w="12700">
            <a:solidFill>
              <a:srgbClr val="028090"/>
            </a:solidFill>
            <a:prstDash val="solid"/>
          </a:ln>
        </p:spPr>
      </p:sp>
      <p:sp>
        <p:nvSpPr>
          <p:cNvPr id="8" name="Text 6"/>
          <p:cNvSpPr/>
          <p:nvPr/>
        </p:nvSpPr>
        <p:spPr>
          <a:xfrm>
            <a:off x="548640" y="1298448"/>
            <a:ext cx="2286000" cy="658368"/>
          </a:xfrm>
          <a:prstGeom prst="rect">
            <a:avLst/>
          </a:prstGeom>
          <a:noFill/>
          <a:ln/>
        </p:spPr>
        <p:txBody>
          <a:bodyPr wrap="square" lIns="0" tIns="0" rIns="0" bIns="0" rtlCol="0" anchor="ctr"/>
          <a:lstStyle/>
          <a:p>
            <a:pPr indent="0" marL="0">
              <a:buNone/>
            </a:pPr>
            <a:r>
              <a:rPr lang="en-US" sz="1050" dirty="0">
                <a:solidFill>
                  <a:srgbClr val="334155"/>
                </a:solidFill>
              </a:rPr>
              <a:t>Expand LSTM to multi-variate prediction (BGP flaps, CPU load)</a:t>
            </a:r>
            <a:endParaRPr lang="en-US" sz="1050" dirty="0"/>
          </a:p>
        </p:txBody>
      </p:sp>
      <p:sp>
        <p:nvSpPr>
          <p:cNvPr id="9" name="Shape 7"/>
          <p:cNvSpPr/>
          <p:nvPr/>
        </p:nvSpPr>
        <p:spPr>
          <a:xfrm>
            <a:off x="338328" y="2103120"/>
            <a:ext cx="137160" cy="137160"/>
          </a:xfrm>
          <a:prstGeom prst="ellipse">
            <a:avLst/>
          </a:prstGeom>
          <a:solidFill>
            <a:srgbClr val="028090"/>
          </a:solidFill>
          <a:ln w="12700">
            <a:solidFill>
              <a:srgbClr val="028090"/>
            </a:solidFill>
            <a:prstDash val="solid"/>
          </a:ln>
        </p:spPr>
      </p:sp>
      <p:sp>
        <p:nvSpPr>
          <p:cNvPr id="10" name="Text 8"/>
          <p:cNvSpPr/>
          <p:nvPr/>
        </p:nvSpPr>
        <p:spPr>
          <a:xfrm>
            <a:off x="548640" y="2048256"/>
            <a:ext cx="2286000" cy="658368"/>
          </a:xfrm>
          <a:prstGeom prst="rect">
            <a:avLst/>
          </a:prstGeom>
          <a:noFill/>
          <a:ln/>
        </p:spPr>
        <p:txBody>
          <a:bodyPr wrap="square" lIns="0" tIns="0" rIns="0" bIns="0" rtlCol="0" anchor="ctr"/>
          <a:lstStyle/>
          <a:p>
            <a:pPr indent="0" marL="0">
              <a:buNone/>
            </a:pPr>
            <a:r>
              <a:rPr lang="en-US" sz="1050" dirty="0">
                <a:solidFill>
                  <a:srgbClr val="334155"/>
                </a:solidFill>
              </a:rPr>
              <a:t>Open-ended NLP via fine-tuned LLM with guardrails for policy translation</a:t>
            </a:r>
            <a:endParaRPr lang="en-US" sz="1050" dirty="0"/>
          </a:p>
        </p:txBody>
      </p:sp>
      <p:sp>
        <p:nvSpPr>
          <p:cNvPr id="11" name="Shape 9"/>
          <p:cNvSpPr/>
          <p:nvPr/>
        </p:nvSpPr>
        <p:spPr>
          <a:xfrm>
            <a:off x="338328" y="2852928"/>
            <a:ext cx="137160" cy="137160"/>
          </a:xfrm>
          <a:prstGeom prst="ellipse">
            <a:avLst/>
          </a:prstGeom>
          <a:solidFill>
            <a:srgbClr val="028090"/>
          </a:solidFill>
          <a:ln w="12700">
            <a:solidFill>
              <a:srgbClr val="028090"/>
            </a:solidFill>
            <a:prstDash val="solid"/>
          </a:ln>
        </p:spPr>
      </p:sp>
      <p:sp>
        <p:nvSpPr>
          <p:cNvPr id="12" name="Text 10"/>
          <p:cNvSpPr/>
          <p:nvPr/>
        </p:nvSpPr>
        <p:spPr>
          <a:xfrm>
            <a:off x="548640" y="2798064"/>
            <a:ext cx="2286000" cy="658368"/>
          </a:xfrm>
          <a:prstGeom prst="rect">
            <a:avLst/>
          </a:prstGeom>
          <a:noFill/>
          <a:ln/>
        </p:spPr>
        <p:txBody>
          <a:bodyPr wrap="square" lIns="0" tIns="0" rIns="0" bIns="0" rtlCol="0" anchor="ctr"/>
          <a:lstStyle/>
          <a:p>
            <a:pPr indent="0" marL="0">
              <a:buNone/>
            </a:pPr>
            <a:r>
              <a:rPr lang="en-US" sz="1050" dirty="0">
                <a:solidFill>
                  <a:srgbClr val="334155"/>
                </a:solidFill>
              </a:rPr>
              <a:t>Mobile app for on-the-go network monitoring &amp; alert management</a:t>
            </a:r>
            <a:endParaRPr lang="en-US" sz="1050" dirty="0"/>
          </a:p>
        </p:txBody>
      </p:sp>
      <p:sp>
        <p:nvSpPr>
          <p:cNvPr id="13" name="Shape 11"/>
          <p:cNvSpPr/>
          <p:nvPr/>
        </p:nvSpPr>
        <p:spPr>
          <a:xfrm>
            <a:off x="338328" y="3602736"/>
            <a:ext cx="137160" cy="137160"/>
          </a:xfrm>
          <a:prstGeom prst="ellipse">
            <a:avLst/>
          </a:prstGeom>
          <a:solidFill>
            <a:srgbClr val="028090"/>
          </a:solidFill>
          <a:ln w="12700">
            <a:solidFill>
              <a:srgbClr val="028090"/>
            </a:solidFill>
            <a:prstDash val="solid"/>
          </a:ln>
        </p:spPr>
      </p:sp>
      <p:sp>
        <p:nvSpPr>
          <p:cNvPr id="14" name="Text 12"/>
          <p:cNvSpPr/>
          <p:nvPr/>
        </p:nvSpPr>
        <p:spPr>
          <a:xfrm>
            <a:off x="548640" y="3547872"/>
            <a:ext cx="2286000" cy="658368"/>
          </a:xfrm>
          <a:prstGeom prst="rect">
            <a:avLst/>
          </a:prstGeom>
          <a:noFill/>
          <a:ln/>
        </p:spPr>
        <p:txBody>
          <a:bodyPr wrap="square" lIns="0" tIns="0" rIns="0" bIns="0" rtlCol="0" anchor="ctr"/>
          <a:lstStyle/>
          <a:p>
            <a:pPr indent="0" marL="0">
              <a:buNone/>
            </a:pPr>
            <a:r>
              <a:rPr lang="en-US" sz="1050" dirty="0">
                <a:solidFill>
                  <a:srgbClr val="334155"/>
                </a:solidFill>
              </a:rPr>
              <a:t>Multi-tenant MSP portal with per-client dashboards</a:t>
            </a:r>
            <a:endParaRPr lang="en-US" sz="1050" dirty="0"/>
          </a:p>
        </p:txBody>
      </p:sp>
      <p:sp>
        <p:nvSpPr>
          <p:cNvPr id="15" name="Shape 13"/>
          <p:cNvSpPr/>
          <p:nvPr/>
        </p:nvSpPr>
        <p:spPr>
          <a:xfrm>
            <a:off x="3154680" y="804672"/>
            <a:ext cx="2724912" cy="40416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6" name="Shape 14"/>
          <p:cNvSpPr/>
          <p:nvPr/>
        </p:nvSpPr>
        <p:spPr>
          <a:xfrm>
            <a:off x="3154680" y="804672"/>
            <a:ext cx="2724912" cy="411480"/>
          </a:xfrm>
          <a:prstGeom prst="rect">
            <a:avLst/>
          </a:prstGeom>
          <a:solidFill>
            <a:srgbClr val="00A896"/>
          </a:solidFill>
          <a:ln/>
        </p:spPr>
      </p:sp>
      <p:sp>
        <p:nvSpPr>
          <p:cNvPr id="17" name="Text 15"/>
          <p:cNvSpPr/>
          <p:nvPr/>
        </p:nvSpPr>
        <p:spPr>
          <a:xfrm>
            <a:off x="3227832" y="804672"/>
            <a:ext cx="2578608" cy="411480"/>
          </a:xfrm>
          <a:prstGeom prst="rect">
            <a:avLst/>
          </a:prstGeom>
          <a:noFill/>
          <a:ln/>
        </p:spPr>
        <p:txBody>
          <a:bodyPr wrap="square" lIns="0" tIns="0" rIns="0" bIns="0" rtlCol="0" anchor="ctr"/>
          <a:lstStyle/>
          <a:p>
            <a:pPr indent="0" marL="0">
              <a:buNone/>
            </a:pPr>
            <a:r>
              <a:rPr lang="en-US" sz="1100" b="1" dirty="0">
                <a:solidFill>
                  <a:srgbClr val="FFFFFF"/>
                </a:solidFill>
              </a:rPr>
              <a:t>Phase 3 · Mid-Term</a:t>
            </a:r>
            <a:endParaRPr lang="en-US" sz="1100" dirty="0"/>
          </a:p>
        </p:txBody>
      </p:sp>
      <p:sp>
        <p:nvSpPr>
          <p:cNvPr id="18" name="Shape 16"/>
          <p:cNvSpPr/>
          <p:nvPr/>
        </p:nvSpPr>
        <p:spPr>
          <a:xfrm>
            <a:off x="3264408" y="1353312"/>
            <a:ext cx="137160" cy="137160"/>
          </a:xfrm>
          <a:prstGeom prst="ellipse">
            <a:avLst/>
          </a:prstGeom>
          <a:solidFill>
            <a:srgbClr val="00A896"/>
          </a:solidFill>
          <a:ln w="12700">
            <a:solidFill>
              <a:srgbClr val="00A896"/>
            </a:solidFill>
            <a:prstDash val="solid"/>
          </a:ln>
        </p:spPr>
      </p:sp>
      <p:sp>
        <p:nvSpPr>
          <p:cNvPr id="19" name="Text 17"/>
          <p:cNvSpPr/>
          <p:nvPr/>
        </p:nvSpPr>
        <p:spPr>
          <a:xfrm>
            <a:off x="3474720" y="1298448"/>
            <a:ext cx="2286000" cy="658368"/>
          </a:xfrm>
          <a:prstGeom prst="rect">
            <a:avLst/>
          </a:prstGeom>
          <a:noFill/>
          <a:ln/>
        </p:spPr>
        <p:txBody>
          <a:bodyPr wrap="square" lIns="0" tIns="0" rIns="0" bIns="0" rtlCol="0" anchor="ctr"/>
          <a:lstStyle/>
          <a:p>
            <a:pPr indent="0" marL="0">
              <a:buNone/>
            </a:pPr>
            <a:r>
              <a:rPr lang="en-US" sz="1050" dirty="0">
                <a:solidFill>
                  <a:srgbClr val="334155"/>
                </a:solidFill>
              </a:rPr>
              <a:t>Federated learning: privacy-preserving model improvement across client sites</a:t>
            </a:r>
            <a:endParaRPr lang="en-US" sz="1050" dirty="0"/>
          </a:p>
        </p:txBody>
      </p:sp>
      <p:sp>
        <p:nvSpPr>
          <p:cNvPr id="20" name="Shape 18"/>
          <p:cNvSpPr/>
          <p:nvPr/>
        </p:nvSpPr>
        <p:spPr>
          <a:xfrm>
            <a:off x="3264408" y="2103120"/>
            <a:ext cx="137160" cy="137160"/>
          </a:xfrm>
          <a:prstGeom prst="ellipse">
            <a:avLst/>
          </a:prstGeom>
          <a:solidFill>
            <a:srgbClr val="00A896"/>
          </a:solidFill>
          <a:ln w="12700">
            <a:solidFill>
              <a:srgbClr val="00A896"/>
            </a:solidFill>
            <a:prstDash val="solid"/>
          </a:ln>
        </p:spPr>
      </p:sp>
      <p:sp>
        <p:nvSpPr>
          <p:cNvPr id="21" name="Text 19"/>
          <p:cNvSpPr/>
          <p:nvPr/>
        </p:nvSpPr>
        <p:spPr>
          <a:xfrm>
            <a:off x="3474720" y="2048256"/>
            <a:ext cx="2286000" cy="658368"/>
          </a:xfrm>
          <a:prstGeom prst="rect">
            <a:avLst/>
          </a:prstGeom>
          <a:noFill/>
          <a:ln/>
        </p:spPr>
        <p:txBody>
          <a:bodyPr wrap="square" lIns="0" tIns="0" rIns="0" bIns="0" rtlCol="0" anchor="ctr"/>
          <a:lstStyle/>
          <a:p>
            <a:pPr indent="0" marL="0">
              <a:buNone/>
            </a:pPr>
            <a:r>
              <a:rPr lang="en-US" sz="1050" dirty="0">
                <a:solidFill>
                  <a:srgbClr val="334155"/>
                </a:solidFill>
              </a:rPr>
              <a:t>SD-WAN controller integration: SD-WAN fabric with OEM vendor APIs</a:t>
            </a:r>
            <a:endParaRPr lang="en-US" sz="1050" dirty="0"/>
          </a:p>
        </p:txBody>
      </p:sp>
      <p:sp>
        <p:nvSpPr>
          <p:cNvPr id="22" name="Shape 20"/>
          <p:cNvSpPr/>
          <p:nvPr/>
        </p:nvSpPr>
        <p:spPr>
          <a:xfrm>
            <a:off x="3264408" y="2852928"/>
            <a:ext cx="137160" cy="137160"/>
          </a:xfrm>
          <a:prstGeom prst="ellipse">
            <a:avLst/>
          </a:prstGeom>
          <a:solidFill>
            <a:srgbClr val="00A896"/>
          </a:solidFill>
          <a:ln w="12700">
            <a:solidFill>
              <a:srgbClr val="00A896"/>
            </a:solidFill>
            <a:prstDash val="solid"/>
          </a:ln>
        </p:spPr>
      </p:sp>
      <p:sp>
        <p:nvSpPr>
          <p:cNvPr id="23" name="Text 21"/>
          <p:cNvSpPr/>
          <p:nvPr/>
        </p:nvSpPr>
        <p:spPr>
          <a:xfrm>
            <a:off x="3474720" y="2798064"/>
            <a:ext cx="2286000" cy="658368"/>
          </a:xfrm>
          <a:prstGeom prst="rect">
            <a:avLst/>
          </a:prstGeom>
          <a:noFill/>
          <a:ln/>
        </p:spPr>
        <p:txBody>
          <a:bodyPr wrap="square" lIns="0" tIns="0" rIns="0" bIns="0" rtlCol="0" anchor="ctr"/>
          <a:lstStyle/>
          <a:p>
            <a:pPr indent="0" marL="0">
              <a:buNone/>
            </a:pPr>
            <a:r>
              <a:rPr lang="en-US" sz="1050" dirty="0">
                <a:solidFill>
                  <a:srgbClr val="334155"/>
                </a:solidFill>
              </a:rPr>
              <a:t>Kubernetes-native deployment with auto-scaling telemetry ingestion</a:t>
            </a:r>
            <a:endParaRPr lang="en-US" sz="1050" dirty="0"/>
          </a:p>
        </p:txBody>
      </p:sp>
      <p:sp>
        <p:nvSpPr>
          <p:cNvPr id="24" name="Shape 22"/>
          <p:cNvSpPr/>
          <p:nvPr/>
        </p:nvSpPr>
        <p:spPr>
          <a:xfrm>
            <a:off x="3264408" y="3602736"/>
            <a:ext cx="137160" cy="137160"/>
          </a:xfrm>
          <a:prstGeom prst="ellipse">
            <a:avLst/>
          </a:prstGeom>
          <a:solidFill>
            <a:srgbClr val="00A896"/>
          </a:solidFill>
          <a:ln w="12700">
            <a:solidFill>
              <a:srgbClr val="00A896"/>
            </a:solidFill>
            <a:prstDash val="solid"/>
          </a:ln>
        </p:spPr>
      </p:sp>
      <p:sp>
        <p:nvSpPr>
          <p:cNvPr id="25" name="Text 23"/>
          <p:cNvSpPr/>
          <p:nvPr/>
        </p:nvSpPr>
        <p:spPr>
          <a:xfrm>
            <a:off x="3474720" y="3547872"/>
            <a:ext cx="2286000" cy="658368"/>
          </a:xfrm>
          <a:prstGeom prst="rect">
            <a:avLst/>
          </a:prstGeom>
          <a:noFill/>
          <a:ln/>
        </p:spPr>
        <p:txBody>
          <a:bodyPr wrap="square" lIns="0" tIns="0" rIns="0" bIns="0" rtlCol="0" anchor="ctr"/>
          <a:lstStyle/>
          <a:p>
            <a:pPr indent="0" marL="0">
              <a:buNone/>
            </a:pPr>
            <a:r>
              <a:rPr lang="en-US" sz="1050" dirty="0">
                <a:solidFill>
                  <a:srgbClr val="334155"/>
                </a:solidFill>
              </a:rPr>
              <a:t>Marketplace for custom network policy templates (community &amp; commercial)</a:t>
            </a:r>
            <a:endParaRPr lang="en-US" sz="1050" dirty="0"/>
          </a:p>
        </p:txBody>
      </p:sp>
      <p:sp>
        <p:nvSpPr>
          <p:cNvPr id="26" name="Shape 24"/>
          <p:cNvSpPr/>
          <p:nvPr/>
        </p:nvSpPr>
        <p:spPr>
          <a:xfrm>
            <a:off x="6080760" y="804672"/>
            <a:ext cx="2724912" cy="40416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7" name="Shape 25"/>
          <p:cNvSpPr/>
          <p:nvPr/>
        </p:nvSpPr>
        <p:spPr>
          <a:xfrm>
            <a:off x="6080760" y="804672"/>
            <a:ext cx="2724912" cy="411480"/>
          </a:xfrm>
          <a:prstGeom prst="rect">
            <a:avLst/>
          </a:prstGeom>
          <a:solidFill>
            <a:srgbClr val="02C39A"/>
          </a:solidFill>
          <a:ln/>
        </p:spPr>
      </p:sp>
      <p:sp>
        <p:nvSpPr>
          <p:cNvPr id="28" name="Text 26"/>
          <p:cNvSpPr/>
          <p:nvPr/>
        </p:nvSpPr>
        <p:spPr>
          <a:xfrm>
            <a:off x="6153912" y="804672"/>
            <a:ext cx="2578608" cy="411480"/>
          </a:xfrm>
          <a:prstGeom prst="rect">
            <a:avLst/>
          </a:prstGeom>
          <a:noFill/>
          <a:ln/>
        </p:spPr>
        <p:txBody>
          <a:bodyPr wrap="square" lIns="0" tIns="0" rIns="0" bIns="0" rtlCol="0" anchor="ctr"/>
          <a:lstStyle/>
          <a:p>
            <a:pPr indent="0" marL="0">
              <a:buNone/>
            </a:pPr>
            <a:r>
              <a:rPr lang="en-US" sz="1100" b="1" dirty="0">
                <a:solidFill>
                  <a:srgbClr val="FFFFFF"/>
                </a:solidFill>
              </a:rPr>
              <a:t>Phase 4 · Long-Term</a:t>
            </a:r>
            <a:endParaRPr lang="en-US" sz="1100" dirty="0"/>
          </a:p>
        </p:txBody>
      </p:sp>
      <p:sp>
        <p:nvSpPr>
          <p:cNvPr id="29" name="Shape 27"/>
          <p:cNvSpPr/>
          <p:nvPr/>
        </p:nvSpPr>
        <p:spPr>
          <a:xfrm>
            <a:off x="6190488" y="1353312"/>
            <a:ext cx="137160" cy="137160"/>
          </a:xfrm>
          <a:prstGeom prst="ellipse">
            <a:avLst/>
          </a:prstGeom>
          <a:solidFill>
            <a:srgbClr val="02C39A"/>
          </a:solidFill>
          <a:ln w="12700">
            <a:solidFill>
              <a:srgbClr val="02C39A"/>
            </a:solidFill>
            <a:prstDash val="solid"/>
          </a:ln>
        </p:spPr>
      </p:sp>
      <p:sp>
        <p:nvSpPr>
          <p:cNvPr id="30" name="Text 28"/>
          <p:cNvSpPr/>
          <p:nvPr/>
        </p:nvSpPr>
        <p:spPr>
          <a:xfrm>
            <a:off x="6400800" y="1298448"/>
            <a:ext cx="2286000" cy="658368"/>
          </a:xfrm>
          <a:prstGeom prst="rect">
            <a:avLst/>
          </a:prstGeom>
          <a:noFill/>
          <a:ln/>
        </p:spPr>
        <p:txBody>
          <a:bodyPr wrap="square" lIns="0" tIns="0" rIns="0" bIns="0" rtlCol="0" anchor="ctr"/>
          <a:lstStyle/>
          <a:p>
            <a:pPr indent="0" marL="0">
              <a:buNone/>
            </a:pPr>
            <a:r>
              <a:rPr lang="en-US" sz="1050" dirty="0">
                <a:solidFill>
                  <a:srgbClr val="334155"/>
                </a:solidFill>
              </a:rPr>
              <a:t>Network-as-code: git-based configuration management for entire WAN policies</a:t>
            </a:r>
            <a:endParaRPr lang="en-US" sz="1050" dirty="0"/>
          </a:p>
        </p:txBody>
      </p:sp>
      <p:sp>
        <p:nvSpPr>
          <p:cNvPr id="31" name="Shape 29"/>
          <p:cNvSpPr/>
          <p:nvPr/>
        </p:nvSpPr>
        <p:spPr>
          <a:xfrm>
            <a:off x="6190488" y="2103120"/>
            <a:ext cx="137160" cy="137160"/>
          </a:xfrm>
          <a:prstGeom prst="ellipse">
            <a:avLst/>
          </a:prstGeom>
          <a:solidFill>
            <a:srgbClr val="02C39A"/>
          </a:solidFill>
          <a:ln w="12700">
            <a:solidFill>
              <a:srgbClr val="02C39A"/>
            </a:solidFill>
            <a:prstDash val="solid"/>
          </a:ln>
        </p:spPr>
      </p:sp>
      <p:sp>
        <p:nvSpPr>
          <p:cNvPr id="32" name="Text 30"/>
          <p:cNvSpPr/>
          <p:nvPr/>
        </p:nvSpPr>
        <p:spPr>
          <a:xfrm>
            <a:off x="6400800" y="2048256"/>
            <a:ext cx="2286000" cy="658368"/>
          </a:xfrm>
          <a:prstGeom prst="rect">
            <a:avLst/>
          </a:prstGeom>
          <a:noFill/>
          <a:ln/>
        </p:spPr>
        <p:txBody>
          <a:bodyPr wrap="square" lIns="0" tIns="0" rIns="0" bIns="0" rtlCol="0" anchor="ctr"/>
          <a:lstStyle/>
          <a:p>
            <a:pPr indent="0" marL="0">
              <a:buNone/>
            </a:pPr>
            <a:r>
              <a:rPr lang="en-US" sz="1050" dirty="0">
                <a:solidFill>
                  <a:srgbClr val="334155"/>
                </a:solidFill>
              </a:rPr>
              <a:t>Autonomous SLA contract enforcement with real-time penalty calculation</a:t>
            </a:r>
            <a:endParaRPr lang="en-US" sz="1050" dirty="0"/>
          </a:p>
        </p:txBody>
      </p:sp>
      <p:sp>
        <p:nvSpPr>
          <p:cNvPr id="33" name="Shape 31"/>
          <p:cNvSpPr/>
          <p:nvPr/>
        </p:nvSpPr>
        <p:spPr>
          <a:xfrm>
            <a:off x="6190488" y="2852928"/>
            <a:ext cx="137160" cy="137160"/>
          </a:xfrm>
          <a:prstGeom prst="ellipse">
            <a:avLst/>
          </a:prstGeom>
          <a:solidFill>
            <a:srgbClr val="02C39A"/>
          </a:solidFill>
          <a:ln w="12700">
            <a:solidFill>
              <a:srgbClr val="02C39A"/>
            </a:solidFill>
            <a:prstDash val="solid"/>
          </a:ln>
        </p:spPr>
      </p:sp>
      <p:sp>
        <p:nvSpPr>
          <p:cNvPr id="34" name="Text 32"/>
          <p:cNvSpPr/>
          <p:nvPr/>
        </p:nvSpPr>
        <p:spPr>
          <a:xfrm>
            <a:off x="6400800" y="2798064"/>
            <a:ext cx="2286000" cy="658368"/>
          </a:xfrm>
          <a:prstGeom prst="rect">
            <a:avLst/>
          </a:prstGeom>
          <a:noFill/>
          <a:ln/>
        </p:spPr>
        <p:txBody>
          <a:bodyPr wrap="square" lIns="0" tIns="0" rIns="0" bIns="0" rtlCol="0" anchor="ctr"/>
          <a:lstStyle/>
          <a:p>
            <a:pPr indent="0" marL="0">
              <a:buNone/>
            </a:pPr>
            <a:r>
              <a:rPr lang="en-US" sz="1050" dirty="0">
                <a:solidFill>
                  <a:srgbClr val="334155"/>
                </a:solidFill>
              </a:rPr>
              <a:t>Integration with SIEM platforms for unified security + network intelligence</a:t>
            </a:r>
            <a:endParaRPr lang="en-US" sz="1050" dirty="0"/>
          </a:p>
        </p:txBody>
      </p:sp>
      <p:sp>
        <p:nvSpPr>
          <p:cNvPr id="35" name="Shape 33"/>
          <p:cNvSpPr/>
          <p:nvPr/>
        </p:nvSpPr>
        <p:spPr>
          <a:xfrm>
            <a:off x="6190488" y="3602736"/>
            <a:ext cx="137160" cy="137160"/>
          </a:xfrm>
          <a:prstGeom prst="ellipse">
            <a:avLst/>
          </a:prstGeom>
          <a:solidFill>
            <a:srgbClr val="02C39A"/>
          </a:solidFill>
          <a:ln w="12700">
            <a:solidFill>
              <a:srgbClr val="02C39A"/>
            </a:solidFill>
            <a:prstDash val="solid"/>
          </a:ln>
        </p:spPr>
      </p:sp>
      <p:sp>
        <p:nvSpPr>
          <p:cNvPr id="36" name="Text 34"/>
          <p:cNvSpPr/>
          <p:nvPr/>
        </p:nvSpPr>
        <p:spPr>
          <a:xfrm>
            <a:off x="6400800" y="3547872"/>
            <a:ext cx="2286000" cy="658368"/>
          </a:xfrm>
          <a:prstGeom prst="rect">
            <a:avLst/>
          </a:prstGeom>
          <a:noFill/>
          <a:ln/>
        </p:spPr>
        <p:txBody>
          <a:bodyPr wrap="square" lIns="0" tIns="0" rIns="0" bIns="0" rtlCol="0" anchor="ctr"/>
          <a:lstStyle/>
          <a:p>
            <a:pPr indent="0" marL="0">
              <a:buNone/>
            </a:pPr>
            <a:r>
              <a:rPr lang="en-US" sz="1050" dirty="0">
                <a:solidFill>
                  <a:srgbClr val="334155"/>
                </a:solidFill>
              </a:rPr>
              <a:t>AI-driven capacity planning and WAN link procurement recommendations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C39A"/>
          </a:solidFill>
          <a:ln/>
        </p:spPr>
      </p:sp>
      <p:sp>
        <p:nvSpPr>
          <p:cNvPr id="3" name="Text 1"/>
          <p:cNvSpPr/>
          <p:nvPr/>
        </p:nvSpPr>
        <p:spPr>
          <a:xfrm>
            <a:off x="365760" y="274320"/>
            <a:ext cx="8412480" cy="475488"/>
          </a:xfrm>
          <a:prstGeom prst="rect">
            <a:avLst/>
          </a:prstGeom>
          <a:noFill/>
          <a:ln/>
        </p:spPr>
        <p:txBody>
          <a:bodyPr wrap="square" lIns="0" tIns="0" rIns="0" bIns="0" rtlCol="0" anchor="ctr"/>
          <a:lstStyle/>
          <a:p>
            <a:pPr indent="0" marL="0">
              <a:buNone/>
            </a:pPr>
            <a:r>
              <a:rPr lang="en-US" sz="2600" b="1" dirty="0">
                <a:solidFill>
                  <a:srgbClr val="FFFFFF"/>
                </a:solidFill>
              </a:rPr>
              <a:t>Conclusion</a:t>
            </a:r>
            <a:endParaRPr lang="en-US" sz="2600" dirty="0"/>
          </a:p>
        </p:txBody>
      </p:sp>
      <p:sp>
        <p:nvSpPr>
          <p:cNvPr id="4" name="Text 2"/>
          <p:cNvSpPr/>
          <p:nvPr/>
        </p:nvSpPr>
        <p:spPr>
          <a:xfrm>
            <a:off x="365760" y="777240"/>
            <a:ext cx="8412480" cy="347472"/>
          </a:xfrm>
          <a:prstGeom prst="rect">
            <a:avLst/>
          </a:prstGeom>
          <a:noFill/>
          <a:ln/>
        </p:spPr>
        <p:txBody>
          <a:bodyPr wrap="square" lIns="0" tIns="0" rIns="0" bIns="0" rtlCol="0" anchor="ctr"/>
          <a:lstStyle/>
          <a:p>
            <a:pPr indent="0" marL="0">
              <a:buNone/>
            </a:pPr>
            <a:r>
              <a:rPr lang="en-US" sz="1400" i="1" dirty="0">
                <a:solidFill>
                  <a:srgbClr val="00A896"/>
                </a:solidFill>
              </a:rPr>
              <a:t>PathWise AI — Redefining Network Intelligence for the SME Era</a:t>
            </a:r>
            <a:endParaRPr lang="en-US" sz="1400" dirty="0"/>
          </a:p>
        </p:txBody>
      </p:sp>
      <p:sp>
        <p:nvSpPr>
          <p:cNvPr id="5" name="Shape 3"/>
          <p:cNvSpPr/>
          <p:nvPr/>
        </p:nvSpPr>
        <p:spPr>
          <a:xfrm>
            <a:off x="365760" y="1261872"/>
            <a:ext cx="8412480" cy="621792"/>
          </a:xfrm>
          <a:prstGeom prst="rect">
            <a:avLst/>
          </a:prstGeom>
          <a:solidFill>
            <a:srgbClr val="334155"/>
          </a:solidFill>
          <a:ln/>
        </p:spPr>
      </p:sp>
      <p:sp>
        <p:nvSpPr>
          <p:cNvPr id="6" name="Shape 4"/>
          <p:cNvSpPr/>
          <p:nvPr/>
        </p:nvSpPr>
        <p:spPr>
          <a:xfrm>
            <a:off x="365760" y="1261872"/>
            <a:ext cx="64008" cy="621792"/>
          </a:xfrm>
          <a:prstGeom prst="rect">
            <a:avLst/>
          </a:prstGeom>
          <a:solidFill>
            <a:srgbClr val="02C39A"/>
          </a:solidFill>
          <a:ln/>
        </p:spPr>
      </p:sp>
      <p:sp>
        <p:nvSpPr>
          <p:cNvPr id="7" name="Shape 5"/>
          <p:cNvSpPr/>
          <p:nvPr/>
        </p:nvSpPr>
        <p:spPr>
          <a:xfrm>
            <a:off x="475488" y="1380744"/>
            <a:ext cx="384048" cy="384048"/>
          </a:xfrm>
          <a:prstGeom prst="ellipse">
            <a:avLst/>
          </a:prstGeom>
          <a:solidFill>
            <a:srgbClr val="028090"/>
          </a:solidFill>
          <a:ln w="12700">
            <a:solidFill>
              <a:srgbClr val="028090"/>
            </a:solidFill>
            <a:prstDash val="solid"/>
          </a:ln>
        </p:spPr>
      </p:sp>
      <p:pic>
        <p:nvPicPr>
          <p:cNvPr id="8" name="Image 0" descr="preencoded.png">    </p:cNvPr>
          <p:cNvPicPr>
            <a:picLocks noChangeAspect="1"/>
          </p:cNvPicPr>
          <p:nvPr/>
        </p:nvPicPr>
        <p:blipFill>
          <a:blip r:embed="rId1"/>
          <a:stretch>
            <a:fillRect/>
          </a:stretch>
        </p:blipFill>
        <p:spPr>
          <a:xfrm>
            <a:off x="512064" y="1399032"/>
            <a:ext cx="320040" cy="320040"/>
          </a:xfrm>
          <a:prstGeom prst="rect">
            <a:avLst/>
          </a:prstGeom>
        </p:spPr>
      </p:pic>
      <p:sp>
        <p:nvSpPr>
          <p:cNvPr id="9" name="Text 6"/>
          <p:cNvSpPr/>
          <p:nvPr/>
        </p:nvSpPr>
        <p:spPr>
          <a:xfrm>
            <a:off x="960120" y="1307592"/>
            <a:ext cx="2560320" cy="274320"/>
          </a:xfrm>
          <a:prstGeom prst="rect">
            <a:avLst/>
          </a:prstGeom>
          <a:noFill/>
          <a:ln/>
        </p:spPr>
        <p:txBody>
          <a:bodyPr wrap="square" lIns="0" tIns="0" rIns="0" bIns="0" rtlCol="0" anchor="ctr"/>
          <a:lstStyle/>
          <a:p>
            <a:pPr indent="0" marL="0">
              <a:buNone/>
            </a:pPr>
            <a:r>
              <a:rPr lang="en-US" sz="1200" b="1" dirty="0">
                <a:solidFill>
                  <a:srgbClr val="02C39A"/>
                </a:solidFill>
              </a:rPr>
              <a:t>Predictive, Not Reactive</a:t>
            </a:r>
            <a:endParaRPr lang="en-US" sz="1200" dirty="0"/>
          </a:p>
        </p:txBody>
      </p:sp>
      <p:sp>
        <p:nvSpPr>
          <p:cNvPr id="10" name="Text 7"/>
          <p:cNvSpPr/>
          <p:nvPr/>
        </p:nvSpPr>
        <p:spPr>
          <a:xfrm>
            <a:off x="960120" y="1600200"/>
            <a:ext cx="7680960" cy="256032"/>
          </a:xfrm>
          <a:prstGeom prst="rect">
            <a:avLst/>
          </a:prstGeom>
          <a:noFill/>
          <a:ln/>
        </p:spPr>
        <p:txBody>
          <a:bodyPr wrap="square" lIns="0" tIns="0" rIns="0" bIns="0" rtlCol="0" anchor="ctr"/>
          <a:lstStyle/>
          <a:p>
            <a:pPr indent="0" marL="0">
              <a:buNone/>
            </a:pPr>
            <a:r>
              <a:rPr lang="en-US" sz="1050" dirty="0">
                <a:solidFill>
                  <a:srgbClr val="E2E8F0"/>
                </a:solidFill>
              </a:rPr>
              <a:t>LSTM engine forecasts brownouts 30–60s ahead — eliminating the switching gap before users are affected</a:t>
            </a:r>
            <a:endParaRPr lang="en-US" sz="1050" dirty="0"/>
          </a:p>
        </p:txBody>
      </p:sp>
      <p:sp>
        <p:nvSpPr>
          <p:cNvPr id="11" name="Shape 8"/>
          <p:cNvSpPr/>
          <p:nvPr/>
        </p:nvSpPr>
        <p:spPr>
          <a:xfrm>
            <a:off x="365760" y="1993392"/>
            <a:ext cx="8412480" cy="621792"/>
          </a:xfrm>
          <a:prstGeom prst="rect">
            <a:avLst/>
          </a:prstGeom>
          <a:solidFill>
            <a:srgbClr val="334155"/>
          </a:solidFill>
          <a:ln/>
        </p:spPr>
      </p:sp>
      <p:sp>
        <p:nvSpPr>
          <p:cNvPr id="12" name="Shape 9"/>
          <p:cNvSpPr/>
          <p:nvPr/>
        </p:nvSpPr>
        <p:spPr>
          <a:xfrm>
            <a:off x="365760" y="1993392"/>
            <a:ext cx="64008" cy="621792"/>
          </a:xfrm>
          <a:prstGeom prst="rect">
            <a:avLst/>
          </a:prstGeom>
          <a:solidFill>
            <a:srgbClr val="02C39A"/>
          </a:solidFill>
          <a:ln/>
        </p:spPr>
      </p:sp>
      <p:sp>
        <p:nvSpPr>
          <p:cNvPr id="13" name="Shape 10"/>
          <p:cNvSpPr/>
          <p:nvPr/>
        </p:nvSpPr>
        <p:spPr>
          <a:xfrm>
            <a:off x="475488" y="2112264"/>
            <a:ext cx="384048" cy="384048"/>
          </a:xfrm>
          <a:prstGeom prst="ellipse">
            <a:avLst/>
          </a:prstGeom>
          <a:solidFill>
            <a:srgbClr val="028090"/>
          </a:solidFill>
          <a:ln w="12700">
            <a:solidFill>
              <a:srgbClr val="028090"/>
            </a:solidFill>
            <a:prstDash val="solid"/>
          </a:ln>
        </p:spPr>
      </p:sp>
      <p:pic>
        <p:nvPicPr>
          <p:cNvPr id="14" name="Image 1" descr="preencoded.png">    </p:cNvPr>
          <p:cNvPicPr>
            <a:picLocks noChangeAspect="1"/>
          </p:cNvPicPr>
          <p:nvPr/>
        </p:nvPicPr>
        <p:blipFill>
          <a:blip r:embed="rId2"/>
          <a:stretch>
            <a:fillRect/>
          </a:stretch>
        </p:blipFill>
        <p:spPr>
          <a:xfrm>
            <a:off x="512064" y="2130552"/>
            <a:ext cx="320040" cy="320040"/>
          </a:xfrm>
          <a:prstGeom prst="rect">
            <a:avLst/>
          </a:prstGeom>
        </p:spPr>
      </p:pic>
      <p:sp>
        <p:nvSpPr>
          <p:cNvPr id="15" name="Text 11"/>
          <p:cNvSpPr/>
          <p:nvPr/>
        </p:nvSpPr>
        <p:spPr>
          <a:xfrm>
            <a:off x="960120" y="2039112"/>
            <a:ext cx="2560320" cy="274320"/>
          </a:xfrm>
          <a:prstGeom prst="rect">
            <a:avLst/>
          </a:prstGeom>
          <a:noFill/>
          <a:ln/>
        </p:spPr>
        <p:txBody>
          <a:bodyPr wrap="square" lIns="0" tIns="0" rIns="0" bIns="0" rtlCol="0" anchor="ctr"/>
          <a:lstStyle/>
          <a:p>
            <a:pPr indent="0" marL="0">
              <a:buNone/>
            </a:pPr>
            <a:r>
              <a:rPr lang="en-US" sz="1200" b="1" dirty="0">
                <a:solidFill>
                  <a:srgbClr val="02C39A"/>
                </a:solidFill>
              </a:rPr>
              <a:t>Safety by Design</a:t>
            </a:r>
            <a:endParaRPr lang="en-US" sz="1200" dirty="0"/>
          </a:p>
        </p:txBody>
      </p:sp>
      <p:sp>
        <p:nvSpPr>
          <p:cNvPr id="16" name="Text 12"/>
          <p:cNvSpPr/>
          <p:nvPr/>
        </p:nvSpPr>
        <p:spPr>
          <a:xfrm>
            <a:off x="960120" y="2331720"/>
            <a:ext cx="7680960" cy="256032"/>
          </a:xfrm>
          <a:prstGeom prst="rect">
            <a:avLst/>
          </a:prstGeom>
          <a:noFill/>
          <a:ln/>
        </p:spPr>
        <p:txBody>
          <a:bodyPr wrap="square" lIns="0" tIns="0" rIns="0" bIns="0" rtlCol="0" anchor="ctr"/>
          <a:lstStyle/>
          <a:p>
            <a:pPr indent="0" marL="0">
              <a:buNone/>
            </a:pPr>
            <a:r>
              <a:rPr lang="en-US" sz="1050" dirty="0">
                <a:solidFill>
                  <a:srgbClr val="E2E8F0"/>
                </a:solidFill>
              </a:rPr>
              <a:t>Digital Twin validates every AI routing decision in an isolated sandbox before production deployment</a:t>
            </a:r>
            <a:endParaRPr lang="en-US" sz="1050" dirty="0"/>
          </a:p>
        </p:txBody>
      </p:sp>
      <p:sp>
        <p:nvSpPr>
          <p:cNvPr id="17" name="Shape 13"/>
          <p:cNvSpPr/>
          <p:nvPr/>
        </p:nvSpPr>
        <p:spPr>
          <a:xfrm>
            <a:off x="365760" y="2724912"/>
            <a:ext cx="8412480" cy="621792"/>
          </a:xfrm>
          <a:prstGeom prst="rect">
            <a:avLst/>
          </a:prstGeom>
          <a:solidFill>
            <a:srgbClr val="334155"/>
          </a:solidFill>
          <a:ln/>
        </p:spPr>
      </p:sp>
      <p:sp>
        <p:nvSpPr>
          <p:cNvPr id="18" name="Shape 14"/>
          <p:cNvSpPr/>
          <p:nvPr/>
        </p:nvSpPr>
        <p:spPr>
          <a:xfrm>
            <a:off x="365760" y="2724912"/>
            <a:ext cx="64008" cy="621792"/>
          </a:xfrm>
          <a:prstGeom prst="rect">
            <a:avLst/>
          </a:prstGeom>
          <a:solidFill>
            <a:srgbClr val="02C39A"/>
          </a:solidFill>
          <a:ln/>
        </p:spPr>
      </p:sp>
      <p:sp>
        <p:nvSpPr>
          <p:cNvPr id="19" name="Shape 15"/>
          <p:cNvSpPr/>
          <p:nvPr/>
        </p:nvSpPr>
        <p:spPr>
          <a:xfrm>
            <a:off x="475488" y="2843784"/>
            <a:ext cx="384048" cy="384048"/>
          </a:xfrm>
          <a:prstGeom prst="ellipse">
            <a:avLst/>
          </a:prstGeom>
          <a:solidFill>
            <a:srgbClr val="028090"/>
          </a:solidFill>
          <a:ln w="12700">
            <a:solidFill>
              <a:srgbClr val="028090"/>
            </a:solidFill>
            <a:prstDash val="solid"/>
          </a:ln>
        </p:spPr>
      </p:sp>
      <p:pic>
        <p:nvPicPr>
          <p:cNvPr id="20" name="Image 2" descr="preencoded.png">    </p:cNvPr>
          <p:cNvPicPr>
            <a:picLocks noChangeAspect="1"/>
          </p:cNvPicPr>
          <p:nvPr/>
        </p:nvPicPr>
        <p:blipFill>
          <a:blip r:embed="rId3"/>
          <a:stretch>
            <a:fillRect/>
          </a:stretch>
        </p:blipFill>
        <p:spPr>
          <a:xfrm>
            <a:off x="512064" y="2862072"/>
            <a:ext cx="320040" cy="320040"/>
          </a:xfrm>
          <a:prstGeom prst="rect">
            <a:avLst/>
          </a:prstGeom>
        </p:spPr>
      </p:pic>
      <p:sp>
        <p:nvSpPr>
          <p:cNvPr id="21" name="Text 16"/>
          <p:cNvSpPr/>
          <p:nvPr/>
        </p:nvSpPr>
        <p:spPr>
          <a:xfrm>
            <a:off x="960120" y="2770632"/>
            <a:ext cx="2560320" cy="274320"/>
          </a:xfrm>
          <a:prstGeom prst="rect">
            <a:avLst/>
          </a:prstGeom>
          <a:noFill/>
          <a:ln/>
        </p:spPr>
        <p:txBody>
          <a:bodyPr wrap="square" lIns="0" tIns="0" rIns="0" bIns="0" rtlCol="0" anchor="ctr"/>
          <a:lstStyle/>
          <a:p>
            <a:pPr indent="0" marL="0">
              <a:buNone/>
            </a:pPr>
            <a:r>
              <a:rPr lang="en-US" sz="1200" b="1" dirty="0">
                <a:solidFill>
                  <a:srgbClr val="02C39A"/>
                </a:solidFill>
              </a:rPr>
              <a:t>Democratized Management</a:t>
            </a:r>
            <a:endParaRPr lang="en-US" sz="1200" dirty="0"/>
          </a:p>
        </p:txBody>
      </p:sp>
      <p:sp>
        <p:nvSpPr>
          <p:cNvPr id="22" name="Text 17"/>
          <p:cNvSpPr/>
          <p:nvPr/>
        </p:nvSpPr>
        <p:spPr>
          <a:xfrm>
            <a:off x="960120" y="3063240"/>
            <a:ext cx="7680960" cy="256032"/>
          </a:xfrm>
          <a:prstGeom prst="rect">
            <a:avLst/>
          </a:prstGeom>
          <a:noFill/>
          <a:ln/>
        </p:spPr>
        <p:txBody>
          <a:bodyPr wrap="square" lIns="0" tIns="0" rIns="0" bIns="0" rtlCol="0" anchor="ctr"/>
          <a:lstStyle/>
          <a:p>
            <a:pPr indent="0" marL="0">
              <a:buNone/>
            </a:pPr>
            <a:r>
              <a:rPr lang="en-US" sz="1050" dirty="0">
                <a:solidFill>
                  <a:srgbClr val="E2E8F0"/>
                </a:solidFill>
              </a:rPr>
              <a:t>IBN natural language interface removes CLI expertise barrier — any IT generalist can manage complex SD-WAN policy</a:t>
            </a:r>
            <a:endParaRPr lang="en-US" sz="1050" dirty="0"/>
          </a:p>
        </p:txBody>
      </p:sp>
      <p:sp>
        <p:nvSpPr>
          <p:cNvPr id="23" name="Shape 18"/>
          <p:cNvSpPr/>
          <p:nvPr/>
        </p:nvSpPr>
        <p:spPr>
          <a:xfrm>
            <a:off x="365760" y="3456432"/>
            <a:ext cx="8412480" cy="621792"/>
          </a:xfrm>
          <a:prstGeom prst="rect">
            <a:avLst/>
          </a:prstGeom>
          <a:solidFill>
            <a:srgbClr val="334155"/>
          </a:solidFill>
          <a:ln/>
        </p:spPr>
      </p:sp>
      <p:sp>
        <p:nvSpPr>
          <p:cNvPr id="24" name="Shape 19"/>
          <p:cNvSpPr/>
          <p:nvPr/>
        </p:nvSpPr>
        <p:spPr>
          <a:xfrm>
            <a:off x="365760" y="3456432"/>
            <a:ext cx="64008" cy="621792"/>
          </a:xfrm>
          <a:prstGeom prst="rect">
            <a:avLst/>
          </a:prstGeom>
          <a:solidFill>
            <a:srgbClr val="02C39A"/>
          </a:solidFill>
          <a:ln/>
        </p:spPr>
      </p:sp>
      <p:sp>
        <p:nvSpPr>
          <p:cNvPr id="25" name="Shape 20"/>
          <p:cNvSpPr/>
          <p:nvPr/>
        </p:nvSpPr>
        <p:spPr>
          <a:xfrm>
            <a:off x="475488" y="3575304"/>
            <a:ext cx="384048" cy="384048"/>
          </a:xfrm>
          <a:prstGeom prst="ellipse">
            <a:avLst/>
          </a:prstGeom>
          <a:solidFill>
            <a:srgbClr val="028090"/>
          </a:solidFill>
          <a:ln w="12700">
            <a:solidFill>
              <a:srgbClr val="028090"/>
            </a:solidFill>
            <a:prstDash val="solid"/>
          </a:ln>
        </p:spPr>
      </p:sp>
      <p:pic>
        <p:nvPicPr>
          <p:cNvPr id="26" name="Image 3" descr="preencoded.png">    </p:cNvPr>
          <p:cNvPicPr>
            <a:picLocks noChangeAspect="1"/>
          </p:cNvPicPr>
          <p:nvPr/>
        </p:nvPicPr>
        <p:blipFill>
          <a:blip r:embed="rId4"/>
          <a:stretch>
            <a:fillRect/>
          </a:stretch>
        </p:blipFill>
        <p:spPr>
          <a:xfrm>
            <a:off x="512064" y="3593592"/>
            <a:ext cx="320040" cy="320040"/>
          </a:xfrm>
          <a:prstGeom prst="rect">
            <a:avLst/>
          </a:prstGeom>
        </p:spPr>
      </p:pic>
      <p:sp>
        <p:nvSpPr>
          <p:cNvPr id="27" name="Text 21"/>
          <p:cNvSpPr/>
          <p:nvPr/>
        </p:nvSpPr>
        <p:spPr>
          <a:xfrm>
            <a:off x="960120" y="3502152"/>
            <a:ext cx="2560320" cy="274320"/>
          </a:xfrm>
          <a:prstGeom prst="rect">
            <a:avLst/>
          </a:prstGeom>
          <a:noFill/>
          <a:ln/>
        </p:spPr>
        <p:txBody>
          <a:bodyPr wrap="square" lIns="0" tIns="0" rIns="0" bIns="0" rtlCol="0" anchor="ctr"/>
          <a:lstStyle/>
          <a:p>
            <a:pPr indent="0" marL="0">
              <a:buNone/>
            </a:pPr>
            <a:r>
              <a:rPr lang="en-US" sz="1200" b="1" dirty="0">
                <a:solidFill>
                  <a:srgbClr val="02C39A"/>
                </a:solidFill>
              </a:rPr>
              <a:t>Vendor-Agnostic &amp; Affordable</a:t>
            </a:r>
            <a:endParaRPr lang="en-US" sz="1200" dirty="0"/>
          </a:p>
        </p:txBody>
      </p:sp>
      <p:sp>
        <p:nvSpPr>
          <p:cNvPr id="28" name="Text 22"/>
          <p:cNvSpPr/>
          <p:nvPr/>
        </p:nvSpPr>
        <p:spPr>
          <a:xfrm>
            <a:off x="960120" y="3794760"/>
            <a:ext cx="7680960" cy="256032"/>
          </a:xfrm>
          <a:prstGeom prst="rect">
            <a:avLst/>
          </a:prstGeom>
          <a:noFill/>
          <a:ln/>
        </p:spPr>
        <p:txBody>
          <a:bodyPr wrap="square" lIns="0" tIns="0" rIns="0" bIns="0" rtlCol="0" anchor="ctr"/>
          <a:lstStyle/>
          <a:p>
            <a:pPr indent="0" marL="0">
              <a:buNone/>
            </a:pPr>
            <a:r>
              <a:rPr lang="en-US" sz="1050" dirty="0">
                <a:solidFill>
                  <a:srgbClr val="E2E8F0"/>
                </a:solidFill>
              </a:rPr>
              <a:t>Open-source stack on commodity hardware makes enterprise-grade reliability accessible to SMEs without CapEx</a:t>
            </a:r>
            <a:endParaRPr lang="en-US" sz="1050" dirty="0"/>
          </a:p>
        </p:txBody>
      </p:sp>
      <p:sp>
        <p:nvSpPr>
          <p:cNvPr id="29" name="Shape 23"/>
          <p:cNvSpPr/>
          <p:nvPr/>
        </p:nvSpPr>
        <p:spPr>
          <a:xfrm>
            <a:off x="365760" y="4187952"/>
            <a:ext cx="8412480" cy="621792"/>
          </a:xfrm>
          <a:prstGeom prst="rect">
            <a:avLst/>
          </a:prstGeom>
          <a:solidFill>
            <a:srgbClr val="334155"/>
          </a:solidFill>
          <a:ln/>
        </p:spPr>
      </p:sp>
      <p:sp>
        <p:nvSpPr>
          <p:cNvPr id="30" name="Shape 24"/>
          <p:cNvSpPr/>
          <p:nvPr/>
        </p:nvSpPr>
        <p:spPr>
          <a:xfrm>
            <a:off x="365760" y="4187952"/>
            <a:ext cx="64008" cy="621792"/>
          </a:xfrm>
          <a:prstGeom prst="rect">
            <a:avLst/>
          </a:prstGeom>
          <a:solidFill>
            <a:srgbClr val="02C39A"/>
          </a:solidFill>
          <a:ln/>
        </p:spPr>
      </p:sp>
      <p:sp>
        <p:nvSpPr>
          <p:cNvPr id="31" name="Shape 25"/>
          <p:cNvSpPr/>
          <p:nvPr/>
        </p:nvSpPr>
        <p:spPr>
          <a:xfrm>
            <a:off x="475488" y="4306824"/>
            <a:ext cx="384048" cy="384048"/>
          </a:xfrm>
          <a:prstGeom prst="ellipse">
            <a:avLst/>
          </a:prstGeom>
          <a:solidFill>
            <a:srgbClr val="028090"/>
          </a:solidFill>
          <a:ln w="12700">
            <a:solidFill>
              <a:srgbClr val="028090"/>
            </a:solidFill>
            <a:prstDash val="solid"/>
          </a:ln>
        </p:spPr>
      </p:sp>
      <p:pic>
        <p:nvPicPr>
          <p:cNvPr id="32" name="Image 4" descr="preencoded.png">    </p:cNvPr>
          <p:cNvPicPr>
            <a:picLocks noChangeAspect="1"/>
          </p:cNvPicPr>
          <p:nvPr/>
        </p:nvPicPr>
        <p:blipFill>
          <a:blip r:embed="rId5"/>
          <a:stretch>
            <a:fillRect/>
          </a:stretch>
        </p:blipFill>
        <p:spPr>
          <a:xfrm>
            <a:off x="512064" y="4325112"/>
            <a:ext cx="320040" cy="320040"/>
          </a:xfrm>
          <a:prstGeom prst="rect">
            <a:avLst/>
          </a:prstGeom>
        </p:spPr>
      </p:pic>
      <p:sp>
        <p:nvSpPr>
          <p:cNvPr id="33" name="Text 26"/>
          <p:cNvSpPr/>
          <p:nvPr/>
        </p:nvSpPr>
        <p:spPr>
          <a:xfrm>
            <a:off x="960120" y="4233672"/>
            <a:ext cx="2560320" cy="274320"/>
          </a:xfrm>
          <a:prstGeom prst="rect">
            <a:avLst/>
          </a:prstGeom>
          <a:noFill/>
          <a:ln/>
        </p:spPr>
        <p:txBody>
          <a:bodyPr wrap="square" lIns="0" tIns="0" rIns="0" bIns="0" rtlCol="0" anchor="ctr"/>
          <a:lstStyle/>
          <a:p>
            <a:pPr indent="0" marL="0">
              <a:buNone/>
            </a:pPr>
            <a:r>
              <a:rPr lang="en-US" sz="1200" b="1" dirty="0">
                <a:solidFill>
                  <a:srgbClr val="02C39A"/>
                </a:solidFill>
              </a:rPr>
              <a:t>Transparent AI</a:t>
            </a:r>
            <a:endParaRPr lang="en-US" sz="1200" dirty="0"/>
          </a:p>
        </p:txBody>
      </p:sp>
      <p:sp>
        <p:nvSpPr>
          <p:cNvPr id="34" name="Text 27"/>
          <p:cNvSpPr/>
          <p:nvPr/>
        </p:nvSpPr>
        <p:spPr>
          <a:xfrm>
            <a:off x="960120" y="4526280"/>
            <a:ext cx="7680960" cy="256032"/>
          </a:xfrm>
          <a:prstGeom prst="rect">
            <a:avLst/>
          </a:prstGeom>
          <a:noFill/>
          <a:ln/>
        </p:spPr>
        <p:txBody>
          <a:bodyPr wrap="square" lIns="0" tIns="0" rIns="0" bIns="0" rtlCol="0" anchor="ctr"/>
          <a:lstStyle/>
          <a:p>
            <a:pPr indent="0" marL="0">
              <a:buNone/>
            </a:pPr>
            <a:r>
              <a:rPr lang="en-US" sz="1050" dirty="0">
                <a:solidFill>
                  <a:srgbClr val="E2E8F0"/>
                </a:solidFill>
              </a:rPr>
              <a:t>Full audit log with hash-chain integrity and plain-language AI reasoning builds operator trust in autonomous decisions</a:t>
            </a:r>
            <a:endParaRPr lang="en-US" sz="1050" dirty="0"/>
          </a:p>
        </p:txBody>
      </p:sp>
      <p:sp>
        <p:nvSpPr>
          <p:cNvPr id="35" name="Text 28"/>
          <p:cNvSpPr/>
          <p:nvPr/>
        </p:nvSpPr>
        <p:spPr>
          <a:xfrm>
            <a:off x="365760" y="4773168"/>
            <a:ext cx="8412480" cy="274320"/>
          </a:xfrm>
          <a:prstGeom prst="rect">
            <a:avLst/>
          </a:prstGeom>
          <a:noFill/>
          <a:ln/>
        </p:spPr>
        <p:txBody>
          <a:bodyPr wrap="square" lIns="0" tIns="0" rIns="0" bIns="0" rtlCol="0" anchor="ctr"/>
          <a:lstStyle/>
          <a:p>
            <a:pPr algn="ctr" indent="0" marL="0">
              <a:buNone/>
            </a:pPr>
            <a:r>
              <a:rPr lang="en-US" sz="1300" b="1" dirty="0">
                <a:solidFill>
                  <a:srgbClr val="02C39A"/>
                </a:solidFill>
              </a:rPr>
              <a:t>Thank You —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PathWise AI – Intelligent SD-WAN Management Platform</dc:title>
  <dc:subject>PptxGenJS Presentation</dc:subject>
  <dc:creator>Team Pathfinders</dc:creator>
  <cp:lastModifiedBy>Team Pathfinders</cp:lastModifiedBy>
  <cp:revision>1</cp:revision>
  <dcterms:created xsi:type="dcterms:W3CDTF">2026-04-21T01:24:55Z</dcterms:created>
  <dcterms:modified xsi:type="dcterms:W3CDTF">2026-04-21T01:24:55Z</dcterms:modified>
</cp:coreProperties>
</file>